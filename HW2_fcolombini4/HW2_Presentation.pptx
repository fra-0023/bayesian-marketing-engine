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2" r:id="rId4"/>
    <p:sldId id="258" r:id="rId5"/>
    <p:sldId id="259" r:id="rId6"/>
    <p:sldId id="260" r:id="rId7"/>
    <p:sldId id="263" r:id="rId8"/>
    <p:sldId id="264"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761"/>
    <a:srgbClr val="AED8E6"/>
    <a:srgbClr val="CADC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5" d="100"/>
          <a:sy n="105" d="100"/>
        </p:scale>
        <p:origin x="82"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8488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it-IT"/>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4CDBC-C153-4CA1-8915-1EA86A16E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C281D-B356-C912-C394-935CAAF526DE}"/>
              </a:ext>
            </a:extLst>
          </p:cNvPr>
          <p:cNvSpPr>
            <a:spLocks noGrp="1" noRot="1" noChangeAspect="1"/>
          </p:cNvSpPr>
          <p:nvPr>
            <p:ph type="sldImg"/>
          </p:nvPr>
        </p:nvSpPr>
        <p:spPr/>
        <p:txBody>
          <a:bodyPr/>
          <a:lstStyle/>
          <a:p>
            <a:endParaRPr lang="it-IT"/>
          </a:p>
        </p:txBody>
      </p:sp>
      <p:sp>
        <p:nvSpPr>
          <p:cNvPr id="3" name="Notes Placeholder 2">
            <a:extLst>
              <a:ext uri="{FF2B5EF4-FFF2-40B4-BE49-F238E27FC236}">
                <a16:creationId xmlns:a16="http://schemas.microsoft.com/office/drawing/2014/main" id="{775B3305-9A7D-9C6B-24F7-94E348D867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1D8088-5A50-8F75-41BA-418B7A3E603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503436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7BFA0-BAB4-EA62-6602-B42F2BCE4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4E82FF-B922-A151-D1D2-C75DD4DD0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3E2FB7-C181-6002-922A-1A92AF1C35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13F068-4B20-BD8B-E679-13692974943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2224530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384048"/>
            <a:ext cx="8229600" cy="274320"/>
          </a:xfrm>
          <a:prstGeom prst="rect">
            <a:avLst/>
          </a:prstGeom>
          <a:noFill/>
          <a:ln/>
        </p:spPr>
        <p:txBody>
          <a:bodyPr wrap="square" lIns="0" tIns="0" rIns="0" bIns="0" rtlCol="0" anchor="ctr"/>
          <a:lstStyle/>
          <a:p>
            <a:r>
              <a:rPr lang="en-GB" sz="900" b="1" kern="0" spc="200" noProof="0" dirty="0">
                <a:solidFill>
                  <a:srgbClr val="CADCFC"/>
                </a:solidFill>
                <a:latin typeface="Cambria" panose="02040503050406030204" pitchFamily="18" charset="0"/>
                <a:ea typeface="Cambria" panose="02040503050406030204" pitchFamily="18" charset="0"/>
              </a:rPr>
              <a:t>MARKETING</a:t>
            </a:r>
            <a:r>
              <a:rPr lang="en-GB" sz="900" b="1" kern="0" spc="200" noProof="0" dirty="0">
                <a:solidFill>
                  <a:srgbClr val="CADCFC"/>
                </a:solidFill>
              </a:rPr>
              <a:t> ANALYTICS — HOMEWORK 2</a:t>
            </a:r>
            <a:endParaRPr lang="en-GB" sz="900" noProof="0" dirty="0"/>
          </a:p>
        </p:txBody>
      </p:sp>
      <p:sp>
        <p:nvSpPr>
          <p:cNvPr id="3" name="Text 1"/>
          <p:cNvSpPr/>
          <p:nvPr/>
        </p:nvSpPr>
        <p:spPr>
          <a:xfrm>
            <a:off x="457200" y="713232"/>
            <a:ext cx="8229600" cy="749808"/>
          </a:xfrm>
          <a:prstGeom prst="rect">
            <a:avLst/>
          </a:prstGeom>
          <a:noFill/>
          <a:ln/>
        </p:spPr>
        <p:txBody>
          <a:bodyPr wrap="square" lIns="0" tIns="0" rIns="0" bIns="0" rtlCol="0" anchor="ctr"/>
          <a:lstStyle/>
          <a:p>
            <a:pPr marL="0" indent="0" algn="l">
              <a:buNone/>
            </a:pPr>
            <a:r>
              <a:rPr lang="en-GB" sz="6000" b="1" noProof="0" dirty="0">
                <a:solidFill>
                  <a:srgbClr val="FFFFFF"/>
                </a:solidFill>
                <a:latin typeface="EucrosiaUPC" panose="02020603050405020304" pitchFamily="18" charset="-34"/>
                <a:ea typeface="Cambria" pitchFamily="34" charset="-122"/>
                <a:cs typeface="EucrosiaUPC" panose="02020603050405020304" pitchFamily="18" charset="-34"/>
              </a:rPr>
              <a:t>Customer </a:t>
            </a:r>
            <a:r>
              <a:rPr lang="en-GB" sz="6000" b="1" noProof="0" dirty="0">
                <a:solidFill>
                  <a:srgbClr val="FFFFFF"/>
                </a:solidFill>
                <a:latin typeface="EucrosiaUPC" panose="02020603050405020304" pitchFamily="18" charset="-34"/>
                <a:ea typeface="Calibri" pitchFamily="34" charset="-122"/>
                <a:cs typeface="EucrosiaUPC" panose="02020603050405020304" pitchFamily="18" charset="-34"/>
              </a:rPr>
              <a:t>Lifetime</a:t>
            </a:r>
            <a:r>
              <a:rPr lang="en-GB" sz="6000" b="1" noProof="0" dirty="0">
                <a:solidFill>
                  <a:srgbClr val="FFFFFF"/>
                </a:solidFill>
                <a:latin typeface="EucrosiaUPC" panose="02020603050405020304" pitchFamily="18" charset="-34"/>
                <a:ea typeface="Cambria" pitchFamily="34" charset="-122"/>
                <a:cs typeface="EucrosiaUPC" panose="02020603050405020304" pitchFamily="18" charset="-34"/>
              </a:rPr>
              <a:t> Value Analysis</a:t>
            </a:r>
            <a:endParaRPr lang="en-GB" sz="6000" noProof="0" dirty="0">
              <a:latin typeface="EucrosiaUPC" panose="02020603050405020304" pitchFamily="18" charset="-34"/>
              <a:cs typeface="EucrosiaUPC" panose="02020603050405020304" pitchFamily="18" charset="-34"/>
            </a:endParaRPr>
          </a:p>
        </p:txBody>
      </p:sp>
      <p:sp>
        <p:nvSpPr>
          <p:cNvPr id="4" name="Text 2"/>
          <p:cNvSpPr/>
          <p:nvPr/>
        </p:nvSpPr>
        <p:spPr>
          <a:xfrm>
            <a:off x="457200" y="1276045"/>
            <a:ext cx="8229600" cy="347472"/>
          </a:xfrm>
          <a:prstGeom prst="rect">
            <a:avLst/>
          </a:prstGeom>
          <a:noFill/>
          <a:ln/>
        </p:spPr>
        <p:txBody>
          <a:bodyPr wrap="square" lIns="0" tIns="0" rIns="0" bIns="0" rtlCol="0" anchor="ctr"/>
          <a:lstStyle/>
          <a:p>
            <a:pPr marL="0" indent="0" algn="l">
              <a:buNone/>
            </a:pPr>
            <a:r>
              <a:rPr lang="en-GB" sz="1300" i="1" noProof="0" dirty="0">
                <a:solidFill>
                  <a:srgbClr val="CADCFC"/>
                </a:solidFill>
                <a:latin typeface="Cambria" panose="02040503050406030204" pitchFamily="18" charset="0"/>
                <a:ea typeface="Cambria" panose="02040503050406030204" pitchFamily="18" charset="0"/>
                <a:cs typeface="Calibri" pitchFamily="34" charset="-120"/>
              </a:rPr>
              <a:t>An End-to-End CLV Framework: RFM Segmentation - Descriptive CLV - BG/NBD Prediction - Actionable Strategy</a:t>
            </a:r>
            <a:endParaRPr lang="en-GB" sz="1300" noProof="0" dirty="0">
              <a:latin typeface="Cambria" panose="02040503050406030204" pitchFamily="18" charset="0"/>
              <a:ea typeface="Cambria" panose="02040503050406030204" pitchFamily="18" charset="0"/>
            </a:endParaRPr>
          </a:p>
        </p:txBody>
      </p:sp>
      <p:sp>
        <p:nvSpPr>
          <p:cNvPr id="5" name="Shape 3"/>
          <p:cNvSpPr/>
          <p:nvPr/>
        </p:nvSpPr>
        <p:spPr>
          <a:xfrm>
            <a:off x="457200" y="1643250"/>
            <a:ext cx="1645920" cy="50292"/>
          </a:xfrm>
          <a:prstGeom prst="rect">
            <a:avLst/>
          </a:prstGeom>
          <a:solidFill>
            <a:srgbClr val="AED8E6"/>
          </a:solidFill>
          <a:ln w="12700">
            <a:noFill/>
            <a:prstDash val="solid"/>
          </a:ln>
        </p:spPr>
        <p:txBody>
          <a:bodyPr/>
          <a:lstStyle/>
          <a:p>
            <a:endParaRPr lang="en-GB" noProof="0" dirty="0"/>
          </a:p>
        </p:txBody>
      </p:sp>
      <p:sp>
        <p:nvSpPr>
          <p:cNvPr id="6" name="Text 4"/>
          <p:cNvSpPr/>
          <p:nvPr/>
        </p:nvSpPr>
        <p:spPr>
          <a:xfrm>
            <a:off x="457200" y="2881943"/>
            <a:ext cx="3196883" cy="256032"/>
          </a:xfrm>
          <a:prstGeom prst="rect">
            <a:avLst/>
          </a:prstGeom>
          <a:noFill/>
          <a:ln/>
        </p:spPr>
        <p:txBody>
          <a:bodyPr wrap="square" lIns="0" tIns="0" rIns="0" bIns="0" rtlCol="0" anchor="ctr"/>
          <a:lstStyle/>
          <a:p>
            <a:pPr marL="0" indent="0">
              <a:buNone/>
            </a:pPr>
            <a:r>
              <a:rPr lang="en-GB" sz="1200" b="1" kern="0" spc="200" noProof="0" dirty="0">
                <a:solidFill>
                  <a:schemeClr val="bg1"/>
                </a:solidFill>
                <a:latin typeface="Cambria" panose="02040503050406030204" pitchFamily="18" charset="0"/>
                <a:ea typeface="Cambria" panose="02040503050406030204" pitchFamily="18" charset="0"/>
                <a:cs typeface="Calibri" pitchFamily="34" charset="-120"/>
              </a:rPr>
              <a:t>THE FIVE MAIN QUESTIONS</a:t>
            </a:r>
            <a:endParaRPr lang="en-GB" sz="1200" noProof="0" dirty="0">
              <a:solidFill>
                <a:schemeClr val="bg1"/>
              </a:solidFill>
              <a:latin typeface="Cambria" panose="02040503050406030204" pitchFamily="18" charset="0"/>
              <a:ea typeface="Cambria" panose="02040503050406030204" pitchFamily="18" charset="0"/>
            </a:endParaRPr>
          </a:p>
        </p:txBody>
      </p:sp>
      <p:sp>
        <p:nvSpPr>
          <p:cNvPr id="7" name="Text 5"/>
          <p:cNvSpPr/>
          <p:nvPr/>
        </p:nvSpPr>
        <p:spPr>
          <a:xfrm>
            <a:off x="736092" y="3179158"/>
            <a:ext cx="4391582" cy="1115568"/>
          </a:xfrm>
          <a:prstGeom prst="rect">
            <a:avLst/>
          </a:prstGeom>
          <a:noFill/>
          <a:ln/>
        </p:spPr>
        <p:txBody>
          <a:bodyPr wrap="square" lIns="0" tIns="0" rIns="0" bIns="0" rtlCol="0" anchor="t"/>
          <a:lstStyle/>
          <a:p>
            <a:pPr marL="0" indent="0" algn="l">
              <a:buNone/>
            </a:pPr>
            <a:r>
              <a:rPr lang="en-GB" sz="1200" noProof="0" dirty="0">
                <a:solidFill>
                  <a:schemeClr val="bg1"/>
                </a:solidFill>
                <a:latin typeface="Cambria" panose="02040503050406030204" pitchFamily="18" charset="0"/>
                <a:ea typeface="Cambria" panose="02040503050406030204" pitchFamily="18" charset="0"/>
                <a:cs typeface="Calibri" pitchFamily="34" charset="-120"/>
              </a:rPr>
              <a:t>1.  Which customers generate the highest lifetime value?</a:t>
            </a:r>
            <a:endParaRPr lang="en-GB" sz="1200" noProof="0" dirty="0">
              <a:solidFill>
                <a:schemeClr val="bg1"/>
              </a:solidFill>
              <a:latin typeface="Cambria" panose="02040503050406030204" pitchFamily="18" charset="0"/>
              <a:ea typeface="Cambria" panose="02040503050406030204" pitchFamily="18" charset="0"/>
            </a:endParaRPr>
          </a:p>
          <a:p>
            <a:pPr marL="0" indent="0" algn="l">
              <a:buNone/>
            </a:pPr>
            <a:r>
              <a:rPr lang="en-GB" sz="1200" noProof="0" dirty="0">
                <a:solidFill>
                  <a:schemeClr val="bg1"/>
                </a:solidFill>
                <a:latin typeface="Cambria" panose="02040503050406030204" pitchFamily="18" charset="0"/>
                <a:ea typeface="Cambria" panose="02040503050406030204" pitchFamily="18" charset="0"/>
                <a:cs typeface="Calibri" pitchFamily="34" charset="-120"/>
              </a:rPr>
              <a:t>2.  Which customers are at risk of churn?</a:t>
            </a:r>
            <a:endParaRPr lang="en-GB" sz="1200" noProof="0" dirty="0">
              <a:solidFill>
                <a:schemeClr val="bg1"/>
              </a:solidFill>
              <a:latin typeface="Cambria" panose="02040503050406030204" pitchFamily="18" charset="0"/>
              <a:ea typeface="Cambria" panose="02040503050406030204" pitchFamily="18" charset="0"/>
            </a:endParaRPr>
          </a:p>
          <a:p>
            <a:pPr marL="0" indent="0" algn="l">
              <a:buNone/>
            </a:pPr>
            <a:r>
              <a:rPr lang="en-GB" sz="1200" noProof="0" dirty="0">
                <a:solidFill>
                  <a:schemeClr val="bg1"/>
                </a:solidFill>
                <a:latin typeface="Cambria" panose="02040503050406030204" pitchFamily="18" charset="0"/>
                <a:ea typeface="Cambria" panose="02040503050406030204" pitchFamily="18" charset="0"/>
                <a:cs typeface="Calibri" pitchFamily="34" charset="-120"/>
              </a:rPr>
              <a:t>3.  How should marketing budgets be allocated across segments?</a:t>
            </a:r>
            <a:endParaRPr lang="en-GB" sz="1200" noProof="0" dirty="0">
              <a:solidFill>
                <a:schemeClr val="bg1"/>
              </a:solidFill>
              <a:latin typeface="Cambria" panose="02040503050406030204" pitchFamily="18" charset="0"/>
              <a:ea typeface="Cambria" panose="02040503050406030204" pitchFamily="18" charset="0"/>
            </a:endParaRPr>
          </a:p>
          <a:p>
            <a:pPr marL="0" indent="0" algn="l">
              <a:buNone/>
            </a:pPr>
            <a:r>
              <a:rPr lang="en-GB" sz="1200" noProof="0" dirty="0">
                <a:solidFill>
                  <a:schemeClr val="bg1"/>
                </a:solidFill>
                <a:latin typeface="Cambria" panose="02040503050406030204" pitchFamily="18" charset="0"/>
                <a:ea typeface="Cambria" panose="02040503050406030204" pitchFamily="18" charset="0"/>
                <a:cs typeface="Calibri" pitchFamily="34" charset="-120"/>
              </a:rPr>
              <a:t>4.  What customer retention strategies should be deployed?</a:t>
            </a:r>
            <a:endParaRPr lang="en-GB" sz="1200" noProof="0" dirty="0">
              <a:solidFill>
                <a:schemeClr val="bg1"/>
              </a:solidFill>
              <a:latin typeface="Cambria" panose="02040503050406030204" pitchFamily="18" charset="0"/>
              <a:ea typeface="Cambria" panose="02040503050406030204" pitchFamily="18" charset="0"/>
            </a:endParaRPr>
          </a:p>
          <a:p>
            <a:pPr marL="0" indent="0" algn="l">
              <a:buNone/>
            </a:pPr>
            <a:r>
              <a:rPr lang="en-GB" sz="1200" noProof="0" dirty="0">
                <a:solidFill>
                  <a:schemeClr val="bg1"/>
                </a:solidFill>
                <a:latin typeface="Cambria" panose="02040503050406030204" pitchFamily="18" charset="0"/>
                <a:ea typeface="Cambria" panose="02040503050406030204" pitchFamily="18" charset="0"/>
                <a:cs typeface="Calibri" pitchFamily="34" charset="-120"/>
              </a:rPr>
              <a:t>5.  Which customers deserve priority in loyalty programs?</a:t>
            </a:r>
            <a:endParaRPr lang="en-GB" sz="1200" noProof="0" dirty="0">
              <a:solidFill>
                <a:schemeClr val="bg1"/>
              </a:solidFill>
              <a:latin typeface="Cambria" panose="02040503050406030204" pitchFamily="18" charset="0"/>
              <a:ea typeface="Cambria" panose="02040503050406030204" pitchFamily="18" charset="0"/>
            </a:endParaRPr>
          </a:p>
        </p:txBody>
      </p:sp>
      <p:sp>
        <p:nvSpPr>
          <p:cNvPr id="8" name="Shape 6"/>
          <p:cNvSpPr/>
          <p:nvPr/>
        </p:nvSpPr>
        <p:spPr>
          <a:xfrm>
            <a:off x="5760720" y="1930283"/>
            <a:ext cx="2926080" cy="2715130"/>
          </a:xfrm>
          <a:prstGeom prst="roundRect">
            <a:avLst>
              <a:gd name="adj" fmla="val 4000"/>
            </a:avLst>
          </a:prstGeom>
          <a:solidFill>
            <a:srgbClr val="2D4A96"/>
          </a:solidFill>
          <a:ln w="12700">
            <a:solidFill>
              <a:srgbClr val="3A5BA0"/>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9" name="Text 7"/>
          <p:cNvSpPr/>
          <p:nvPr/>
        </p:nvSpPr>
        <p:spPr>
          <a:xfrm>
            <a:off x="5841609" y="1988378"/>
            <a:ext cx="2788920" cy="256032"/>
          </a:xfrm>
          <a:prstGeom prst="rect">
            <a:avLst/>
          </a:prstGeom>
          <a:noFill/>
          <a:ln/>
        </p:spPr>
        <p:txBody>
          <a:bodyPr wrap="square" lIns="0" tIns="0" rIns="0" bIns="0" rtlCol="0" anchor="ctr"/>
          <a:lstStyle/>
          <a:p>
            <a:pPr marL="0" indent="0" algn="ctr">
              <a:buNone/>
            </a:pPr>
            <a:r>
              <a:rPr lang="en-GB" sz="900" b="1" kern="0" spc="200" noProof="0" dirty="0">
                <a:solidFill>
                  <a:schemeClr val="bg1"/>
                </a:solidFill>
                <a:latin typeface="Calibri" pitchFamily="34" charset="0"/>
                <a:ea typeface="Calibri" pitchFamily="34" charset="-122"/>
                <a:cs typeface="Calibri" pitchFamily="34" charset="-120"/>
              </a:rPr>
              <a:t>DATASET AT A GLANCE</a:t>
            </a:r>
            <a:endParaRPr lang="en-GB" sz="900" noProof="0" dirty="0">
              <a:solidFill>
                <a:schemeClr val="bg1"/>
              </a:solidFill>
            </a:endParaRPr>
          </a:p>
        </p:txBody>
      </p:sp>
      <p:sp>
        <p:nvSpPr>
          <p:cNvPr id="10" name="Shape 8"/>
          <p:cNvSpPr/>
          <p:nvPr/>
        </p:nvSpPr>
        <p:spPr>
          <a:xfrm>
            <a:off x="5841609" y="2317562"/>
            <a:ext cx="1353312" cy="1051560"/>
          </a:xfrm>
          <a:prstGeom prst="roundRect">
            <a:avLst>
              <a:gd name="adj" fmla="val 8696"/>
            </a:avLst>
          </a:prstGeom>
          <a:solidFill>
            <a:schemeClr val="bg1"/>
          </a:solidFill>
          <a:ln w="12700">
            <a:solidFill>
              <a:srgbClr val="3A5BA0"/>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11" name="Text 9"/>
          <p:cNvSpPr/>
          <p:nvPr/>
        </p:nvSpPr>
        <p:spPr>
          <a:xfrm>
            <a:off x="5841609" y="2390714"/>
            <a:ext cx="1353312" cy="578358"/>
          </a:xfrm>
          <a:prstGeom prst="rect">
            <a:avLst/>
          </a:prstGeom>
          <a:noFill/>
          <a:ln/>
        </p:spPr>
        <p:txBody>
          <a:bodyPr wrap="square" lIns="0" tIns="0" rIns="0" bIns="0" rtlCol="0" anchor="b"/>
          <a:lstStyle/>
          <a:p>
            <a:pPr marL="0" indent="0" algn="ctr">
              <a:buNone/>
            </a:pPr>
            <a:r>
              <a:rPr lang="en-GB" sz="2800" b="1" noProof="0" dirty="0">
                <a:solidFill>
                  <a:schemeClr val="accent1">
                    <a:lumMod val="50000"/>
                  </a:schemeClr>
                </a:solidFill>
                <a:latin typeface="Cambria" pitchFamily="34" charset="0"/>
                <a:ea typeface="Cambria" pitchFamily="34" charset="-122"/>
                <a:cs typeface="Cambria" pitchFamily="34" charset="-120"/>
              </a:rPr>
              <a:t>62,767</a:t>
            </a:r>
            <a:endParaRPr lang="en-GB" sz="2800" noProof="0" dirty="0">
              <a:solidFill>
                <a:schemeClr val="accent1">
                  <a:lumMod val="50000"/>
                </a:schemeClr>
              </a:solidFill>
            </a:endParaRPr>
          </a:p>
        </p:txBody>
      </p:sp>
      <p:sp>
        <p:nvSpPr>
          <p:cNvPr id="12" name="Text 10"/>
          <p:cNvSpPr/>
          <p:nvPr/>
        </p:nvSpPr>
        <p:spPr>
          <a:xfrm>
            <a:off x="5841609" y="2895920"/>
            <a:ext cx="1353312" cy="294437"/>
          </a:xfrm>
          <a:prstGeom prst="rect">
            <a:avLst/>
          </a:prstGeom>
          <a:noFill/>
          <a:ln/>
        </p:spPr>
        <p:txBody>
          <a:bodyPr wrap="square" lIns="0" tIns="0" rIns="0" bIns="0" rtlCol="0" anchor="t"/>
          <a:lstStyle/>
          <a:p>
            <a:pPr marL="0" indent="0" algn="ctr">
              <a:buNone/>
            </a:pPr>
            <a:r>
              <a:rPr lang="en-GB" sz="1100" b="1" noProof="0" dirty="0">
                <a:solidFill>
                  <a:schemeClr val="accent1">
                    <a:lumMod val="50000"/>
                  </a:schemeClr>
                </a:solidFill>
                <a:latin typeface="Calibri" pitchFamily="34" charset="0"/>
                <a:ea typeface="Calibri" pitchFamily="34" charset="-122"/>
                <a:cs typeface="Calibri" pitchFamily="34" charset="-120"/>
              </a:rPr>
              <a:t>Transactions</a:t>
            </a:r>
            <a:endParaRPr lang="en-GB" sz="1100" noProof="0" dirty="0">
              <a:solidFill>
                <a:schemeClr val="accent1">
                  <a:lumMod val="50000"/>
                </a:schemeClr>
              </a:solidFill>
            </a:endParaRPr>
          </a:p>
        </p:txBody>
      </p:sp>
      <p:sp>
        <p:nvSpPr>
          <p:cNvPr id="13" name="Text 11"/>
          <p:cNvSpPr/>
          <p:nvPr/>
        </p:nvSpPr>
        <p:spPr>
          <a:xfrm>
            <a:off x="5841609" y="3137779"/>
            <a:ext cx="1353312" cy="231343"/>
          </a:xfrm>
          <a:prstGeom prst="rect">
            <a:avLst/>
          </a:prstGeom>
          <a:noFill/>
          <a:ln/>
        </p:spPr>
        <p:txBody>
          <a:bodyPr wrap="square" lIns="0" tIns="0" rIns="0" bIns="0" rtlCol="0" anchor="t"/>
          <a:lstStyle/>
          <a:p>
            <a:pPr marL="0" indent="0" algn="ctr">
              <a:buNone/>
            </a:pPr>
            <a:r>
              <a:rPr lang="en-GB" sz="900" noProof="0" dirty="0">
                <a:solidFill>
                  <a:schemeClr val="accent1">
                    <a:lumMod val="50000"/>
                  </a:schemeClr>
                </a:solidFill>
                <a:latin typeface="Calibri" pitchFamily="34" charset="0"/>
                <a:ea typeface="Calibri" pitchFamily="34" charset="-122"/>
                <a:cs typeface="Calibri" pitchFamily="34" charset="-120"/>
              </a:rPr>
              <a:t>2023–2025</a:t>
            </a:r>
            <a:endParaRPr lang="en-GB" sz="900" noProof="0" dirty="0">
              <a:solidFill>
                <a:schemeClr val="accent1">
                  <a:lumMod val="50000"/>
                </a:schemeClr>
              </a:solidFill>
            </a:endParaRPr>
          </a:p>
        </p:txBody>
      </p:sp>
      <p:sp>
        <p:nvSpPr>
          <p:cNvPr id="14" name="Shape 12"/>
          <p:cNvSpPr/>
          <p:nvPr/>
        </p:nvSpPr>
        <p:spPr>
          <a:xfrm>
            <a:off x="7236069" y="2317562"/>
            <a:ext cx="1353312" cy="1051560"/>
          </a:xfrm>
          <a:prstGeom prst="roundRect">
            <a:avLst>
              <a:gd name="adj" fmla="val 8696"/>
            </a:avLst>
          </a:prstGeom>
          <a:solidFill>
            <a:schemeClr val="bg1"/>
          </a:solidFill>
          <a:ln w="12700">
            <a:solidFill>
              <a:srgbClr val="3A5BA0"/>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15" name="Text 13"/>
          <p:cNvSpPr/>
          <p:nvPr/>
        </p:nvSpPr>
        <p:spPr>
          <a:xfrm>
            <a:off x="7236069" y="2390714"/>
            <a:ext cx="1353312" cy="578358"/>
          </a:xfrm>
          <a:prstGeom prst="rect">
            <a:avLst/>
          </a:prstGeom>
          <a:noFill/>
          <a:ln/>
        </p:spPr>
        <p:txBody>
          <a:bodyPr wrap="square" lIns="0" tIns="0" rIns="0" bIns="0" rtlCol="0" anchor="b"/>
          <a:lstStyle/>
          <a:p>
            <a:pPr marL="0" indent="0" algn="ctr">
              <a:buNone/>
            </a:pPr>
            <a:r>
              <a:rPr lang="en-GB" sz="2800" b="1" noProof="0" dirty="0">
                <a:solidFill>
                  <a:schemeClr val="accent1">
                    <a:lumMod val="50000"/>
                  </a:schemeClr>
                </a:solidFill>
                <a:latin typeface="Cambria" pitchFamily="34" charset="0"/>
                <a:ea typeface="Cambria" pitchFamily="34" charset="-122"/>
                <a:cs typeface="Cambria" pitchFamily="34" charset="-120"/>
              </a:rPr>
              <a:t>8,510</a:t>
            </a:r>
            <a:endParaRPr lang="en-GB" sz="2800" noProof="0" dirty="0">
              <a:solidFill>
                <a:schemeClr val="accent1">
                  <a:lumMod val="50000"/>
                </a:schemeClr>
              </a:solidFill>
            </a:endParaRPr>
          </a:p>
        </p:txBody>
      </p:sp>
      <p:sp>
        <p:nvSpPr>
          <p:cNvPr id="16" name="Text 14"/>
          <p:cNvSpPr/>
          <p:nvPr/>
        </p:nvSpPr>
        <p:spPr>
          <a:xfrm>
            <a:off x="7236069" y="2895920"/>
            <a:ext cx="1353312" cy="294437"/>
          </a:xfrm>
          <a:prstGeom prst="rect">
            <a:avLst/>
          </a:prstGeom>
          <a:noFill/>
          <a:ln/>
        </p:spPr>
        <p:txBody>
          <a:bodyPr wrap="square" lIns="0" tIns="0" rIns="0" bIns="0" rtlCol="0" anchor="t"/>
          <a:lstStyle/>
          <a:p>
            <a:pPr marL="0" indent="0" algn="ctr">
              <a:buNone/>
            </a:pPr>
            <a:r>
              <a:rPr lang="en-GB" sz="1100" b="1" noProof="0" dirty="0">
                <a:solidFill>
                  <a:schemeClr val="accent1">
                    <a:lumMod val="50000"/>
                  </a:schemeClr>
                </a:solidFill>
                <a:latin typeface="Calibri" pitchFamily="34" charset="0"/>
                <a:ea typeface="Calibri" pitchFamily="34" charset="-122"/>
                <a:cs typeface="Calibri" pitchFamily="34" charset="-120"/>
              </a:rPr>
              <a:t>Unique Customers</a:t>
            </a:r>
            <a:endParaRPr lang="en-GB" sz="1100" noProof="0" dirty="0">
              <a:solidFill>
                <a:schemeClr val="accent1">
                  <a:lumMod val="50000"/>
                </a:schemeClr>
              </a:solidFill>
            </a:endParaRPr>
          </a:p>
        </p:txBody>
      </p:sp>
      <p:sp>
        <p:nvSpPr>
          <p:cNvPr id="17" name="Text 15"/>
          <p:cNvSpPr/>
          <p:nvPr/>
        </p:nvSpPr>
        <p:spPr>
          <a:xfrm>
            <a:off x="7236069" y="3137779"/>
            <a:ext cx="1353312" cy="231343"/>
          </a:xfrm>
          <a:prstGeom prst="rect">
            <a:avLst/>
          </a:prstGeom>
          <a:noFill/>
          <a:ln/>
        </p:spPr>
        <p:txBody>
          <a:bodyPr wrap="square" lIns="0" tIns="0" rIns="0" bIns="0" rtlCol="0" anchor="t"/>
          <a:lstStyle/>
          <a:p>
            <a:pPr marL="0" indent="0" algn="ctr">
              <a:buNone/>
            </a:pPr>
            <a:r>
              <a:rPr lang="en-GB" sz="900" noProof="0" dirty="0">
                <a:solidFill>
                  <a:schemeClr val="accent1">
                    <a:lumMod val="50000"/>
                  </a:schemeClr>
                </a:solidFill>
                <a:latin typeface="Calibri" pitchFamily="34" charset="0"/>
                <a:ea typeface="Calibri" pitchFamily="34" charset="-122"/>
                <a:cs typeface="Calibri" pitchFamily="34" charset="-120"/>
              </a:rPr>
              <a:t>3-yr cohort</a:t>
            </a:r>
            <a:endParaRPr lang="en-GB" sz="900" noProof="0" dirty="0">
              <a:solidFill>
                <a:schemeClr val="accent1">
                  <a:lumMod val="50000"/>
                </a:schemeClr>
              </a:solidFill>
            </a:endParaRPr>
          </a:p>
        </p:txBody>
      </p:sp>
      <p:sp>
        <p:nvSpPr>
          <p:cNvPr id="18" name="Shape 16"/>
          <p:cNvSpPr/>
          <p:nvPr/>
        </p:nvSpPr>
        <p:spPr>
          <a:xfrm>
            <a:off x="5841609" y="3506282"/>
            <a:ext cx="1353312" cy="1051560"/>
          </a:xfrm>
          <a:prstGeom prst="roundRect">
            <a:avLst>
              <a:gd name="adj" fmla="val 8696"/>
            </a:avLst>
          </a:prstGeom>
          <a:solidFill>
            <a:schemeClr val="bg1"/>
          </a:solidFill>
          <a:ln w="12700">
            <a:solidFill>
              <a:srgbClr val="3A5BA0"/>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19" name="Text 17"/>
          <p:cNvSpPr/>
          <p:nvPr/>
        </p:nvSpPr>
        <p:spPr>
          <a:xfrm>
            <a:off x="5841609" y="3579434"/>
            <a:ext cx="1353312" cy="578358"/>
          </a:xfrm>
          <a:prstGeom prst="rect">
            <a:avLst/>
          </a:prstGeom>
          <a:noFill/>
          <a:ln/>
        </p:spPr>
        <p:txBody>
          <a:bodyPr wrap="square" lIns="0" tIns="0" rIns="0" bIns="0" rtlCol="0" anchor="b"/>
          <a:lstStyle/>
          <a:p>
            <a:pPr marL="0" indent="0" algn="ctr">
              <a:buNone/>
            </a:pPr>
            <a:r>
              <a:rPr lang="en-GB" sz="2800" b="1" noProof="0" dirty="0">
                <a:solidFill>
                  <a:schemeClr val="accent1">
                    <a:lumMod val="50000"/>
                  </a:schemeClr>
                </a:solidFill>
                <a:latin typeface="Cambria" pitchFamily="34" charset="0"/>
                <a:ea typeface="Cambria" pitchFamily="34" charset="-122"/>
                <a:cs typeface="Cambria" pitchFamily="34" charset="-120"/>
              </a:rPr>
              <a:t>$3.85</a:t>
            </a:r>
            <a:endParaRPr lang="en-GB" sz="2800" noProof="0" dirty="0">
              <a:solidFill>
                <a:schemeClr val="accent1">
                  <a:lumMod val="50000"/>
                </a:schemeClr>
              </a:solidFill>
            </a:endParaRPr>
          </a:p>
        </p:txBody>
      </p:sp>
      <p:sp>
        <p:nvSpPr>
          <p:cNvPr id="20" name="Text 18"/>
          <p:cNvSpPr/>
          <p:nvPr/>
        </p:nvSpPr>
        <p:spPr>
          <a:xfrm>
            <a:off x="5841609" y="4084640"/>
            <a:ext cx="1353312" cy="294437"/>
          </a:xfrm>
          <a:prstGeom prst="rect">
            <a:avLst/>
          </a:prstGeom>
          <a:noFill/>
          <a:ln/>
        </p:spPr>
        <p:txBody>
          <a:bodyPr wrap="square" lIns="0" tIns="0" rIns="0" bIns="0" rtlCol="0" anchor="t"/>
          <a:lstStyle/>
          <a:p>
            <a:pPr marL="0" indent="0" algn="ctr">
              <a:buNone/>
            </a:pPr>
            <a:r>
              <a:rPr lang="en-GB" sz="1100" b="1" noProof="0" dirty="0">
                <a:solidFill>
                  <a:schemeClr val="accent1">
                    <a:lumMod val="50000"/>
                  </a:schemeClr>
                </a:solidFill>
                <a:latin typeface="Calibri" pitchFamily="34" charset="0"/>
                <a:ea typeface="Calibri" pitchFamily="34" charset="-122"/>
                <a:cs typeface="Calibri" pitchFamily="34" charset="-120"/>
              </a:rPr>
              <a:t>Mean CLV / month</a:t>
            </a:r>
            <a:endParaRPr lang="en-GB" sz="1100" noProof="0" dirty="0">
              <a:solidFill>
                <a:schemeClr val="accent1">
                  <a:lumMod val="50000"/>
                </a:schemeClr>
              </a:solidFill>
            </a:endParaRPr>
          </a:p>
        </p:txBody>
      </p:sp>
      <p:sp>
        <p:nvSpPr>
          <p:cNvPr id="21" name="Text 19"/>
          <p:cNvSpPr/>
          <p:nvPr/>
        </p:nvSpPr>
        <p:spPr>
          <a:xfrm>
            <a:off x="5841609" y="4326499"/>
            <a:ext cx="1353312" cy="231343"/>
          </a:xfrm>
          <a:prstGeom prst="rect">
            <a:avLst/>
          </a:prstGeom>
          <a:noFill/>
          <a:ln/>
        </p:spPr>
        <p:txBody>
          <a:bodyPr wrap="square" lIns="0" tIns="0" rIns="0" bIns="0" rtlCol="0" anchor="t"/>
          <a:lstStyle/>
          <a:p>
            <a:pPr marL="0" indent="0" algn="ctr">
              <a:buNone/>
            </a:pPr>
            <a:r>
              <a:rPr lang="en-GB" sz="900" noProof="0" dirty="0">
                <a:solidFill>
                  <a:schemeClr val="accent1">
                    <a:lumMod val="50000"/>
                  </a:schemeClr>
                </a:solidFill>
                <a:latin typeface="Calibri" pitchFamily="34" charset="0"/>
                <a:ea typeface="Calibri" pitchFamily="34" charset="-122"/>
                <a:cs typeface="Calibri" pitchFamily="34" charset="-120"/>
              </a:rPr>
              <a:t>full base</a:t>
            </a:r>
            <a:endParaRPr lang="en-GB" sz="900" noProof="0" dirty="0">
              <a:solidFill>
                <a:schemeClr val="accent1">
                  <a:lumMod val="50000"/>
                </a:schemeClr>
              </a:solidFill>
            </a:endParaRPr>
          </a:p>
        </p:txBody>
      </p:sp>
      <p:sp>
        <p:nvSpPr>
          <p:cNvPr id="22" name="Shape 20"/>
          <p:cNvSpPr/>
          <p:nvPr/>
        </p:nvSpPr>
        <p:spPr>
          <a:xfrm>
            <a:off x="7236069" y="3506282"/>
            <a:ext cx="1353312" cy="1051560"/>
          </a:xfrm>
          <a:prstGeom prst="roundRect">
            <a:avLst>
              <a:gd name="adj" fmla="val 8696"/>
            </a:avLst>
          </a:prstGeom>
          <a:solidFill>
            <a:schemeClr val="bg1"/>
          </a:solidFill>
          <a:ln w="12700">
            <a:solidFill>
              <a:srgbClr val="3A5BA0"/>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23" name="Text 21"/>
          <p:cNvSpPr/>
          <p:nvPr/>
        </p:nvSpPr>
        <p:spPr>
          <a:xfrm>
            <a:off x="7236069" y="3579434"/>
            <a:ext cx="1353312" cy="578358"/>
          </a:xfrm>
          <a:prstGeom prst="rect">
            <a:avLst/>
          </a:prstGeom>
          <a:noFill/>
          <a:ln/>
        </p:spPr>
        <p:txBody>
          <a:bodyPr wrap="square" lIns="0" tIns="0" rIns="0" bIns="0" rtlCol="0" anchor="b"/>
          <a:lstStyle/>
          <a:p>
            <a:pPr marL="0" indent="0" algn="ctr">
              <a:buNone/>
            </a:pPr>
            <a:r>
              <a:rPr lang="en-GB" sz="2800" b="1" noProof="0" dirty="0">
                <a:solidFill>
                  <a:schemeClr val="accent1">
                    <a:lumMod val="50000"/>
                  </a:schemeClr>
                </a:solidFill>
                <a:latin typeface="Cambria" pitchFamily="34" charset="0"/>
                <a:ea typeface="Cambria" pitchFamily="34" charset="-122"/>
                <a:cs typeface="Cambria" pitchFamily="34" charset="-120"/>
              </a:rPr>
              <a:t>$102.61</a:t>
            </a:r>
            <a:endParaRPr lang="en-GB" sz="2800" noProof="0" dirty="0">
              <a:solidFill>
                <a:schemeClr val="accent1">
                  <a:lumMod val="50000"/>
                </a:schemeClr>
              </a:solidFill>
            </a:endParaRPr>
          </a:p>
        </p:txBody>
      </p:sp>
      <p:sp>
        <p:nvSpPr>
          <p:cNvPr id="24" name="Text 22"/>
          <p:cNvSpPr/>
          <p:nvPr/>
        </p:nvSpPr>
        <p:spPr>
          <a:xfrm>
            <a:off x="7236069" y="4084640"/>
            <a:ext cx="1353312" cy="294437"/>
          </a:xfrm>
          <a:prstGeom prst="rect">
            <a:avLst/>
          </a:prstGeom>
          <a:noFill/>
          <a:ln/>
        </p:spPr>
        <p:txBody>
          <a:bodyPr wrap="square" lIns="0" tIns="0" rIns="0" bIns="0" rtlCol="0" anchor="t"/>
          <a:lstStyle/>
          <a:p>
            <a:pPr marL="0" indent="0" algn="ctr">
              <a:buNone/>
            </a:pPr>
            <a:r>
              <a:rPr lang="en-GB" sz="1100" b="1" noProof="0" dirty="0">
                <a:solidFill>
                  <a:schemeClr val="accent1">
                    <a:lumMod val="50000"/>
                  </a:schemeClr>
                </a:solidFill>
                <a:latin typeface="Calibri" pitchFamily="34" charset="0"/>
                <a:ea typeface="Calibri" pitchFamily="34" charset="-122"/>
                <a:cs typeface="Calibri" pitchFamily="34" charset="-120"/>
              </a:rPr>
              <a:t>Mean Pred. CLV</a:t>
            </a:r>
            <a:endParaRPr lang="en-GB" sz="1100" noProof="0" dirty="0">
              <a:solidFill>
                <a:schemeClr val="accent1">
                  <a:lumMod val="50000"/>
                </a:schemeClr>
              </a:solidFill>
            </a:endParaRPr>
          </a:p>
        </p:txBody>
      </p:sp>
      <p:sp>
        <p:nvSpPr>
          <p:cNvPr id="25" name="Text 23"/>
          <p:cNvSpPr/>
          <p:nvPr/>
        </p:nvSpPr>
        <p:spPr>
          <a:xfrm>
            <a:off x="7236069" y="4326499"/>
            <a:ext cx="1353312" cy="231343"/>
          </a:xfrm>
          <a:prstGeom prst="rect">
            <a:avLst/>
          </a:prstGeom>
          <a:noFill/>
          <a:ln/>
        </p:spPr>
        <p:txBody>
          <a:bodyPr wrap="square" lIns="0" tIns="0" rIns="0" bIns="0" rtlCol="0" anchor="t"/>
          <a:lstStyle/>
          <a:p>
            <a:pPr marL="0" indent="0" algn="ctr">
              <a:buNone/>
            </a:pPr>
            <a:r>
              <a:rPr lang="en-GB" sz="900" noProof="0" dirty="0">
                <a:solidFill>
                  <a:schemeClr val="accent1">
                    <a:lumMod val="50000"/>
                  </a:schemeClr>
                </a:solidFill>
                <a:latin typeface="Calibri" pitchFamily="34" charset="0"/>
                <a:ea typeface="Calibri" pitchFamily="34" charset="-122"/>
                <a:cs typeface="Calibri" pitchFamily="34" charset="-120"/>
              </a:rPr>
              <a:t>52-wk horizon</a:t>
            </a:r>
            <a:endParaRPr lang="en-GB" sz="900" noProof="0" dirty="0">
              <a:solidFill>
                <a:schemeClr val="accent1">
                  <a:lumMod val="50000"/>
                </a:schemeClr>
              </a:solidFill>
            </a:endParaRPr>
          </a:p>
        </p:txBody>
      </p:sp>
      <p:sp>
        <p:nvSpPr>
          <p:cNvPr id="26" name="Text 24"/>
          <p:cNvSpPr/>
          <p:nvPr/>
        </p:nvSpPr>
        <p:spPr>
          <a:xfrm>
            <a:off x="0" y="4864608"/>
            <a:ext cx="9144000" cy="274320"/>
          </a:xfrm>
          <a:prstGeom prst="rect">
            <a:avLst/>
          </a:prstGeom>
          <a:noFill/>
          <a:ln/>
        </p:spPr>
        <p:txBody>
          <a:bodyPr wrap="square" lIns="0" tIns="0" rIns="0" bIns="0" rtlCol="0" anchor="ctr"/>
          <a:lstStyle/>
          <a:p>
            <a:pPr marL="0" indent="0" algn="ctr">
              <a:buNone/>
            </a:pPr>
            <a:r>
              <a:rPr lang="en-GB" sz="800" noProof="0" dirty="0">
                <a:solidFill>
                  <a:srgbClr val="8094C8"/>
                </a:solidFill>
                <a:latin typeface="Calibri" pitchFamily="34" charset="0"/>
                <a:ea typeface="Calibri" pitchFamily="34" charset="-122"/>
                <a:cs typeface="Calibri" pitchFamily="34" charset="-120"/>
              </a:rPr>
              <a:t>Università degli Studi di Milano-Bicocca  -  FMCG Customer Behaviour Dataset  -  PostgreSQL - Python</a:t>
            </a:r>
            <a:endParaRPr lang="en-GB" sz="800" noProof="0" dirty="0"/>
          </a:p>
        </p:txBody>
      </p:sp>
      <p:sp>
        <p:nvSpPr>
          <p:cNvPr id="28" name="Text 6">
            <a:extLst>
              <a:ext uri="{FF2B5EF4-FFF2-40B4-BE49-F238E27FC236}">
                <a16:creationId xmlns:a16="http://schemas.microsoft.com/office/drawing/2014/main" id="{64B4FB08-DB09-9FFA-E5BA-0517DC1FA8AA}"/>
              </a:ext>
            </a:extLst>
          </p:cNvPr>
          <p:cNvSpPr/>
          <p:nvPr/>
        </p:nvSpPr>
        <p:spPr>
          <a:xfrm>
            <a:off x="457200" y="1896535"/>
            <a:ext cx="4572000" cy="256032"/>
          </a:xfrm>
          <a:prstGeom prst="rect">
            <a:avLst/>
          </a:prstGeom>
          <a:noFill/>
          <a:ln/>
        </p:spPr>
        <p:txBody>
          <a:bodyPr wrap="square" lIns="0" tIns="0" rIns="0" bIns="0" rtlCol="0" anchor="ctr"/>
          <a:lstStyle/>
          <a:p>
            <a:pPr marL="0" indent="0" algn="l">
              <a:buNone/>
            </a:pPr>
            <a:r>
              <a:rPr lang="en-GB" sz="1100" noProof="0" dirty="0">
                <a:solidFill>
                  <a:schemeClr val="bg1"/>
                </a:solidFill>
                <a:latin typeface="Cambria" panose="02040503050406030204" pitchFamily="18" charset="0"/>
                <a:ea typeface="Cambria" panose="02040503050406030204" pitchFamily="18" charset="0"/>
              </a:rPr>
              <a:t>Presented to: Professor Luigi Capone</a:t>
            </a:r>
          </a:p>
        </p:txBody>
      </p:sp>
      <p:sp>
        <p:nvSpPr>
          <p:cNvPr id="34" name="Text 6">
            <a:extLst>
              <a:ext uri="{FF2B5EF4-FFF2-40B4-BE49-F238E27FC236}">
                <a16:creationId xmlns:a16="http://schemas.microsoft.com/office/drawing/2014/main" id="{BD39013A-1A69-8B5C-E738-D3122520B8BF}"/>
              </a:ext>
            </a:extLst>
          </p:cNvPr>
          <p:cNvSpPr/>
          <p:nvPr/>
        </p:nvSpPr>
        <p:spPr>
          <a:xfrm>
            <a:off x="457200" y="2116694"/>
            <a:ext cx="4572000" cy="256032"/>
          </a:xfrm>
          <a:prstGeom prst="rect">
            <a:avLst/>
          </a:prstGeom>
          <a:noFill/>
          <a:ln/>
        </p:spPr>
        <p:txBody>
          <a:bodyPr wrap="square" lIns="0" tIns="0" rIns="0" bIns="0" rtlCol="0" anchor="ctr"/>
          <a:lstStyle/>
          <a:p>
            <a:pPr marL="0" indent="0" algn="l">
              <a:buNone/>
            </a:pPr>
            <a:r>
              <a:rPr lang="en-GB" sz="1100" noProof="0" dirty="0">
                <a:solidFill>
                  <a:schemeClr val="bg1"/>
                </a:solidFill>
                <a:latin typeface="Cambria" panose="02040503050406030204" pitchFamily="18" charset="0"/>
                <a:ea typeface="Cambria" panose="02040503050406030204" pitchFamily="18" charset="0"/>
              </a:rPr>
              <a:t>Student: Colombini Francesco – ID:944941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F"/>
        </a:solidFill>
        <a:effectLst/>
      </p:bgPr>
    </p:bg>
    <p:spTree>
      <p:nvGrpSpPr>
        <p:cNvPr id="1" name=""/>
        <p:cNvGrpSpPr/>
        <p:nvPr/>
      </p:nvGrpSpPr>
      <p:grpSpPr>
        <a:xfrm>
          <a:off x="0" y="0"/>
          <a:ext cx="0" cy="0"/>
          <a:chOff x="0" y="0"/>
          <a:chExt cx="0" cy="0"/>
        </a:xfrm>
      </p:grpSpPr>
      <p:sp>
        <p:nvSpPr>
          <p:cNvPr id="2" name="Shape 0"/>
          <p:cNvSpPr/>
          <p:nvPr/>
        </p:nvSpPr>
        <p:spPr>
          <a:xfrm>
            <a:off x="0" y="-4572"/>
            <a:ext cx="9144000" cy="777240"/>
          </a:xfrm>
          <a:prstGeom prst="rect">
            <a:avLst/>
          </a:prstGeom>
          <a:solidFill>
            <a:srgbClr val="1E2761"/>
          </a:solidFill>
          <a:ln w="12700">
            <a:solidFill>
              <a:srgbClr val="1E2761"/>
            </a:solidFill>
            <a:prstDash val="solid"/>
          </a:ln>
        </p:spPr>
        <p:txBody>
          <a:bodyPr/>
          <a:lstStyle/>
          <a:p>
            <a:endParaRPr lang="en-GB" noProof="0" dirty="0"/>
          </a:p>
        </p:txBody>
      </p:sp>
      <p:sp>
        <p:nvSpPr>
          <p:cNvPr id="4" name="Text 1"/>
          <p:cNvSpPr/>
          <p:nvPr/>
        </p:nvSpPr>
        <p:spPr>
          <a:xfrm>
            <a:off x="274320" y="328832"/>
            <a:ext cx="7079567" cy="291905"/>
          </a:xfrm>
          <a:prstGeom prst="rect">
            <a:avLst/>
          </a:prstGeom>
          <a:noFill/>
          <a:ln/>
        </p:spPr>
        <p:txBody>
          <a:bodyPr wrap="square" lIns="0" tIns="0" rIns="0" bIns="0" rtlCol="0" anchor="ctr"/>
          <a:lstStyle/>
          <a:p>
            <a:pPr marL="0" indent="0" algn="l">
              <a:buNone/>
            </a:pPr>
            <a:r>
              <a:rPr lang="en-GB" sz="2800" b="1" noProof="0" dirty="0">
                <a:solidFill>
                  <a:srgbClr val="FFFFFF"/>
                </a:solidFill>
                <a:latin typeface="EucrosiaUPC" panose="02020603050405020304" pitchFamily="18" charset="-34"/>
                <a:ea typeface="Cambria" pitchFamily="34" charset="-122"/>
                <a:cs typeface="EucrosiaUPC" panose="02020603050405020304" pitchFamily="18" charset="-34"/>
              </a:rPr>
              <a:t>1. Data Architecture &amp; Preprocessing Rationale</a:t>
            </a:r>
            <a:endParaRPr lang="en-GB" sz="2800" noProof="0" dirty="0">
              <a:latin typeface="EucrosiaUPC" panose="02020603050405020304" pitchFamily="18" charset="-34"/>
              <a:cs typeface="EucrosiaUPC" panose="02020603050405020304" pitchFamily="18" charset="-34"/>
            </a:endParaRPr>
          </a:p>
        </p:txBody>
      </p:sp>
      <p:sp>
        <p:nvSpPr>
          <p:cNvPr id="5" name="Text 2"/>
          <p:cNvSpPr/>
          <p:nvPr/>
        </p:nvSpPr>
        <p:spPr>
          <a:xfrm>
            <a:off x="274320" y="896112"/>
            <a:ext cx="3840480" cy="256032"/>
          </a:xfrm>
          <a:prstGeom prst="rect">
            <a:avLst/>
          </a:prstGeom>
          <a:noFill/>
          <a:ln/>
        </p:spPr>
        <p:txBody>
          <a:bodyPr wrap="square" lIns="0" tIns="0" rIns="0" bIns="0" rtlCol="0" anchor="ctr"/>
          <a:lstStyle/>
          <a:p>
            <a:pPr marL="0" indent="0" algn="l">
              <a:buNone/>
            </a:pPr>
            <a:r>
              <a:rPr lang="en-GB" sz="1000" b="1" kern="0" spc="200" noProof="0" dirty="0">
                <a:solidFill>
                  <a:schemeClr val="accent1">
                    <a:lumMod val="75000"/>
                  </a:schemeClr>
                </a:solidFill>
                <a:latin typeface="Cambria" panose="02040503050406030204" pitchFamily="18" charset="0"/>
                <a:ea typeface="Cambria" panose="02040503050406030204" pitchFamily="18" charset="0"/>
                <a:cs typeface="Calibri" pitchFamily="34" charset="-120"/>
              </a:rPr>
              <a:t>METHODOLOGY &amp; RATIONALE</a:t>
            </a:r>
            <a:endParaRPr lang="en-GB" sz="1000" noProof="0" dirty="0">
              <a:solidFill>
                <a:schemeClr val="accent1">
                  <a:lumMod val="75000"/>
                </a:schemeClr>
              </a:solidFill>
              <a:latin typeface="Cambria" panose="02040503050406030204" pitchFamily="18" charset="0"/>
              <a:ea typeface="Cambria" panose="02040503050406030204" pitchFamily="18" charset="0"/>
            </a:endParaRPr>
          </a:p>
        </p:txBody>
      </p:sp>
      <p:sp>
        <p:nvSpPr>
          <p:cNvPr id="6" name="Text 3"/>
          <p:cNvSpPr/>
          <p:nvPr/>
        </p:nvSpPr>
        <p:spPr>
          <a:xfrm>
            <a:off x="274320" y="1170432"/>
            <a:ext cx="4428309" cy="3774362"/>
          </a:xfrm>
          <a:prstGeom prst="rect">
            <a:avLst/>
          </a:prstGeom>
          <a:noFill/>
          <a:ln/>
        </p:spPr>
        <p:txBody>
          <a:bodyPr wrap="square" lIns="0" tIns="0" rIns="0" bIns="0" rtlCol="0" anchor="t"/>
          <a:lstStyle/>
          <a:p>
            <a:pPr marL="0" indent="0" algn="l">
              <a:spcAft>
                <a:spcPts val="100"/>
              </a:spcAft>
              <a:buNone/>
            </a:pPr>
            <a:r>
              <a:rPr lang="en-GB" sz="1100" b="1" noProof="0" dirty="0">
                <a:solidFill>
                  <a:schemeClr val="accent1">
                    <a:lumMod val="75000"/>
                  </a:schemeClr>
                </a:solidFill>
                <a:latin typeface="Cambria" panose="02040503050406030204" pitchFamily="18" charset="0"/>
                <a:ea typeface="Cambria" panose="02040503050406030204" pitchFamily="18" charset="0"/>
                <a:cs typeface="Calibri" pitchFamily="34" charset="-120"/>
              </a:rPr>
              <a:t>1. Data Ingestion</a:t>
            </a:r>
          </a:p>
          <a:p>
            <a:pPr marL="0" indent="0" algn="l">
              <a:spcAft>
                <a:spcPts val="100"/>
              </a:spcAft>
              <a:buNone/>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The dataset was assembled by joining six PostgreSQL tables (ORDER, CUSTOMER, ORDER_ITEM, PRODUCT, CATEGORY, and PRICE_CHANGE) yielding 62,767 transactional records across 2023–2025, addressing 15 total variables, with a stricted procedure to ensure consistency and reliability.</a:t>
            </a:r>
            <a:endParaRPr lang="en-GB" sz="1000" noProof="0" dirty="0">
              <a:latin typeface="Cambria" panose="02040503050406030204" pitchFamily="18" charset="0"/>
              <a:ea typeface="Cambria" panose="02040503050406030204" pitchFamily="18" charset="0"/>
            </a:endParaRPr>
          </a:p>
          <a:p>
            <a:pPr marL="0" indent="0" algn="l">
              <a:spcAft>
                <a:spcPts val="100"/>
              </a:spcAft>
              <a:buNone/>
            </a:pPr>
            <a:endParaRPr lang="en-GB" sz="1050" noProof="0" dirty="0">
              <a:latin typeface="Cambria" panose="02040503050406030204" pitchFamily="18" charset="0"/>
              <a:ea typeface="Cambria" panose="02040503050406030204" pitchFamily="18" charset="0"/>
            </a:endParaRPr>
          </a:p>
          <a:p>
            <a:pPr marL="0" indent="0" algn="l">
              <a:spcAft>
                <a:spcPts val="100"/>
              </a:spcAft>
              <a:buNone/>
            </a:pPr>
            <a:r>
              <a:rPr lang="en-GB" sz="1100" b="1" noProof="0" dirty="0">
                <a:solidFill>
                  <a:schemeClr val="accent1">
                    <a:lumMod val="75000"/>
                  </a:schemeClr>
                </a:solidFill>
                <a:latin typeface="Cambria" panose="02040503050406030204" pitchFamily="18" charset="0"/>
                <a:ea typeface="Cambria" panose="02040503050406030204" pitchFamily="18" charset="0"/>
              </a:rPr>
              <a:t>2. Data Quality</a:t>
            </a:r>
          </a:p>
          <a:p>
            <a:pPr marL="171450" indent="-171450">
              <a:spcAft>
                <a:spcPts val="100"/>
              </a:spcAft>
              <a:buFont typeface="Arial" panose="020B0604020202020204" pitchFamily="34" charset="0"/>
              <a:buChar char="•"/>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Only transactions with a confirmed price record are retained, eliminating orphaned rows without explicit imputation. </a:t>
            </a:r>
          </a:p>
          <a:p>
            <a:pPr marL="171450" indent="-171450">
              <a:spcAft>
                <a:spcPts val="100"/>
              </a:spcAft>
              <a:buFont typeface="Arial" panose="020B0604020202020204" pitchFamily="34" charset="0"/>
              <a:buChar char="•"/>
            </a:pPr>
            <a:r>
              <a:rPr lang="en-GB" sz="1000" noProof="0" dirty="0" err="1">
                <a:solidFill>
                  <a:srgbClr val="1A2440"/>
                </a:solidFill>
                <a:latin typeface="Cambria" panose="02040503050406030204" pitchFamily="18" charset="0"/>
                <a:ea typeface="Cambria" panose="02040503050406030204" pitchFamily="18" charset="0"/>
                <a:cs typeface="Calibri" pitchFamily="34" charset="-120"/>
              </a:rPr>
              <a:t>NaN</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values were replaced with None before loading into PostgreSQL to guarantee clean column typing throughout the pipeline</a:t>
            </a:r>
          </a:p>
          <a:p>
            <a:pPr marL="171450" indent="-171450">
              <a:spcAft>
                <a:spcPts val="100"/>
              </a:spcAft>
              <a:buFont typeface="Arial" panose="020B0604020202020204" pitchFamily="34" charset="0"/>
              <a:buChar char="•"/>
            </a:pPr>
            <a:r>
              <a:rPr lang="en-GB" sz="1000" b="1" noProof="0" dirty="0">
                <a:solidFill>
                  <a:srgbClr val="1A2440"/>
                </a:solidFill>
                <a:latin typeface="Cambria" panose="02040503050406030204" pitchFamily="18" charset="0"/>
                <a:ea typeface="Cambria" panose="02040503050406030204" pitchFamily="18" charset="0"/>
                <a:cs typeface="Calibri" pitchFamily="34" charset="-120"/>
              </a:rPr>
              <a:t>Zero missing values </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are present in the dataset.</a:t>
            </a:r>
            <a:endParaRPr lang="en-GB" sz="1000" noProof="0" dirty="0">
              <a:latin typeface="Cambria" panose="02040503050406030204" pitchFamily="18" charset="0"/>
              <a:ea typeface="Cambria" panose="02040503050406030204" pitchFamily="18" charset="0"/>
            </a:endParaRPr>
          </a:p>
          <a:p>
            <a:pPr marL="0" indent="0" algn="l">
              <a:spcAft>
                <a:spcPts val="100"/>
              </a:spcAft>
              <a:buNone/>
            </a:pPr>
            <a:endParaRPr lang="en-GB" sz="1050" noProof="0" dirty="0">
              <a:latin typeface="Cambria" panose="02040503050406030204" pitchFamily="18" charset="0"/>
              <a:ea typeface="Cambria" panose="02040503050406030204" pitchFamily="18" charset="0"/>
            </a:endParaRPr>
          </a:p>
          <a:p>
            <a:pPr>
              <a:spcAft>
                <a:spcPts val="100"/>
              </a:spcAft>
            </a:pPr>
            <a:r>
              <a:rPr lang="en-GB" sz="1100" b="1" noProof="0" dirty="0">
                <a:solidFill>
                  <a:schemeClr val="accent1">
                    <a:lumMod val="75000"/>
                  </a:schemeClr>
                </a:solidFill>
                <a:latin typeface="Cambria" panose="02040503050406030204" pitchFamily="18" charset="0"/>
                <a:ea typeface="Cambria" panose="02040503050406030204" pitchFamily="18" charset="0"/>
                <a:cs typeface="Calibri" pitchFamily="34" charset="-120"/>
              </a:rPr>
              <a:t>3. Data Preparation</a:t>
            </a:r>
          </a:p>
          <a:p>
            <a:pPr marL="171450" indent="-171450">
              <a:spcAft>
                <a:spcPts val="100"/>
              </a:spcAft>
              <a:buFont typeface="Arial" panose="020B0604020202020204" pitchFamily="34" charset="0"/>
              <a:buChar char="•"/>
            </a:pPr>
            <a:r>
              <a:rPr lang="en-GB" sz="1000" noProof="0" dirty="0">
                <a:latin typeface="Cambria" panose="02040503050406030204" pitchFamily="18" charset="0"/>
                <a:ea typeface="Cambria" panose="02040503050406030204" pitchFamily="18" charset="0"/>
              </a:rPr>
              <a:t>Fixed change of the </a:t>
            </a:r>
            <a:r>
              <a:rPr lang="en-GB" sz="1000" b="1" noProof="0" dirty="0">
                <a:latin typeface="Cambria" panose="02040503050406030204" pitchFamily="18" charset="0"/>
                <a:ea typeface="Cambria" panose="02040503050406030204" pitchFamily="18" charset="0"/>
              </a:rPr>
              <a:t>currency</a:t>
            </a:r>
            <a:r>
              <a:rPr lang="en-GB" sz="1000" noProof="0" dirty="0">
                <a:latin typeface="Cambria" panose="02040503050406030204" pitchFamily="18" charset="0"/>
                <a:ea typeface="Cambria" panose="02040503050406030204" pitchFamily="18" charset="0"/>
              </a:rPr>
              <a:t> of 83.0 INR/USD on all the numeric variables</a:t>
            </a:r>
          </a:p>
          <a:p>
            <a:pPr marL="171450" indent="-171450">
              <a:spcAft>
                <a:spcPts val="100"/>
              </a:spcAft>
              <a:buFont typeface="Arial" panose="020B0604020202020204" pitchFamily="34" charset="0"/>
              <a:buChar char="•"/>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2 new variables were created </a:t>
            </a:r>
            <a:r>
              <a:rPr lang="en-GB" sz="1000" i="1" noProof="0" dirty="0" err="1">
                <a:solidFill>
                  <a:srgbClr val="1A2440"/>
                </a:solidFill>
                <a:latin typeface="Cambria" panose="02040503050406030204" pitchFamily="18" charset="0"/>
                <a:ea typeface="Cambria" panose="02040503050406030204" pitchFamily="18" charset="0"/>
                <a:cs typeface="Calibri" pitchFamily="34" charset="-120"/>
              </a:rPr>
              <a:t>gross_revenue_usd</a:t>
            </a:r>
            <a:r>
              <a:rPr lang="en-GB" sz="1000" i="1" noProof="0" dirty="0">
                <a:solidFill>
                  <a:srgbClr val="1A2440"/>
                </a:solidFill>
                <a:latin typeface="Cambria" panose="02040503050406030204" pitchFamily="18" charset="0"/>
                <a:ea typeface="Cambria" panose="02040503050406030204" pitchFamily="18" charset="0"/>
                <a:cs typeface="Calibri" pitchFamily="34" charset="-120"/>
              </a:rPr>
              <a:t> </a:t>
            </a:r>
            <a:r>
              <a:rPr lang="en-GB" sz="1000" noProof="0" dirty="0">
                <a:latin typeface="Cambria" panose="02040503050406030204" pitchFamily="18" charset="0"/>
                <a:ea typeface="Cambria" panose="02040503050406030204" pitchFamily="18" charset="0"/>
                <a:cs typeface="Calibri" pitchFamily="34" charset="-120"/>
              </a:rPr>
              <a:t>and</a:t>
            </a:r>
            <a:r>
              <a:rPr lang="en-GB" sz="1000" i="1" noProof="0" dirty="0">
                <a:solidFill>
                  <a:srgbClr val="1A2440"/>
                </a:solidFill>
                <a:latin typeface="Cambria" panose="02040503050406030204" pitchFamily="18" charset="0"/>
                <a:ea typeface="Cambria" panose="02040503050406030204" pitchFamily="18" charset="0"/>
                <a:cs typeface="Calibri" pitchFamily="34" charset="-120"/>
              </a:rPr>
              <a:t> </a:t>
            </a:r>
            <a:r>
              <a:rPr lang="en-GB" sz="1000" i="1" noProof="0" dirty="0" err="1">
                <a:solidFill>
                  <a:srgbClr val="1A2440"/>
                </a:solidFill>
                <a:latin typeface="Cambria" panose="02040503050406030204" pitchFamily="18" charset="0"/>
                <a:ea typeface="Cambria" panose="02040503050406030204" pitchFamily="18" charset="0"/>
                <a:cs typeface="Calibri" pitchFamily="34" charset="-120"/>
              </a:rPr>
              <a:t>net_revenue_usd</a:t>
            </a:r>
            <a:endParaRPr lang="en-GB" sz="1000" i="1" noProof="0" dirty="0">
              <a:solidFill>
                <a:srgbClr val="1A2440"/>
              </a:solidFill>
              <a:latin typeface="Cambria" panose="02040503050406030204" pitchFamily="18" charset="0"/>
              <a:ea typeface="Cambria" panose="02040503050406030204" pitchFamily="18" charset="0"/>
              <a:cs typeface="Calibri" pitchFamily="34" charset="-120"/>
            </a:endParaRPr>
          </a:p>
          <a:p>
            <a:pPr marL="171450" indent="-171450">
              <a:spcAft>
                <a:spcPts val="100"/>
              </a:spcAft>
              <a:buFont typeface="Arial" panose="020B0604020202020204" pitchFamily="34" charset="0"/>
              <a:buChar char="•"/>
            </a:pPr>
            <a:r>
              <a:rPr lang="en-GB" sz="1000" b="1" noProof="0" dirty="0" err="1">
                <a:solidFill>
                  <a:srgbClr val="1A2440"/>
                </a:solidFill>
                <a:latin typeface="Cambria" panose="02040503050406030204" pitchFamily="18" charset="0"/>
                <a:ea typeface="Cambria" panose="02040503050406030204" pitchFamily="18" charset="0"/>
                <a:cs typeface="Calibri" pitchFamily="34" charset="-120"/>
              </a:rPr>
              <a:t>Item_discount</a:t>
            </a:r>
            <a:r>
              <a:rPr lang="en-GB" sz="1000" b="1" noProof="0" dirty="0">
                <a:solidFill>
                  <a:srgbClr val="1A2440"/>
                </a:solidFill>
                <a:latin typeface="Cambria" panose="02040503050406030204" pitchFamily="18" charset="0"/>
                <a:ea typeface="Cambria" panose="02040503050406030204" pitchFamily="18" charset="0"/>
                <a:cs typeface="Calibri" pitchFamily="34" charset="-120"/>
              </a:rPr>
              <a:t> </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presented anomalous patterns, suggesting that these discounts were recorded at an order level, and mechanically distributed across individual items, making its aggregation unreliable</a:t>
            </a:r>
          </a:p>
          <a:p>
            <a:pPr marL="171450" indent="-171450">
              <a:spcAft>
                <a:spcPts val="100"/>
              </a:spcAft>
              <a:buFont typeface="Arial" panose="020B0604020202020204" pitchFamily="34" charset="0"/>
              <a:buChar char="•"/>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A floor of </a:t>
            </a:r>
            <a:r>
              <a:rPr lang="en-GB" sz="1000" b="1" noProof="0" dirty="0">
                <a:solidFill>
                  <a:srgbClr val="1A2440"/>
                </a:solidFill>
                <a:latin typeface="Cambria" panose="02040503050406030204" pitchFamily="18" charset="0"/>
                <a:ea typeface="Cambria" panose="02040503050406030204" pitchFamily="18" charset="0"/>
                <a:cs typeface="Calibri" pitchFamily="34" charset="-120"/>
              </a:rPr>
              <a:t>zero</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is applied to </a:t>
            </a:r>
            <a:r>
              <a:rPr lang="en-GB" sz="1000" noProof="0" dirty="0" err="1">
                <a:solidFill>
                  <a:srgbClr val="1A2440"/>
                </a:solidFill>
                <a:latin typeface="Cambria" panose="02040503050406030204" pitchFamily="18" charset="0"/>
                <a:ea typeface="Cambria" panose="02040503050406030204" pitchFamily="18" charset="0"/>
                <a:cs typeface="Calibri" pitchFamily="34" charset="-120"/>
              </a:rPr>
              <a:t>net_revenue_usd</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using .clip(lower=0) to prevent negative revenue entries from distorting the Monetary signal</a:t>
            </a:r>
          </a:p>
          <a:p>
            <a:pPr marL="171450" indent="-171450">
              <a:spcAft>
                <a:spcPts val="100"/>
              </a:spcAft>
              <a:buFont typeface="Arial" panose="020B0604020202020204" pitchFamily="34" charset="0"/>
              <a:buChar char="•"/>
            </a:pPr>
            <a:r>
              <a:rPr lang="en-GB" sz="1000" b="1" noProof="0" dirty="0">
                <a:solidFill>
                  <a:srgbClr val="1A2440"/>
                </a:solidFill>
                <a:latin typeface="Cambria" panose="02040503050406030204" pitchFamily="18" charset="0"/>
                <a:ea typeface="Cambria" panose="02040503050406030204" pitchFamily="18" charset="0"/>
                <a:cs typeface="Calibri" pitchFamily="34" charset="-120"/>
              </a:rPr>
              <a:t>New dataset </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created (</a:t>
            </a:r>
            <a:r>
              <a:rPr lang="en-GB" sz="1000" i="1" noProof="0" dirty="0" err="1">
                <a:solidFill>
                  <a:srgbClr val="1A2440"/>
                </a:solidFill>
                <a:latin typeface="Cambria" panose="02040503050406030204" pitchFamily="18" charset="0"/>
                <a:ea typeface="Cambria" panose="02040503050406030204" pitchFamily="18" charset="0"/>
                <a:cs typeface="Calibri" pitchFamily="34" charset="-120"/>
              </a:rPr>
              <a:t>df_orders</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created using order-level aggregated revenue and used for the following steps of RFM, CLV, BG/NBD modelling</a:t>
            </a:r>
          </a:p>
          <a:p>
            <a:pPr marL="171450" indent="-171450">
              <a:spcAft>
                <a:spcPts val="100"/>
              </a:spcAft>
              <a:buFont typeface="Arial" panose="020B0604020202020204" pitchFamily="34" charset="0"/>
              <a:buChar char="•"/>
            </a:pPr>
            <a:endParaRPr lang="en-GB" sz="1050" noProof="0" dirty="0">
              <a:solidFill>
                <a:srgbClr val="1A2440"/>
              </a:solidFill>
              <a:latin typeface="Cambria" panose="02040503050406030204" pitchFamily="18" charset="0"/>
              <a:ea typeface="Cambria" panose="02040503050406030204" pitchFamily="18" charset="0"/>
              <a:cs typeface="Calibri" pitchFamily="34" charset="-120"/>
            </a:endParaRPr>
          </a:p>
          <a:p>
            <a:pPr marL="171450" indent="-171450">
              <a:spcAft>
                <a:spcPts val="100"/>
              </a:spcAft>
              <a:buFont typeface="Arial" panose="020B0604020202020204" pitchFamily="34" charset="0"/>
              <a:buChar char="•"/>
            </a:pPr>
            <a:endParaRPr lang="en-GB" sz="1050" noProof="0" dirty="0">
              <a:solidFill>
                <a:srgbClr val="1A2440"/>
              </a:solidFill>
              <a:latin typeface="Cambria" panose="02040503050406030204" pitchFamily="18" charset="0"/>
              <a:ea typeface="Cambria" panose="02040503050406030204" pitchFamily="18" charset="0"/>
              <a:cs typeface="Calibri" pitchFamily="34" charset="-120"/>
            </a:endParaRPr>
          </a:p>
          <a:p>
            <a:pPr marL="0" indent="0" algn="l">
              <a:spcAft>
                <a:spcPts val="100"/>
              </a:spcAft>
              <a:buNone/>
            </a:pPr>
            <a:endParaRPr lang="en-GB" sz="1050" noProof="0" dirty="0">
              <a:latin typeface="Cambria" panose="02040503050406030204" pitchFamily="18" charset="0"/>
              <a:ea typeface="Cambria" panose="02040503050406030204" pitchFamily="18" charset="0"/>
            </a:endParaRPr>
          </a:p>
        </p:txBody>
      </p:sp>
      <p:sp>
        <p:nvSpPr>
          <p:cNvPr id="7" name="Text 4"/>
          <p:cNvSpPr/>
          <p:nvPr/>
        </p:nvSpPr>
        <p:spPr>
          <a:xfrm>
            <a:off x="5074920" y="942711"/>
            <a:ext cx="3840480" cy="162834"/>
          </a:xfrm>
          <a:prstGeom prst="rect">
            <a:avLst/>
          </a:prstGeom>
          <a:noFill/>
          <a:ln/>
        </p:spPr>
        <p:txBody>
          <a:bodyPr wrap="square" lIns="0" tIns="0" rIns="0" bIns="0" rtlCol="0" anchor="ctr"/>
          <a:lstStyle/>
          <a:p>
            <a:pPr marL="0" indent="0">
              <a:buNone/>
            </a:pPr>
            <a:r>
              <a:rPr lang="en-GB" sz="1000" b="1" kern="0" spc="200" noProof="0" dirty="0">
                <a:solidFill>
                  <a:srgbClr val="3A5BA0"/>
                </a:solidFill>
                <a:latin typeface="Cambria" panose="02040503050406030204" pitchFamily="18" charset="0"/>
                <a:ea typeface="Cambria" panose="02040503050406030204" pitchFamily="18" charset="0"/>
                <a:cs typeface="Calibri" pitchFamily="34" charset="-120"/>
              </a:rPr>
              <a:t>DATASET SCHEMA – DF_ITEMS </a:t>
            </a:r>
            <a:endParaRPr lang="en-GB" sz="1000" noProof="0" dirty="0">
              <a:latin typeface="Cambria" panose="02040503050406030204" pitchFamily="18" charset="0"/>
              <a:ea typeface="Cambria" panose="02040503050406030204" pitchFamily="18" charset="0"/>
            </a:endParaRPr>
          </a:p>
        </p:txBody>
      </p:sp>
      <p:graphicFrame>
        <p:nvGraphicFramePr>
          <p:cNvPr id="8" name="Table 0"/>
          <p:cNvGraphicFramePr>
            <a:graphicFrameLocks noGrp="1"/>
          </p:cNvGraphicFramePr>
          <p:nvPr>
            <p:extLst>
              <p:ext uri="{D42A27DB-BD31-4B8C-83A1-F6EECF244321}">
                <p14:modId xmlns:p14="http://schemas.microsoft.com/office/powerpoint/2010/main" val="3145981179"/>
              </p:ext>
            </p:extLst>
          </p:nvPr>
        </p:nvGraphicFramePr>
        <p:xfrm>
          <a:off x="5074920" y="1170432"/>
          <a:ext cx="3794760" cy="3669792"/>
        </p:xfrm>
        <a:graphic>
          <a:graphicData uri="http://schemas.openxmlformats.org/drawingml/2006/table">
            <a:tbl>
              <a:tblPr/>
              <a:tblGrid>
                <a:gridCol w="1635369">
                  <a:extLst>
                    <a:ext uri="{9D8B030D-6E8A-4147-A177-3AD203B41FA5}">
                      <a16:colId xmlns:a16="http://schemas.microsoft.com/office/drawing/2014/main" val="20000"/>
                    </a:ext>
                  </a:extLst>
                </a:gridCol>
                <a:gridCol w="794825">
                  <a:extLst>
                    <a:ext uri="{9D8B030D-6E8A-4147-A177-3AD203B41FA5}">
                      <a16:colId xmlns:a16="http://schemas.microsoft.com/office/drawing/2014/main" val="20001"/>
                    </a:ext>
                  </a:extLst>
                </a:gridCol>
                <a:gridCol w="1364566">
                  <a:extLst>
                    <a:ext uri="{9D8B030D-6E8A-4147-A177-3AD203B41FA5}">
                      <a16:colId xmlns:a16="http://schemas.microsoft.com/office/drawing/2014/main" val="20002"/>
                    </a:ext>
                  </a:extLst>
                </a:gridCol>
              </a:tblGrid>
              <a:tr h="329184">
                <a:tc>
                  <a:txBody>
                    <a:bodyPr/>
                    <a:lstStyle/>
                    <a:p>
                      <a:pPr marL="0" indent="0">
                        <a:buNone/>
                      </a:pPr>
                      <a:r>
                        <a:rPr lang="en-GB" sz="1000" b="1" noProof="0" dirty="0">
                          <a:solidFill>
                            <a:srgbClr val="FFFFFF"/>
                          </a:solidFill>
                          <a:latin typeface="Cambria" panose="02040503050406030204" pitchFamily="18" charset="0"/>
                          <a:ea typeface="Cambria" panose="02040503050406030204" pitchFamily="18" charset="0"/>
                          <a:cs typeface="Calibri" pitchFamily="34" charset="-120"/>
                        </a:rPr>
                        <a:t>Column</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solidFill>
                      <a:srgbClr val="1E2761"/>
                    </a:solidFill>
                  </a:tcPr>
                </a:tc>
                <a:tc>
                  <a:txBody>
                    <a:bodyPr/>
                    <a:lstStyle/>
                    <a:p>
                      <a:pPr marL="0" indent="0">
                        <a:buNone/>
                      </a:pPr>
                      <a:r>
                        <a:rPr lang="en-GB" sz="1000" b="1" noProof="0" dirty="0">
                          <a:solidFill>
                            <a:srgbClr val="FFFFFF"/>
                          </a:solidFill>
                          <a:latin typeface="Cambria" panose="02040503050406030204" pitchFamily="18" charset="0"/>
                          <a:ea typeface="Cambria" panose="02040503050406030204" pitchFamily="18" charset="0"/>
                          <a:cs typeface="Calibri" pitchFamily="34" charset="-120"/>
                        </a:rPr>
                        <a:t>Type</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solidFill>
                      <a:srgbClr val="1E2761"/>
                    </a:solidFill>
                  </a:tcPr>
                </a:tc>
                <a:tc>
                  <a:txBody>
                    <a:bodyPr/>
                    <a:lstStyle/>
                    <a:p>
                      <a:pPr marL="0" indent="0">
                        <a:buNone/>
                      </a:pPr>
                      <a:r>
                        <a:rPr lang="en-GB" sz="1000" b="1" noProof="0" dirty="0">
                          <a:solidFill>
                            <a:srgbClr val="FFFFFF"/>
                          </a:solidFill>
                          <a:latin typeface="Cambria" panose="02040503050406030204" pitchFamily="18" charset="0"/>
                          <a:ea typeface="Cambria" panose="02040503050406030204" pitchFamily="18" charset="0"/>
                          <a:cs typeface="Calibri" pitchFamily="34" charset="-120"/>
                        </a:rPr>
                        <a:t>Role</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29184">
                <a:tc>
                  <a:txBody>
                    <a:bodyPr/>
                    <a:lstStyle/>
                    <a:p>
                      <a:pPr marL="0" indent="0">
                        <a:buNone/>
                      </a:pPr>
                      <a:r>
                        <a:rPr lang="en-GB" sz="1000" noProof="0" dirty="0" err="1">
                          <a:latin typeface="Cambria" panose="02040503050406030204" pitchFamily="18" charset="0"/>
                          <a:ea typeface="Cambria" panose="02040503050406030204" pitchFamily="18" charset="0"/>
                          <a:cs typeface="Calibri" charset="0"/>
                        </a:rPr>
                        <a:t>order_id</a:t>
                      </a:r>
                      <a:r>
                        <a:rPr lang="en-GB" sz="1000" noProof="0" dirty="0">
                          <a:latin typeface="Cambria" panose="02040503050406030204" pitchFamily="18" charset="0"/>
                          <a:ea typeface="Cambria" panose="02040503050406030204" pitchFamily="18" charset="0"/>
                          <a:cs typeface="Calibri" charset="0"/>
                        </a:rPr>
                        <a:t>, </a:t>
                      </a:r>
                      <a:r>
                        <a:rPr lang="en-GB" sz="1000" noProof="0" dirty="0" err="1">
                          <a:latin typeface="Cambria" panose="02040503050406030204" pitchFamily="18" charset="0"/>
                          <a:ea typeface="Cambria" panose="02040503050406030204" pitchFamily="18" charset="0"/>
                          <a:cs typeface="Calibri" charset="0"/>
                        </a:rPr>
                        <a:t>product_id</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latin typeface="Cambria" panose="02040503050406030204" pitchFamily="18" charset="0"/>
                          <a:ea typeface="Cambria" panose="02040503050406030204" pitchFamily="18" charset="0"/>
                          <a:cs typeface="Calibri" charset="0"/>
                        </a:rPr>
                        <a:t>String</a:t>
                      </a: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latin typeface="Cambria" panose="02040503050406030204" pitchFamily="18" charset="0"/>
                          <a:ea typeface="Cambria" panose="02040503050406030204" pitchFamily="18" charset="0"/>
                          <a:cs typeface="Calibri" charset="0"/>
                        </a:rPr>
                        <a:t>Used for the merge of the datasets</a:t>
                      </a: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extLst>
                  <a:ext uri="{0D108BD9-81ED-4DB2-BD59-A6C34878D82A}">
                    <a16:rowId xmlns:a16="http://schemas.microsoft.com/office/drawing/2014/main" val="227155037"/>
                  </a:ext>
                </a:extLst>
              </a:tr>
              <a:tr h="329184">
                <a:tc>
                  <a:txBody>
                    <a:bodyPr/>
                    <a:lstStyle/>
                    <a:p>
                      <a:pPr marL="0" indent="0">
                        <a:buNone/>
                      </a:pPr>
                      <a:r>
                        <a:rPr lang="en-GB" sz="1000" noProof="0" dirty="0" err="1">
                          <a:solidFill>
                            <a:srgbClr val="000000"/>
                          </a:solidFill>
                          <a:latin typeface="Cambria" panose="02040503050406030204" pitchFamily="18" charset="0"/>
                          <a:ea typeface="Cambria" panose="02040503050406030204" pitchFamily="18" charset="0"/>
                          <a:cs typeface="Calibri" pitchFamily="34" charset="-120"/>
                        </a:rPr>
                        <a:t>customer_id</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String</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Unit of analysis</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quantity, </a:t>
                      </a:r>
                      <a:r>
                        <a:rPr lang="en-GB" sz="1000" noProof="0" dirty="0" err="1">
                          <a:solidFill>
                            <a:srgbClr val="000000"/>
                          </a:solidFill>
                          <a:latin typeface="Cambria" panose="02040503050406030204" pitchFamily="18" charset="0"/>
                          <a:ea typeface="Cambria" panose="02040503050406030204" pitchFamily="18" charset="0"/>
                          <a:cs typeface="Calibri" pitchFamily="34" charset="-120"/>
                        </a:rPr>
                        <a:t>item_discount</a:t>
                      </a:r>
                      <a:r>
                        <a:rPr lang="en-GB" sz="1000" noProof="0" dirty="0">
                          <a:solidFill>
                            <a:srgbClr val="000000"/>
                          </a:solidFill>
                          <a:latin typeface="Cambria" panose="02040503050406030204" pitchFamily="18" charset="0"/>
                          <a:ea typeface="Cambria" panose="02040503050406030204" pitchFamily="18" charset="0"/>
                          <a:cs typeface="Calibri" pitchFamily="34" charset="-120"/>
                        </a:rPr>
                        <a:t>, </a:t>
                      </a:r>
                      <a:r>
                        <a:rPr lang="en-GB" sz="1000" noProof="0" dirty="0" err="1">
                          <a:solidFill>
                            <a:srgbClr val="000000"/>
                          </a:solidFill>
                          <a:latin typeface="Cambria" panose="02040503050406030204" pitchFamily="18" charset="0"/>
                          <a:ea typeface="Cambria" panose="02040503050406030204" pitchFamily="18" charset="0"/>
                          <a:cs typeface="Calibri" pitchFamily="34" charset="-120"/>
                        </a:rPr>
                        <a:t>unit_price</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Numeric</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Revenue inputs</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brand, </a:t>
                      </a:r>
                      <a:r>
                        <a:rPr lang="en-GB" sz="1000" noProof="0" dirty="0" err="1">
                          <a:solidFill>
                            <a:srgbClr val="000000"/>
                          </a:solidFill>
                          <a:latin typeface="Cambria" panose="02040503050406030204" pitchFamily="18" charset="0"/>
                          <a:ea typeface="Cambria" panose="02040503050406030204" pitchFamily="18" charset="0"/>
                          <a:cs typeface="Calibri" pitchFamily="34" charset="-120"/>
                        </a:rPr>
                        <a:t>category_name</a:t>
                      </a:r>
                      <a:r>
                        <a:rPr lang="en-GB" sz="1000" noProof="0" dirty="0">
                          <a:solidFill>
                            <a:srgbClr val="000000"/>
                          </a:solidFill>
                          <a:latin typeface="Cambria" panose="02040503050406030204" pitchFamily="18" charset="0"/>
                          <a:ea typeface="Cambria" panose="02040503050406030204" pitchFamily="18" charset="0"/>
                          <a:cs typeface="Calibri" pitchFamily="34" charset="-120"/>
                        </a:rPr>
                        <a:t>, city, state, segment</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Categorical</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EDA &amp; segmentation</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extLst>
                  <a:ext uri="{0D108BD9-81ED-4DB2-BD59-A6C34878D82A}">
                    <a16:rowId xmlns:a16="http://schemas.microsoft.com/office/drawing/2014/main" val="10005"/>
                  </a:ext>
                </a:extLst>
              </a:tr>
              <a:tr h="329184">
                <a:tc>
                  <a:txBody>
                    <a:bodyPr/>
                    <a:lstStyle/>
                    <a:p>
                      <a:pPr marL="0" indent="0">
                        <a:buNone/>
                      </a:pPr>
                      <a:r>
                        <a:rPr lang="en-GB" sz="1000" noProof="0" dirty="0" err="1">
                          <a:solidFill>
                            <a:srgbClr val="000000"/>
                          </a:solidFill>
                          <a:latin typeface="Cambria" panose="02040503050406030204" pitchFamily="18" charset="0"/>
                          <a:ea typeface="Cambria" panose="02040503050406030204" pitchFamily="18" charset="0"/>
                          <a:cs typeface="Calibri" pitchFamily="34" charset="-120"/>
                        </a:rPr>
                        <a:t>order_date</a:t>
                      </a:r>
                      <a:r>
                        <a:rPr lang="en-GB" sz="1000" noProof="0" dirty="0">
                          <a:solidFill>
                            <a:srgbClr val="000000"/>
                          </a:solidFill>
                          <a:latin typeface="Cambria" panose="02040503050406030204" pitchFamily="18" charset="0"/>
                          <a:ea typeface="Cambria" panose="02040503050406030204" pitchFamily="18" charset="0"/>
                          <a:cs typeface="Calibri" pitchFamily="34" charset="-120"/>
                        </a:rPr>
                        <a:t>, </a:t>
                      </a:r>
                      <a:r>
                        <a:rPr lang="en-GB" sz="1000" noProof="0" dirty="0" err="1">
                          <a:solidFill>
                            <a:srgbClr val="000000"/>
                          </a:solidFill>
                          <a:latin typeface="Cambria" panose="02040503050406030204" pitchFamily="18" charset="0"/>
                          <a:ea typeface="Cambria" panose="02040503050406030204" pitchFamily="18" charset="0"/>
                          <a:cs typeface="Calibri" pitchFamily="34" charset="-120"/>
                        </a:rPr>
                        <a:t>signup_date</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Date</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Temporal anchors</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extLst>
                  <a:ext uri="{0D108BD9-81ED-4DB2-BD59-A6C34878D82A}">
                    <a16:rowId xmlns:a16="http://schemas.microsoft.com/office/drawing/2014/main" val="3723693174"/>
                  </a:ext>
                </a:extLst>
              </a:tr>
              <a:tr h="329184">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year, week</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Numeric</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Temporal coordinates for the JOIN of PRICE_CHANGE</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extLst>
                  <a:ext uri="{0D108BD9-81ED-4DB2-BD59-A6C34878D82A}">
                    <a16:rowId xmlns:a16="http://schemas.microsoft.com/office/drawing/2014/main" val="3299245222"/>
                  </a:ext>
                </a:extLst>
              </a:tr>
              <a:tr h="329184">
                <a:tc>
                  <a:txBody>
                    <a:bodyPr/>
                    <a:lstStyle/>
                    <a:p>
                      <a:pPr marL="0" indent="0">
                        <a:buNone/>
                      </a:pPr>
                      <a:r>
                        <a:rPr lang="en-GB" sz="1000" noProof="0" dirty="0" err="1">
                          <a:solidFill>
                            <a:srgbClr val="1A2440"/>
                          </a:solidFill>
                          <a:latin typeface="Cambria" panose="02040503050406030204" pitchFamily="18" charset="0"/>
                          <a:ea typeface="Cambria" panose="02040503050406030204" pitchFamily="18" charset="0"/>
                          <a:cs typeface="Calibri" pitchFamily="34" charset="-120"/>
                        </a:rPr>
                        <a:t>gross_revenue_usd</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Numeric</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u="none" noProof="0" dirty="0">
                          <a:latin typeface="Cambria" panose="02040503050406030204" pitchFamily="18" charset="0"/>
                          <a:ea typeface="Cambria" panose="02040503050406030204" pitchFamily="18" charset="0"/>
                          <a:cs typeface="Calibri" charset="0"/>
                        </a:rPr>
                        <a:t>quantity</a:t>
                      </a:r>
                      <a:r>
                        <a:rPr lang="en-GB" sz="1000" noProof="0" dirty="0">
                          <a:latin typeface="Cambria" panose="02040503050406030204" pitchFamily="18" charset="0"/>
                          <a:ea typeface="Cambria" panose="02040503050406030204" pitchFamily="18" charset="0"/>
                          <a:cs typeface="Calibri" charset="0"/>
                        </a:rPr>
                        <a:t> x </a:t>
                      </a:r>
                      <a:r>
                        <a:rPr lang="en-GB" sz="1000" noProof="0" dirty="0" err="1">
                          <a:latin typeface="Cambria" panose="02040503050406030204" pitchFamily="18" charset="0"/>
                          <a:ea typeface="Cambria" panose="02040503050406030204" pitchFamily="18" charset="0"/>
                          <a:cs typeface="Calibri" charset="0"/>
                        </a:rPr>
                        <a:t>unit_price_usd</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extLst>
                  <a:ext uri="{0D108BD9-81ED-4DB2-BD59-A6C34878D82A}">
                    <a16:rowId xmlns:a16="http://schemas.microsoft.com/office/drawing/2014/main" val="2335470882"/>
                  </a:ext>
                </a:extLst>
              </a:tr>
              <a:tr h="329184">
                <a:tc>
                  <a:txBody>
                    <a:bodyPr/>
                    <a:lstStyle/>
                    <a:p>
                      <a:pPr marL="0" indent="0">
                        <a:buNone/>
                      </a:pPr>
                      <a:r>
                        <a:rPr lang="en-GB" sz="1000" noProof="0" dirty="0" err="1">
                          <a:solidFill>
                            <a:srgbClr val="1A2440"/>
                          </a:solidFill>
                          <a:latin typeface="Cambria" panose="02040503050406030204" pitchFamily="18" charset="0"/>
                          <a:ea typeface="Cambria" panose="02040503050406030204" pitchFamily="18" charset="0"/>
                          <a:cs typeface="Calibri" pitchFamily="34" charset="-120"/>
                        </a:rPr>
                        <a:t>net_revenue_usd</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indent="0">
                        <a:buNone/>
                      </a:pPr>
                      <a:r>
                        <a:rPr lang="en-GB" sz="1000" noProof="0" dirty="0">
                          <a:solidFill>
                            <a:srgbClr val="000000"/>
                          </a:solidFill>
                          <a:latin typeface="Cambria" panose="02040503050406030204" pitchFamily="18" charset="0"/>
                          <a:ea typeface="Cambria" panose="02040503050406030204" pitchFamily="18" charset="0"/>
                          <a:cs typeface="Calibri" pitchFamily="34" charset="-120"/>
                        </a:rPr>
                        <a:t>Numeric</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noProof="0" dirty="0" err="1">
                          <a:solidFill>
                            <a:srgbClr val="1A2440"/>
                          </a:solidFill>
                          <a:latin typeface="Cambria" panose="02040503050406030204" pitchFamily="18" charset="0"/>
                          <a:ea typeface="Cambria" panose="02040503050406030204" pitchFamily="18" charset="0"/>
                          <a:cs typeface="Calibri" pitchFamily="34" charset="-120"/>
                        </a:rPr>
                        <a:t>gross_revenue_usd</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a:t>
                      </a:r>
                      <a:r>
                        <a:rPr lang="en-GB" sz="1000" noProof="0" dirty="0">
                          <a:solidFill>
                            <a:srgbClr val="1A2440"/>
                          </a:solidFill>
                          <a:latin typeface="Cambria" panose="02040503050406030204" pitchFamily="18" charset="0"/>
                          <a:ea typeface="Cambria" panose="02040503050406030204" pitchFamily="18" charset="0"/>
                          <a:cs typeface="Calibri" charset="0"/>
                        </a:rPr>
                        <a:t>– </a:t>
                      </a:r>
                      <a:r>
                        <a:rPr lang="en-GB" sz="1000" noProof="0" dirty="0" err="1">
                          <a:solidFill>
                            <a:srgbClr val="1A2440"/>
                          </a:solidFill>
                          <a:latin typeface="Cambria" panose="02040503050406030204" pitchFamily="18" charset="0"/>
                          <a:ea typeface="Cambria" panose="02040503050406030204" pitchFamily="18" charset="0"/>
                          <a:cs typeface="Calibri" charset="0"/>
                        </a:rPr>
                        <a:t>item_discount_usd</a:t>
                      </a:r>
                      <a:endParaRPr lang="en-GB" sz="1000" noProof="0" dirty="0">
                        <a:latin typeface="Cambria" panose="02040503050406030204" pitchFamily="18" charset="0"/>
                        <a:ea typeface="Cambria" panose="02040503050406030204" pitchFamily="18" charset="0"/>
                        <a:cs typeface="Calibri" charset="0"/>
                      </a:endParaRPr>
                    </a:p>
                  </a:txBody>
                  <a:tcPr>
                    <a:lnL w="6350" cap="flat" cmpd="sng" algn="ctr">
                      <a:solidFill>
                        <a:srgbClr val="D4DCF0"/>
                      </a:solidFill>
                      <a:prstDash val="solid"/>
                      <a:round/>
                      <a:headEnd type="none" w="med" len="med"/>
                      <a:tailEnd type="none" w="med" len="med"/>
                    </a:lnL>
                    <a:lnR w="6350" cap="flat" cmpd="sng" algn="ctr">
                      <a:solidFill>
                        <a:srgbClr val="D4DCF0"/>
                      </a:solidFill>
                      <a:prstDash val="solid"/>
                      <a:round/>
                      <a:headEnd type="none" w="med" len="med"/>
                      <a:tailEnd type="none" w="med" len="med"/>
                    </a:lnR>
                    <a:lnT w="6350" cap="flat" cmpd="sng" algn="ctr">
                      <a:solidFill>
                        <a:srgbClr val="D4DCF0"/>
                      </a:solidFill>
                      <a:prstDash val="solid"/>
                      <a:round/>
                      <a:headEnd type="none" w="med" len="med"/>
                      <a:tailEnd type="none" w="med" len="med"/>
                    </a:lnT>
                    <a:lnB w="6350" cap="flat" cmpd="sng" algn="ctr">
                      <a:solidFill>
                        <a:srgbClr val="D4DCF0"/>
                      </a:solidFill>
                      <a:prstDash val="solid"/>
                      <a:round/>
                      <a:headEnd type="none" w="med" len="med"/>
                      <a:tailEnd type="none" w="med" len="med"/>
                    </a:lnB>
                  </a:tcPr>
                </a:tc>
                <a:extLst>
                  <a:ext uri="{0D108BD9-81ED-4DB2-BD59-A6C34878D82A}">
                    <a16:rowId xmlns:a16="http://schemas.microsoft.com/office/drawing/2014/main" val="3361821313"/>
                  </a:ext>
                </a:extLst>
              </a:tr>
            </a:tbl>
          </a:graphicData>
        </a:graphic>
      </p:graphicFrame>
      <p:sp>
        <p:nvSpPr>
          <p:cNvPr id="20" name="Text 0">
            <a:extLst>
              <a:ext uri="{FF2B5EF4-FFF2-40B4-BE49-F238E27FC236}">
                <a16:creationId xmlns:a16="http://schemas.microsoft.com/office/drawing/2014/main" id="{E51552D9-27B0-8C23-CFAE-EC47E0A5FA84}"/>
              </a:ext>
            </a:extLst>
          </p:cNvPr>
          <p:cNvSpPr/>
          <p:nvPr/>
        </p:nvSpPr>
        <p:spPr>
          <a:xfrm>
            <a:off x="274320" y="54512"/>
            <a:ext cx="736444" cy="274320"/>
          </a:xfrm>
          <a:prstGeom prst="rect">
            <a:avLst/>
          </a:prstGeom>
          <a:noFill/>
          <a:ln/>
        </p:spPr>
        <p:txBody>
          <a:bodyPr wrap="square" lIns="0" tIns="0" rIns="0" bIns="0" rtlCol="0" anchor="ctr"/>
          <a:lstStyle/>
          <a:p>
            <a:r>
              <a:rPr lang="en-GB" sz="900" b="1" kern="0" spc="200" noProof="0" dirty="0">
                <a:solidFill>
                  <a:srgbClr val="CADCFC"/>
                </a:solidFill>
                <a:latin typeface="Cambria" panose="02040503050406030204" pitchFamily="18" charset="0"/>
                <a:ea typeface="Cambria" panose="02040503050406030204" pitchFamily="18" charset="0"/>
              </a:rPr>
              <a:t>PART A</a:t>
            </a:r>
            <a:endParaRPr lang="en-GB" sz="900" noProof="0" dirty="0"/>
          </a:p>
        </p:txBody>
      </p:sp>
      <p:sp>
        <p:nvSpPr>
          <p:cNvPr id="24" name="Shape 1">
            <a:extLst>
              <a:ext uri="{FF2B5EF4-FFF2-40B4-BE49-F238E27FC236}">
                <a16:creationId xmlns:a16="http://schemas.microsoft.com/office/drawing/2014/main" id="{17CC584C-2B41-E842-8A50-BEAD9F83F47A}"/>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GB" noProof="0" dirty="0"/>
          </a:p>
        </p:txBody>
      </p:sp>
      <p:sp>
        <p:nvSpPr>
          <p:cNvPr id="26" name="Text 2">
            <a:extLst>
              <a:ext uri="{FF2B5EF4-FFF2-40B4-BE49-F238E27FC236}">
                <a16:creationId xmlns:a16="http://schemas.microsoft.com/office/drawing/2014/main" id="{A05AB368-5484-E0F9-AE81-614AA85FDEF4}"/>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GB" sz="1300" b="1" noProof="0" dirty="0">
                <a:solidFill>
                  <a:srgbClr val="CADCFC"/>
                </a:solidFill>
              </a:rPr>
              <a:t>02</a:t>
            </a:r>
            <a:endParaRPr lang="en-GB" sz="13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E9CA67B0-FEEB-7D15-48B7-1C8B08E72421}"/>
              </a:ext>
            </a:extLst>
          </p:cNvPr>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GB" noProof="0" dirty="0"/>
          </a:p>
        </p:txBody>
      </p:sp>
      <p:sp>
        <p:nvSpPr>
          <p:cNvPr id="7" name="Text 1">
            <a:extLst>
              <a:ext uri="{FF2B5EF4-FFF2-40B4-BE49-F238E27FC236}">
                <a16:creationId xmlns:a16="http://schemas.microsoft.com/office/drawing/2014/main" id="{E25F8834-4B59-A2EA-6A11-23C47F836F1B}"/>
              </a:ext>
            </a:extLst>
          </p:cNvPr>
          <p:cNvSpPr/>
          <p:nvPr/>
        </p:nvSpPr>
        <p:spPr>
          <a:xfrm>
            <a:off x="274320" y="332019"/>
            <a:ext cx="7079567" cy="291905"/>
          </a:xfrm>
          <a:prstGeom prst="rect">
            <a:avLst/>
          </a:prstGeom>
          <a:noFill/>
          <a:ln/>
        </p:spPr>
        <p:txBody>
          <a:bodyPr wrap="square" lIns="0" tIns="0" rIns="0" bIns="0" rtlCol="0" anchor="ctr"/>
          <a:lstStyle/>
          <a:p>
            <a:r>
              <a:rPr lang="en-GB" sz="2800" b="1" noProof="0" dirty="0">
                <a:solidFill>
                  <a:schemeClr val="bg1"/>
                </a:solidFill>
                <a:latin typeface="EucrosiaUPC" panose="02020603050405020304" pitchFamily="18" charset="-34"/>
                <a:cs typeface="EucrosiaUPC" panose="02020603050405020304" pitchFamily="18" charset="-34"/>
              </a:rPr>
              <a:t>2. Exploratory Data Analysis</a:t>
            </a:r>
            <a:endParaRPr lang="en-GB" sz="2800" noProof="0" dirty="0">
              <a:solidFill>
                <a:schemeClr val="bg1"/>
              </a:solidFill>
              <a:latin typeface="EucrosiaUPC" panose="02020603050405020304" pitchFamily="18" charset="-34"/>
              <a:cs typeface="EucrosiaUPC" panose="02020603050405020304" pitchFamily="18" charset="-34"/>
            </a:endParaRPr>
          </a:p>
        </p:txBody>
      </p:sp>
      <p:sp>
        <p:nvSpPr>
          <p:cNvPr id="11" name="Text 0">
            <a:extLst>
              <a:ext uri="{FF2B5EF4-FFF2-40B4-BE49-F238E27FC236}">
                <a16:creationId xmlns:a16="http://schemas.microsoft.com/office/drawing/2014/main" id="{7C8BB55E-500C-4294-92BF-22E157430030}"/>
              </a:ext>
            </a:extLst>
          </p:cNvPr>
          <p:cNvSpPr/>
          <p:nvPr/>
        </p:nvSpPr>
        <p:spPr>
          <a:xfrm>
            <a:off x="274320" y="42203"/>
            <a:ext cx="736444" cy="274320"/>
          </a:xfrm>
          <a:prstGeom prst="rect">
            <a:avLst/>
          </a:prstGeom>
          <a:noFill/>
          <a:ln/>
        </p:spPr>
        <p:txBody>
          <a:bodyPr wrap="square" lIns="0" tIns="0" rIns="0" bIns="0" rtlCol="0" anchor="ctr"/>
          <a:lstStyle/>
          <a:p>
            <a:r>
              <a:rPr lang="en-GB" sz="900" b="1" kern="0" spc="200" noProof="0" dirty="0">
                <a:solidFill>
                  <a:srgbClr val="CADCFC"/>
                </a:solidFill>
                <a:latin typeface="Cambria" panose="02040503050406030204" pitchFamily="18" charset="0"/>
                <a:ea typeface="Cambria" panose="02040503050406030204" pitchFamily="18" charset="0"/>
              </a:rPr>
              <a:t>PART B</a:t>
            </a:r>
            <a:endParaRPr lang="en-GB" sz="900" noProof="0" dirty="0"/>
          </a:p>
        </p:txBody>
      </p:sp>
      <p:pic>
        <p:nvPicPr>
          <p:cNvPr id="18" name="Immagine 17">
            <a:extLst>
              <a:ext uri="{FF2B5EF4-FFF2-40B4-BE49-F238E27FC236}">
                <a16:creationId xmlns:a16="http://schemas.microsoft.com/office/drawing/2014/main" id="{791A15AF-BE5A-8183-2B13-F131B403F490}"/>
              </a:ext>
            </a:extLst>
          </p:cNvPr>
          <p:cNvPicPr>
            <a:picLocks noChangeAspect="1"/>
          </p:cNvPicPr>
          <p:nvPr/>
        </p:nvPicPr>
        <p:blipFill>
          <a:blip r:embed="rId2"/>
          <a:srcRect r="50000"/>
          <a:stretch>
            <a:fillRect/>
          </a:stretch>
        </p:blipFill>
        <p:spPr>
          <a:xfrm>
            <a:off x="316855" y="1102558"/>
            <a:ext cx="2421245" cy="2421245"/>
          </a:xfrm>
          <a:prstGeom prst="rect">
            <a:avLst/>
          </a:prstGeom>
        </p:spPr>
      </p:pic>
      <p:pic>
        <p:nvPicPr>
          <p:cNvPr id="20" name="Immagine 19">
            <a:extLst>
              <a:ext uri="{FF2B5EF4-FFF2-40B4-BE49-F238E27FC236}">
                <a16:creationId xmlns:a16="http://schemas.microsoft.com/office/drawing/2014/main" id="{330EF684-5210-4842-6DF6-D09C1DE9627F}"/>
              </a:ext>
            </a:extLst>
          </p:cNvPr>
          <p:cNvPicPr>
            <a:picLocks noChangeAspect="1"/>
          </p:cNvPicPr>
          <p:nvPr/>
        </p:nvPicPr>
        <p:blipFill>
          <a:blip r:embed="rId3"/>
          <a:stretch>
            <a:fillRect/>
          </a:stretch>
        </p:blipFill>
        <p:spPr>
          <a:xfrm>
            <a:off x="2808920" y="2132536"/>
            <a:ext cx="3319495" cy="2489621"/>
          </a:xfrm>
          <a:prstGeom prst="rect">
            <a:avLst/>
          </a:prstGeom>
        </p:spPr>
      </p:pic>
      <p:sp>
        <p:nvSpPr>
          <p:cNvPr id="24" name="Shape 7">
            <a:extLst>
              <a:ext uri="{FF2B5EF4-FFF2-40B4-BE49-F238E27FC236}">
                <a16:creationId xmlns:a16="http://schemas.microsoft.com/office/drawing/2014/main" id="{7C996F19-A4BC-F22F-F80E-1B97B4C106F2}"/>
              </a:ext>
            </a:extLst>
          </p:cNvPr>
          <p:cNvSpPr/>
          <p:nvPr/>
        </p:nvSpPr>
        <p:spPr>
          <a:xfrm>
            <a:off x="316855" y="3726925"/>
            <a:ext cx="2421245" cy="1078950"/>
          </a:xfrm>
          <a:prstGeom prst="roundRect">
            <a:avLst>
              <a:gd name="adj" fmla="val 10204"/>
            </a:avLst>
          </a:prstGeom>
          <a:solidFill>
            <a:srgbClr val="1E2761"/>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26" name="CasellaDiTesto 25">
            <a:extLst>
              <a:ext uri="{FF2B5EF4-FFF2-40B4-BE49-F238E27FC236}">
                <a16:creationId xmlns:a16="http://schemas.microsoft.com/office/drawing/2014/main" id="{0343ABE7-F9DA-F2D8-2231-A728CF9BBF79}"/>
              </a:ext>
            </a:extLst>
          </p:cNvPr>
          <p:cNvSpPr txBox="1"/>
          <p:nvPr/>
        </p:nvSpPr>
        <p:spPr>
          <a:xfrm>
            <a:off x="359389" y="3742421"/>
            <a:ext cx="2322851" cy="1015663"/>
          </a:xfrm>
          <a:prstGeom prst="rect">
            <a:avLst/>
          </a:prstGeom>
          <a:noFill/>
        </p:spPr>
        <p:txBody>
          <a:bodyPr wrap="square">
            <a:spAutoFit/>
          </a:bodyPr>
          <a:lstStyle/>
          <a:p>
            <a:r>
              <a:rPr lang="en-GB" sz="1000" noProof="0" dirty="0">
                <a:solidFill>
                  <a:schemeClr val="bg1"/>
                </a:solidFill>
                <a:effectLst/>
                <a:latin typeface="Cambria" panose="02040503050406030204" pitchFamily="18" charset="0"/>
                <a:ea typeface="Cambria" panose="02040503050406030204" pitchFamily="18" charset="0"/>
              </a:rPr>
              <a:t>Customer level aggregation is strongly </a:t>
            </a:r>
            <a:r>
              <a:rPr lang="en-GB" sz="1000" b="1" noProof="0" dirty="0">
                <a:solidFill>
                  <a:schemeClr val="bg1"/>
                </a:solidFill>
                <a:effectLst/>
                <a:latin typeface="Cambria" panose="02040503050406030204" pitchFamily="18" charset="0"/>
                <a:ea typeface="Cambria" panose="02040503050406030204" pitchFamily="18" charset="0"/>
              </a:rPr>
              <a:t>right-skewed</a:t>
            </a:r>
            <a:r>
              <a:rPr lang="en-GB" sz="1000" noProof="0" dirty="0">
                <a:solidFill>
                  <a:schemeClr val="bg1"/>
                </a:solidFill>
                <a:latin typeface="Cambria" panose="02040503050406030204" pitchFamily="18" charset="0"/>
                <a:ea typeface="Cambria" panose="02040503050406030204" pitchFamily="18" charset="0"/>
              </a:rPr>
              <a:t>.</a:t>
            </a:r>
            <a:r>
              <a:rPr lang="en-GB" sz="1000" noProof="0" dirty="0">
                <a:solidFill>
                  <a:schemeClr val="bg1"/>
                </a:solidFill>
                <a:effectLst/>
                <a:latin typeface="Cambria" panose="02040503050406030204" pitchFamily="18" charset="0"/>
                <a:ea typeface="Cambria" panose="02040503050406030204" pitchFamily="18" charset="0"/>
              </a:rPr>
              <a:t> Most customers concentrate in a low-frequency, low-spend bracket, while a thin tail of highly active customers generates a disproportionate share of total revenue </a:t>
            </a:r>
            <a:endParaRPr lang="en-GB" sz="1000" noProof="0" dirty="0">
              <a:solidFill>
                <a:schemeClr val="bg1"/>
              </a:solidFill>
              <a:latin typeface="Cambria" panose="02040503050406030204" pitchFamily="18" charset="0"/>
              <a:ea typeface="Cambria" panose="02040503050406030204" pitchFamily="18" charset="0"/>
            </a:endParaRPr>
          </a:p>
        </p:txBody>
      </p:sp>
      <p:sp>
        <p:nvSpPr>
          <p:cNvPr id="28" name="Shape 7">
            <a:extLst>
              <a:ext uri="{FF2B5EF4-FFF2-40B4-BE49-F238E27FC236}">
                <a16:creationId xmlns:a16="http://schemas.microsoft.com/office/drawing/2014/main" id="{5CFB9EDF-C61E-72D3-E426-9234ACD0E51E}"/>
              </a:ext>
            </a:extLst>
          </p:cNvPr>
          <p:cNvSpPr/>
          <p:nvPr/>
        </p:nvSpPr>
        <p:spPr>
          <a:xfrm>
            <a:off x="3219450" y="1087062"/>
            <a:ext cx="2670810" cy="892766"/>
          </a:xfrm>
          <a:prstGeom prst="roundRect">
            <a:avLst>
              <a:gd name="adj" fmla="val 10204"/>
            </a:avLst>
          </a:prstGeom>
          <a:solidFill>
            <a:srgbClr val="AED8E6"/>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30" name="CasellaDiTesto 29">
            <a:extLst>
              <a:ext uri="{FF2B5EF4-FFF2-40B4-BE49-F238E27FC236}">
                <a16:creationId xmlns:a16="http://schemas.microsoft.com/office/drawing/2014/main" id="{B120F72D-D788-5D33-91F7-5EF1F7B08A69}"/>
              </a:ext>
            </a:extLst>
          </p:cNvPr>
          <p:cNvSpPr txBox="1"/>
          <p:nvPr/>
        </p:nvSpPr>
        <p:spPr>
          <a:xfrm>
            <a:off x="3219450" y="1102558"/>
            <a:ext cx="2670810" cy="861774"/>
          </a:xfrm>
          <a:prstGeom prst="rect">
            <a:avLst/>
          </a:prstGeom>
          <a:noFill/>
        </p:spPr>
        <p:txBody>
          <a:bodyPr wrap="square">
            <a:spAutoFit/>
          </a:bodyPr>
          <a:lstStyle/>
          <a:p>
            <a:r>
              <a:rPr lang="en-GB" sz="1000" noProof="0" dirty="0">
                <a:solidFill>
                  <a:srgbClr val="1E2761"/>
                </a:solidFill>
                <a:latin typeface="Cambria" panose="02040503050406030204" pitchFamily="18" charset="0"/>
                <a:ea typeface="Cambria" panose="02040503050406030204" pitchFamily="18" charset="0"/>
              </a:rPr>
              <a:t>Net revenue was aggregated at the </a:t>
            </a:r>
            <a:r>
              <a:rPr lang="en-GB" sz="1000" noProof="0" dirty="0" err="1">
                <a:solidFill>
                  <a:srgbClr val="1E2761"/>
                </a:solidFill>
                <a:latin typeface="Cambria" panose="02040503050406030204" pitchFamily="18" charset="0"/>
                <a:ea typeface="Cambria" panose="02040503050406030204" pitchFamily="18" charset="0"/>
              </a:rPr>
              <a:t>category_name</a:t>
            </a:r>
            <a:r>
              <a:rPr lang="en-GB" sz="1000" noProof="0" dirty="0">
                <a:solidFill>
                  <a:srgbClr val="1E2761"/>
                </a:solidFill>
                <a:latin typeface="Cambria" panose="02040503050406030204" pitchFamily="18" charset="0"/>
                <a:ea typeface="Cambria" panose="02040503050406030204" pitchFamily="18" charset="0"/>
              </a:rPr>
              <a:t> level from </a:t>
            </a:r>
            <a:r>
              <a:rPr lang="en-GB" sz="1000" noProof="0" dirty="0" err="1">
                <a:solidFill>
                  <a:srgbClr val="1E2761"/>
                </a:solidFill>
                <a:latin typeface="Cambria" panose="02040503050406030204" pitchFamily="18" charset="0"/>
                <a:ea typeface="Cambria" panose="02040503050406030204" pitchFamily="18" charset="0"/>
              </a:rPr>
              <a:t>df_items</a:t>
            </a:r>
            <a:r>
              <a:rPr lang="en-GB" sz="1000" noProof="0" dirty="0">
                <a:solidFill>
                  <a:srgbClr val="1E2761"/>
                </a:solidFill>
                <a:latin typeface="Cambria" panose="02040503050406030204" pitchFamily="18" charset="0"/>
                <a:ea typeface="Cambria" panose="02040503050406030204" pitchFamily="18" charset="0"/>
              </a:rPr>
              <a:t>. The top categories by total revenue are Nutrition Adds-</a:t>
            </a:r>
            <a:r>
              <a:rPr lang="en-GB" sz="1000" noProof="0" dirty="0" err="1">
                <a:solidFill>
                  <a:srgbClr val="1E2761"/>
                </a:solidFill>
                <a:latin typeface="Cambria" panose="02040503050406030204" pitchFamily="18" charset="0"/>
                <a:ea typeface="Cambria" panose="02040503050406030204" pitchFamily="18" charset="0"/>
              </a:rPr>
              <a:t>ons</a:t>
            </a:r>
            <a:r>
              <a:rPr lang="en-GB" sz="1000" noProof="0" dirty="0">
                <a:solidFill>
                  <a:srgbClr val="1E2761"/>
                </a:solidFill>
                <a:latin typeface="Cambria" panose="02040503050406030204" pitchFamily="18" charset="0"/>
                <a:ea typeface="Cambria" panose="02040503050406030204" pitchFamily="18" charset="0"/>
              </a:rPr>
              <a:t>, Infant Nutrition and Beverages (Coffee/Malt).</a:t>
            </a:r>
          </a:p>
        </p:txBody>
      </p:sp>
      <p:sp>
        <p:nvSpPr>
          <p:cNvPr id="32" name="Shape 7">
            <a:extLst>
              <a:ext uri="{FF2B5EF4-FFF2-40B4-BE49-F238E27FC236}">
                <a16:creationId xmlns:a16="http://schemas.microsoft.com/office/drawing/2014/main" id="{32704E96-F94F-679F-4002-7E223C30CA35}"/>
              </a:ext>
            </a:extLst>
          </p:cNvPr>
          <p:cNvSpPr/>
          <p:nvPr/>
        </p:nvSpPr>
        <p:spPr>
          <a:xfrm>
            <a:off x="6335081" y="3608832"/>
            <a:ext cx="2605636" cy="1287645"/>
          </a:xfrm>
          <a:prstGeom prst="roundRect">
            <a:avLst>
              <a:gd name="adj" fmla="val 10204"/>
            </a:avLst>
          </a:prstGeom>
          <a:solidFill>
            <a:srgbClr val="1E2761"/>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34" name="CasellaDiTesto 33">
            <a:extLst>
              <a:ext uri="{FF2B5EF4-FFF2-40B4-BE49-F238E27FC236}">
                <a16:creationId xmlns:a16="http://schemas.microsoft.com/office/drawing/2014/main" id="{87C8BF77-99A8-F1FE-0561-6CF061ECA1BB}"/>
              </a:ext>
            </a:extLst>
          </p:cNvPr>
          <p:cNvSpPr txBox="1"/>
          <p:nvPr/>
        </p:nvSpPr>
        <p:spPr>
          <a:xfrm>
            <a:off x="6382512" y="3608832"/>
            <a:ext cx="2558206" cy="1323439"/>
          </a:xfrm>
          <a:prstGeom prst="rect">
            <a:avLst/>
          </a:prstGeom>
          <a:noFill/>
        </p:spPr>
        <p:txBody>
          <a:bodyPr wrap="square">
            <a:spAutoFit/>
          </a:bodyPr>
          <a:lstStyle/>
          <a:p>
            <a:r>
              <a:rPr lang="en-GB" sz="1000" noProof="0" dirty="0">
                <a:solidFill>
                  <a:schemeClr val="bg1"/>
                </a:solidFill>
                <a:latin typeface="Cambria" panose="02040503050406030204" pitchFamily="18" charset="0"/>
                <a:ea typeface="Cambria" panose="02040503050406030204" pitchFamily="18" charset="0"/>
              </a:rPr>
              <a:t>Monthly net revenue was computed from </a:t>
            </a:r>
            <a:r>
              <a:rPr lang="en-GB" sz="1000" noProof="0" dirty="0" err="1">
                <a:solidFill>
                  <a:schemeClr val="bg1"/>
                </a:solidFill>
                <a:latin typeface="Cambria" panose="02040503050406030204" pitchFamily="18" charset="0"/>
                <a:ea typeface="Cambria" panose="02040503050406030204" pitchFamily="18" charset="0"/>
              </a:rPr>
              <a:t>df_orders</a:t>
            </a:r>
            <a:r>
              <a:rPr lang="en-GB" sz="1000" noProof="0" dirty="0">
                <a:solidFill>
                  <a:schemeClr val="bg1"/>
                </a:solidFill>
                <a:latin typeface="Cambria" panose="02040503050406030204" pitchFamily="18" charset="0"/>
                <a:ea typeface="Cambria" panose="02040503050406030204" pitchFamily="18" charset="0"/>
              </a:rPr>
              <a:t> over the full 36-month observation window (January 2023 – December 2025).  This is important for interpreting the BG/NBD calibration/holdout split used in Part E, where 2023–2024 serves as the training window and 2025 as the holdout. </a:t>
            </a:r>
          </a:p>
        </p:txBody>
      </p:sp>
      <p:pic>
        <p:nvPicPr>
          <p:cNvPr id="38" name="Immagine 37">
            <a:extLst>
              <a:ext uri="{FF2B5EF4-FFF2-40B4-BE49-F238E27FC236}">
                <a16:creationId xmlns:a16="http://schemas.microsoft.com/office/drawing/2014/main" id="{B488017D-473F-2829-D5A6-D445FF530360}"/>
              </a:ext>
            </a:extLst>
          </p:cNvPr>
          <p:cNvPicPr>
            <a:picLocks noChangeAspect="1"/>
          </p:cNvPicPr>
          <p:nvPr/>
        </p:nvPicPr>
        <p:blipFill>
          <a:blip r:embed="rId4"/>
          <a:stretch>
            <a:fillRect/>
          </a:stretch>
        </p:blipFill>
        <p:spPr>
          <a:xfrm>
            <a:off x="6325579" y="1087062"/>
            <a:ext cx="2559134" cy="2421245"/>
          </a:xfrm>
          <a:prstGeom prst="rect">
            <a:avLst/>
          </a:prstGeom>
        </p:spPr>
      </p:pic>
      <p:sp>
        <p:nvSpPr>
          <p:cNvPr id="44" name="Shape 1">
            <a:extLst>
              <a:ext uri="{FF2B5EF4-FFF2-40B4-BE49-F238E27FC236}">
                <a16:creationId xmlns:a16="http://schemas.microsoft.com/office/drawing/2014/main" id="{F718C7F3-38FE-341A-4573-7C731EFE2AD9}"/>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GB" noProof="0" dirty="0"/>
          </a:p>
        </p:txBody>
      </p:sp>
      <p:sp>
        <p:nvSpPr>
          <p:cNvPr id="46" name="Text 2">
            <a:extLst>
              <a:ext uri="{FF2B5EF4-FFF2-40B4-BE49-F238E27FC236}">
                <a16:creationId xmlns:a16="http://schemas.microsoft.com/office/drawing/2014/main" id="{F4D15D59-C8F7-7869-44FC-F8451139D6D8}"/>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GB" sz="1300" b="1" noProof="0" dirty="0">
                <a:solidFill>
                  <a:srgbClr val="CADCFC"/>
                </a:solidFill>
              </a:rPr>
              <a:t>03</a:t>
            </a:r>
            <a:endParaRPr lang="en-GB" sz="1300" noProof="0" dirty="0"/>
          </a:p>
        </p:txBody>
      </p:sp>
    </p:spTree>
    <p:extLst>
      <p:ext uri="{BB962C8B-B14F-4D97-AF65-F5344CB8AC3E}">
        <p14:creationId xmlns:p14="http://schemas.microsoft.com/office/powerpoint/2010/main" val="2025165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GB" noProof="0" dirty="0"/>
          </a:p>
        </p:txBody>
      </p:sp>
      <p:sp>
        <p:nvSpPr>
          <p:cNvPr id="4" name="Text 1"/>
          <p:cNvSpPr/>
          <p:nvPr/>
        </p:nvSpPr>
        <p:spPr>
          <a:xfrm>
            <a:off x="274319" y="322679"/>
            <a:ext cx="7723163" cy="291552"/>
          </a:xfrm>
          <a:prstGeom prst="rect">
            <a:avLst/>
          </a:prstGeom>
          <a:noFill/>
          <a:ln/>
        </p:spPr>
        <p:txBody>
          <a:bodyPr wrap="square" lIns="0" tIns="0" rIns="0" bIns="0" rtlCol="0" anchor="ctr"/>
          <a:lstStyle/>
          <a:p>
            <a:pPr marL="0" indent="0" algn="l">
              <a:buNone/>
            </a:pPr>
            <a:r>
              <a:rPr lang="en-GB" sz="2800" b="1" noProof="0" dirty="0">
                <a:solidFill>
                  <a:srgbClr val="FFFFFF"/>
                </a:solidFill>
                <a:latin typeface="EucrosiaUPC" panose="02020603050405020304" pitchFamily="18" charset="-34"/>
                <a:ea typeface="Cambria" pitchFamily="34" charset="-122"/>
                <a:cs typeface="EucrosiaUPC" panose="02020603050405020304" pitchFamily="18" charset="-34"/>
              </a:rPr>
              <a:t>3. RFM Analytical Framework &amp; CLV </a:t>
            </a:r>
            <a:r>
              <a:rPr lang="en-GB" sz="2800" b="1" noProof="0" dirty="0" err="1">
                <a:solidFill>
                  <a:srgbClr val="FFFFFF"/>
                </a:solidFill>
                <a:latin typeface="EucrosiaUPC" panose="02020603050405020304" pitchFamily="18" charset="-34"/>
                <a:ea typeface="Cambria" pitchFamily="34" charset="-122"/>
                <a:cs typeface="EucrosiaUPC" panose="02020603050405020304" pitchFamily="18" charset="-34"/>
              </a:rPr>
              <a:t>Modeling</a:t>
            </a:r>
            <a:r>
              <a:rPr lang="en-GB" sz="2800" b="1" noProof="0" dirty="0">
                <a:solidFill>
                  <a:srgbClr val="FFFFFF"/>
                </a:solidFill>
                <a:latin typeface="EucrosiaUPC" panose="02020603050405020304" pitchFamily="18" charset="-34"/>
                <a:ea typeface="Cambria" pitchFamily="34" charset="-122"/>
                <a:cs typeface="EucrosiaUPC" panose="02020603050405020304" pitchFamily="18" charset="-34"/>
              </a:rPr>
              <a:t> Methodology</a:t>
            </a:r>
            <a:endParaRPr lang="en-GB" sz="2800" noProof="0" dirty="0">
              <a:latin typeface="EucrosiaUPC" panose="02020603050405020304" pitchFamily="18" charset="-34"/>
              <a:cs typeface="EucrosiaUPC" panose="02020603050405020304" pitchFamily="18" charset="-34"/>
            </a:endParaRPr>
          </a:p>
        </p:txBody>
      </p:sp>
      <p:sp>
        <p:nvSpPr>
          <p:cNvPr id="5" name="Text 2"/>
          <p:cNvSpPr/>
          <p:nvPr/>
        </p:nvSpPr>
        <p:spPr>
          <a:xfrm>
            <a:off x="274320" y="896112"/>
            <a:ext cx="3840480" cy="256032"/>
          </a:xfrm>
          <a:prstGeom prst="rect">
            <a:avLst/>
          </a:prstGeom>
          <a:noFill/>
          <a:ln/>
        </p:spPr>
        <p:txBody>
          <a:bodyPr wrap="square" lIns="0" tIns="0" rIns="0" bIns="0" rtlCol="0" anchor="ctr"/>
          <a:lstStyle/>
          <a:p>
            <a:pPr marL="0" indent="0" algn="l">
              <a:buNone/>
            </a:pPr>
            <a:r>
              <a:rPr lang="en-GB" sz="1200" b="1" kern="0" spc="200" noProof="0" dirty="0">
                <a:solidFill>
                  <a:srgbClr val="3A5BA0"/>
                </a:solidFill>
                <a:latin typeface="Cambria" panose="02040503050406030204" pitchFamily="18" charset="0"/>
                <a:ea typeface="Cambria" panose="02040503050406030204" pitchFamily="18" charset="0"/>
                <a:cs typeface="Calibri" pitchFamily="34" charset="-120"/>
              </a:rPr>
              <a:t>RFM ANALYSIS METHODOLOGY</a:t>
            </a:r>
            <a:endParaRPr lang="en-GB" sz="1200" noProof="0" dirty="0">
              <a:latin typeface="Cambria" panose="02040503050406030204" pitchFamily="18" charset="0"/>
              <a:ea typeface="Cambria" panose="02040503050406030204" pitchFamily="18" charset="0"/>
            </a:endParaRPr>
          </a:p>
        </p:txBody>
      </p:sp>
      <p:sp>
        <p:nvSpPr>
          <p:cNvPr id="6" name="Text 3"/>
          <p:cNvSpPr/>
          <p:nvPr/>
        </p:nvSpPr>
        <p:spPr>
          <a:xfrm>
            <a:off x="274320" y="1170432"/>
            <a:ext cx="3877056" cy="2724912"/>
          </a:xfrm>
          <a:prstGeom prst="rect">
            <a:avLst/>
          </a:prstGeom>
          <a:noFill/>
          <a:ln/>
        </p:spPr>
        <p:txBody>
          <a:bodyPr wrap="square" lIns="0" tIns="0" rIns="0" bIns="0" rtlCol="0" anchor="t"/>
          <a:lstStyle/>
          <a:p>
            <a:pPr marL="0" indent="0" algn="l">
              <a:spcAft>
                <a:spcPts val="100"/>
              </a:spcAft>
              <a:buNone/>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RFM scores (1–5) were assigned via </a:t>
            </a:r>
            <a:r>
              <a:rPr lang="en-GB" sz="1000" b="1" noProof="0" dirty="0">
                <a:solidFill>
                  <a:srgbClr val="1A2440"/>
                </a:solidFill>
                <a:latin typeface="Cambria" panose="02040503050406030204" pitchFamily="18" charset="0"/>
                <a:ea typeface="Cambria" panose="02040503050406030204" pitchFamily="18" charset="0"/>
                <a:cs typeface="Calibri" pitchFamily="34" charset="-120"/>
              </a:rPr>
              <a:t>quantile-based</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binning to handle duplicate bin edges and replace fragile rank-based workarounds.</a:t>
            </a:r>
            <a:endParaRPr lang="en-GB" sz="1000" noProof="0" dirty="0">
              <a:latin typeface="Cambria" panose="02040503050406030204" pitchFamily="18" charset="0"/>
              <a:ea typeface="Cambria" panose="02040503050406030204" pitchFamily="18" charset="0"/>
            </a:endParaRPr>
          </a:p>
          <a:p>
            <a:pPr marL="0" indent="0" algn="l">
              <a:spcAft>
                <a:spcPts val="100"/>
              </a:spcAft>
              <a:buNone/>
            </a:pPr>
            <a:endParaRPr lang="en-GB" sz="1000" noProof="0" dirty="0">
              <a:latin typeface="Cambria" panose="02040503050406030204" pitchFamily="18" charset="0"/>
              <a:ea typeface="Cambria" panose="02040503050406030204" pitchFamily="18" charset="0"/>
            </a:endParaRPr>
          </a:p>
          <a:p>
            <a:pPr marL="0" indent="0" algn="l">
              <a:spcAft>
                <a:spcPts val="100"/>
              </a:spcAft>
              <a:buNone/>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Recency scoring is intentionally </a:t>
            </a:r>
            <a:r>
              <a:rPr lang="en-GB" sz="1000" b="1" noProof="0" dirty="0">
                <a:solidFill>
                  <a:srgbClr val="1A2440"/>
                </a:solidFill>
                <a:latin typeface="Cambria" panose="02040503050406030204" pitchFamily="18" charset="0"/>
                <a:ea typeface="Cambria" panose="02040503050406030204" pitchFamily="18" charset="0"/>
                <a:cs typeface="Calibri" pitchFamily="34" charset="-120"/>
              </a:rPr>
              <a:t>inverted</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(low recency → high score), reflecting the business logic that recently active customers are more valuable, a deliberate asymmetry in the scoring function.</a:t>
            </a:r>
            <a:endParaRPr lang="en-GB" sz="1000" noProof="0" dirty="0">
              <a:latin typeface="Cambria" panose="02040503050406030204" pitchFamily="18" charset="0"/>
              <a:ea typeface="Cambria" panose="02040503050406030204" pitchFamily="18" charset="0"/>
            </a:endParaRPr>
          </a:p>
          <a:p>
            <a:pPr marL="0" indent="0" algn="l">
              <a:spcAft>
                <a:spcPts val="100"/>
              </a:spcAft>
              <a:buNone/>
            </a:pPr>
            <a:endParaRPr lang="en-GB" sz="1000" noProof="0" dirty="0">
              <a:latin typeface="Cambria" panose="02040503050406030204" pitchFamily="18" charset="0"/>
              <a:ea typeface="Cambria" panose="02040503050406030204" pitchFamily="18" charset="0"/>
            </a:endParaRPr>
          </a:p>
          <a:p>
            <a:pPr marL="0" indent="0" algn="l">
              <a:spcAft>
                <a:spcPts val="100"/>
              </a:spcAft>
              <a:buNone/>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Of 125 theoretically possible RFM segments, 111 were observed; 83 contained fewer than 100 customers and were deemed statistically insufficient.</a:t>
            </a:r>
            <a:endParaRPr lang="en-GB" sz="1000" noProof="0" dirty="0">
              <a:latin typeface="Cambria" panose="02040503050406030204" pitchFamily="18" charset="0"/>
              <a:ea typeface="Cambria" panose="02040503050406030204" pitchFamily="18" charset="0"/>
            </a:endParaRPr>
          </a:p>
          <a:p>
            <a:pPr marL="0" indent="0" algn="l">
              <a:spcAft>
                <a:spcPts val="100"/>
              </a:spcAft>
              <a:buNone/>
            </a:pPr>
            <a:endParaRPr lang="en-GB" sz="1000" noProof="0" dirty="0">
              <a:latin typeface="Cambria" panose="02040503050406030204" pitchFamily="18" charset="0"/>
              <a:ea typeface="Cambria" panose="02040503050406030204" pitchFamily="18" charset="0"/>
            </a:endParaRPr>
          </a:p>
          <a:p>
            <a:pPr marL="0" indent="0" algn="l">
              <a:spcAft>
                <a:spcPts val="100"/>
              </a:spcAft>
              <a:buNone/>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So, these sparse-segment customers were reassigned via constrained </a:t>
            </a:r>
            <a:r>
              <a:rPr lang="en-GB" sz="1000" b="1" noProof="0" dirty="0">
                <a:solidFill>
                  <a:srgbClr val="1A2440"/>
                </a:solidFill>
                <a:latin typeface="Cambria" panose="02040503050406030204" pitchFamily="18" charset="0"/>
                <a:ea typeface="Cambria" panose="02040503050406030204" pitchFamily="18" charset="0"/>
                <a:cs typeface="Calibri" pitchFamily="34" charset="-120"/>
              </a:rPr>
              <a:t>3D Euclidean distance</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with a hard constraint requiring the target segment to share the same R (Recency) score, preserving the most business-critical dimension, reducing to only 28 segments, with 2,985 customers (35.1%) successfully reassigned from sparse to representative segments.</a:t>
            </a:r>
            <a:endParaRPr lang="en-GB" sz="1000" noProof="0" dirty="0">
              <a:latin typeface="Cambria" panose="02040503050406030204" pitchFamily="18" charset="0"/>
              <a:ea typeface="Cambria" panose="02040503050406030204" pitchFamily="18" charset="0"/>
            </a:endParaRPr>
          </a:p>
        </p:txBody>
      </p:sp>
      <p:sp>
        <p:nvSpPr>
          <p:cNvPr id="7" name="Shape 4"/>
          <p:cNvSpPr/>
          <p:nvPr/>
        </p:nvSpPr>
        <p:spPr>
          <a:xfrm>
            <a:off x="4361688" y="893533"/>
            <a:ext cx="18288" cy="4005072"/>
          </a:xfrm>
          <a:prstGeom prst="rect">
            <a:avLst/>
          </a:prstGeom>
          <a:solidFill>
            <a:srgbClr val="D4DCF0"/>
          </a:solidFill>
          <a:ln w="12700">
            <a:solidFill>
              <a:srgbClr val="D4DCF0"/>
            </a:solidFill>
            <a:prstDash val="solid"/>
          </a:ln>
        </p:spPr>
        <p:txBody>
          <a:bodyPr/>
          <a:lstStyle/>
          <a:p>
            <a:endParaRPr lang="en-GB" noProof="0" dirty="0">
              <a:latin typeface="Cambria" panose="02040503050406030204" pitchFamily="18" charset="0"/>
              <a:ea typeface="Cambria" panose="02040503050406030204" pitchFamily="18" charset="0"/>
            </a:endParaRPr>
          </a:p>
        </p:txBody>
      </p:sp>
      <p:sp>
        <p:nvSpPr>
          <p:cNvPr id="8" name="Text 5"/>
          <p:cNvSpPr/>
          <p:nvPr/>
        </p:nvSpPr>
        <p:spPr>
          <a:xfrm>
            <a:off x="4663440" y="893533"/>
            <a:ext cx="4015740" cy="256032"/>
          </a:xfrm>
          <a:prstGeom prst="rect">
            <a:avLst/>
          </a:prstGeom>
          <a:noFill/>
          <a:ln/>
        </p:spPr>
        <p:txBody>
          <a:bodyPr wrap="square" lIns="0" tIns="0" rIns="0" bIns="0" rtlCol="0" anchor="ctr"/>
          <a:lstStyle/>
          <a:p>
            <a:pPr marL="0" indent="0" algn="l">
              <a:buNone/>
            </a:pPr>
            <a:r>
              <a:rPr lang="en-GB" sz="1200" b="1" kern="0" spc="200" noProof="0" dirty="0">
                <a:solidFill>
                  <a:srgbClr val="3A5BA0"/>
                </a:solidFill>
                <a:latin typeface="Cambria" panose="02040503050406030204" pitchFamily="18" charset="0"/>
                <a:ea typeface="Cambria" panose="02040503050406030204" pitchFamily="18" charset="0"/>
                <a:cs typeface="Calibri" pitchFamily="34" charset="-120"/>
              </a:rPr>
              <a:t>CLV DESCRIPTIVE</a:t>
            </a:r>
            <a:endParaRPr lang="en-GB" sz="1200" noProof="0" dirty="0">
              <a:latin typeface="Cambria" panose="02040503050406030204" pitchFamily="18" charset="0"/>
              <a:ea typeface="Cambria" panose="02040503050406030204" pitchFamily="18" charset="0"/>
            </a:endParaRPr>
          </a:p>
        </p:txBody>
      </p:sp>
      <p:sp>
        <p:nvSpPr>
          <p:cNvPr id="9" name="Text 6"/>
          <p:cNvSpPr/>
          <p:nvPr/>
        </p:nvSpPr>
        <p:spPr>
          <a:xfrm>
            <a:off x="4663440" y="1167853"/>
            <a:ext cx="4198620" cy="2717820"/>
          </a:xfrm>
          <a:prstGeom prst="rect">
            <a:avLst/>
          </a:prstGeom>
          <a:noFill/>
          <a:ln/>
        </p:spPr>
        <p:txBody>
          <a:bodyPr wrap="square" lIns="0" tIns="0" rIns="0" bIns="0" rtlCol="0" anchor="t"/>
          <a:lstStyle/>
          <a:p>
            <a:pPr marL="0" indent="0" algn="l">
              <a:spcAft>
                <a:spcPts val="100"/>
              </a:spcAft>
              <a:buNone/>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Descriptive CLV used a customer-level three-component model: </a:t>
            </a:r>
          </a:p>
          <a:p>
            <a:pPr marL="0" indent="0" algn="l">
              <a:spcAft>
                <a:spcPts val="100"/>
              </a:spcAft>
              <a:buNone/>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CLV = (APV × PF) / Churn Rate, computed </a:t>
            </a:r>
            <a:r>
              <a:rPr lang="en-GB" sz="1000" b="1" noProof="0" dirty="0">
                <a:solidFill>
                  <a:srgbClr val="1A2440"/>
                </a:solidFill>
                <a:latin typeface="Cambria" panose="02040503050406030204" pitchFamily="18" charset="0"/>
                <a:ea typeface="Cambria" panose="02040503050406030204" pitchFamily="18" charset="0"/>
                <a:cs typeface="Calibri" pitchFamily="34" charset="-120"/>
              </a:rPr>
              <a:t>individually</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per customer rather than as dataset-wide aggregates.</a:t>
            </a:r>
            <a:endParaRPr lang="en-GB" sz="1000" noProof="0" dirty="0">
              <a:latin typeface="Cambria" panose="02040503050406030204" pitchFamily="18" charset="0"/>
              <a:ea typeface="Cambria" panose="02040503050406030204" pitchFamily="18" charset="0"/>
            </a:endParaRPr>
          </a:p>
          <a:p>
            <a:pPr marL="0" indent="0" algn="l">
              <a:spcAft>
                <a:spcPts val="100"/>
              </a:spcAft>
              <a:buNone/>
            </a:pPr>
            <a:endParaRPr lang="en-GB" sz="1000" noProof="0" dirty="0">
              <a:latin typeface="Cambria" panose="02040503050406030204" pitchFamily="18" charset="0"/>
              <a:ea typeface="Cambria" panose="02040503050406030204" pitchFamily="18" charset="0"/>
            </a:endParaRPr>
          </a:p>
          <a:p>
            <a:pPr marL="0" indent="0" algn="l">
              <a:spcAft>
                <a:spcPts val="100"/>
              </a:spcAft>
              <a:buNone/>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Purchase Frequency (PF) is </a:t>
            </a:r>
            <a:r>
              <a:rPr lang="en-GB" sz="1000" b="1" noProof="0" dirty="0">
                <a:solidFill>
                  <a:srgbClr val="1A2440"/>
                </a:solidFill>
                <a:latin typeface="Cambria" panose="02040503050406030204" pitchFamily="18" charset="0"/>
                <a:ea typeface="Cambria" panose="02040503050406030204" pitchFamily="18" charset="0"/>
                <a:cs typeface="Calibri" pitchFamily="34" charset="-120"/>
              </a:rPr>
              <a:t>normalized</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by each customer's active lifetime in months, capturing individual purchase rates while accounting for tenure heterogeneity.</a:t>
            </a:r>
            <a:endParaRPr lang="en-GB" sz="1000" noProof="0" dirty="0">
              <a:latin typeface="Cambria" panose="02040503050406030204" pitchFamily="18" charset="0"/>
              <a:ea typeface="Cambria" panose="02040503050406030204" pitchFamily="18" charset="0"/>
            </a:endParaRPr>
          </a:p>
          <a:p>
            <a:pPr marL="0" indent="0" algn="l">
              <a:spcAft>
                <a:spcPts val="100"/>
              </a:spcAft>
              <a:buNone/>
            </a:pPr>
            <a:endParaRPr lang="en-GB" sz="1000" noProof="0" dirty="0">
              <a:solidFill>
                <a:srgbClr val="1A2440"/>
              </a:solidFill>
              <a:latin typeface="Cambria" panose="02040503050406030204" pitchFamily="18" charset="0"/>
              <a:ea typeface="Cambria" panose="02040503050406030204" pitchFamily="18" charset="0"/>
              <a:cs typeface="Calibri" pitchFamily="34" charset="-120"/>
            </a:endParaRPr>
          </a:p>
          <a:p>
            <a:pPr>
              <a:spcAft>
                <a:spcPts val="200"/>
              </a:spcAft>
            </a:pPr>
            <a:r>
              <a:rPr lang="en-GB" sz="1000" noProof="0" dirty="0">
                <a:solidFill>
                  <a:srgbClr val="1A2440"/>
                </a:solidFill>
                <a:latin typeface="Calibri" pitchFamily="34" charset="0"/>
                <a:ea typeface="Calibri" pitchFamily="34" charset="-122"/>
                <a:cs typeface="Calibri" pitchFamily="34" charset="-120"/>
              </a:rPr>
              <a:t>The results were computed for all 8,510 customers. </a:t>
            </a:r>
            <a:br>
              <a:rPr lang="en-GB" sz="1000" noProof="0" dirty="0">
                <a:solidFill>
                  <a:srgbClr val="1A2440"/>
                </a:solidFill>
                <a:latin typeface="Calibri" pitchFamily="34" charset="0"/>
                <a:ea typeface="Calibri" pitchFamily="34" charset="-122"/>
                <a:cs typeface="Calibri" pitchFamily="34" charset="-120"/>
              </a:rPr>
            </a:br>
            <a:r>
              <a:rPr lang="en-GB" sz="1000" noProof="0" dirty="0">
                <a:solidFill>
                  <a:srgbClr val="1A2440"/>
                </a:solidFill>
                <a:latin typeface="Calibri" pitchFamily="34" charset="0"/>
                <a:ea typeface="Calibri" pitchFamily="34" charset="-122"/>
                <a:cs typeface="Calibri" pitchFamily="34" charset="-120"/>
              </a:rPr>
              <a:t>The full-base mean CLV of $3.85/month rises to $6.11/month when restricted to the 3,154 </a:t>
            </a:r>
            <a:r>
              <a:rPr lang="en-GB" sz="1000" b="1" noProof="0" dirty="0">
                <a:solidFill>
                  <a:srgbClr val="1A2440"/>
                </a:solidFill>
                <a:latin typeface="Calibri" pitchFamily="34" charset="0"/>
                <a:ea typeface="Calibri" pitchFamily="34" charset="-122"/>
                <a:cs typeface="Calibri" pitchFamily="34" charset="-120"/>
              </a:rPr>
              <a:t>active customers </a:t>
            </a:r>
            <a:r>
              <a:rPr lang="en-GB" sz="1000" noProof="0" dirty="0">
                <a:solidFill>
                  <a:srgbClr val="1A2440"/>
                </a:solidFill>
                <a:latin typeface="Calibri" pitchFamily="34" charset="0"/>
                <a:ea typeface="Calibri" pitchFamily="34" charset="-122"/>
                <a:cs typeface="Calibri" pitchFamily="34" charset="-120"/>
              </a:rPr>
              <a:t>(Recency ≤ 90 days), confirming that active customers generate 59% more monthly value on average.</a:t>
            </a:r>
            <a:endParaRPr lang="en-GB" sz="1000" noProof="0" dirty="0"/>
          </a:p>
          <a:p>
            <a:pPr>
              <a:spcAft>
                <a:spcPts val="200"/>
              </a:spcAft>
            </a:pPr>
            <a:endParaRPr lang="en-GB" sz="1000" noProof="0" dirty="0"/>
          </a:p>
          <a:p>
            <a:pPr>
              <a:spcAft>
                <a:spcPts val="200"/>
              </a:spcAft>
            </a:pPr>
            <a:r>
              <a:rPr lang="en-GB" sz="1000" noProof="0" dirty="0">
                <a:solidFill>
                  <a:srgbClr val="1A2440"/>
                </a:solidFill>
                <a:latin typeface="Calibri" pitchFamily="34" charset="0"/>
                <a:ea typeface="Calibri" pitchFamily="34" charset="-122"/>
                <a:cs typeface="Calibri" pitchFamily="34" charset="-120"/>
              </a:rPr>
              <a:t>The </a:t>
            </a:r>
            <a:r>
              <a:rPr lang="en-GB" sz="1000" b="1" noProof="0" dirty="0">
                <a:solidFill>
                  <a:srgbClr val="1A2440"/>
                </a:solidFill>
                <a:latin typeface="Calibri" pitchFamily="34" charset="0"/>
                <a:ea typeface="Calibri" pitchFamily="34" charset="-122"/>
                <a:cs typeface="Calibri" pitchFamily="34" charset="-120"/>
              </a:rPr>
              <a:t>top 20 </a:t>
            </a:r>
            <a:r>
              <a:rPr lang="en-GB" sz="1000" noProof="0" dirty="0">
                <a:solidFill>
                  <a:srgbClr val="1A2440"/>
                </a:solidFill>
                <a:latin typeface="Calibri" pitchFamily="34" charset="0"/>
                <a:ea typeface="Calibri" pitchFamily="34" charset="-122"/>
                <a:cs typeface="Calibri" pitchFamily="34" charset="-120"/>
              </a:rPr>
              <a:t>customers by CLV (led by CUST002744 at $78.90/month) share a consistent behavioural profile: from 39 to 152 orders, APV of $9-16, and tenures spanning the full three-year window, confirming habitual purchase behaviour rather than one-off spending spikes.</a:t>
            </a:r>
            <a:endParaRPr lang="en-GB" sz="1000" noProof="0" dirty="0"/>
          </a:p>
          <a:p>
            <a:pPr marL="0" indent="0" algn="l">
              <a:spcAft>
                <a:spcPts val="100"/>
              </a:spcAft>
              <a:buNone/>
            </a:pPr>
            <a:endParaRPr lang="en-GB" sz="1000" noProof="0" dirty="0">
              <a:latin typeface="Cambria" panose="02040503050406030204" pitchFamily="18" charset="0"/>
              <a:ea typeface="Cambria" panose="02040503050406030204" pitchFamily="18" charset="0"/>
            </a:endParaRPr>
          </a:p>
        </p:txBody>
      </p:sp>
      <p:sp>
        <p:nvSpPr>
          <p:cNvPr id="10" name="Shape 7"/>
          <p:cNvSpPr/>
          <p:nvPr/>
        </p:nvSpPr>
        <p:spPr>
          <a:xfrm>
            <a:off x="274320" y="4041648"/>
            <a:ext cx="2743200" cy="896112"/>
          </a:xfrm>
          <a:prstGeom prst="roundRect">
            <a:avLst>
              <a:gd name="adj" fmla="val 10204"/>
            </a:avLst>
          </a:prstGeom>
          <a:solidFill>
            <a:srgbClr val="1E2761"/>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GB" noProof="0" dirty="0">
              <a:latin typeface="Cambria" panose="02040503050406030204" pitchFamily="18" charset="0"/>
              <a:ea typeface="Cambria" panose="02040503050406030204" pitchFamily="18" charset="0"/>
            </a:endParaRPr>
          </a:p>
        </p:txBody>
      </p:sp>
      <p:sp>
        <p:nvSpPr>
          <p:cNvPr id="11" name="Text 8"/>
          <p:cNvSpPr/>
          <p:nvPr/>
        </p:nvSpPr>
        <p:spPr>
          <a:xfrm>
            <a:off x="274320" y="4145280"/>
            <a:ext cx="2743200" cy="201168"/>
          </a:xfrm>
          <a:prstGeom prst="rect">
            <a:avLst/>
          </a:prstGeom>
          <a:noFill/>
          <a:ln/>
        </p:spPr>
        <p:txBody>
          <a:bodyPr wrap="square" lIns="0" tIns="0" rIns="0" bIns="0" rtlCol="0" anchor="ctr"/>
          <a:lstStyle/>
          <a:p>
            <a:pPr marL="0" indent="0" algn="ctr">
              <a:buNone/>
            </a:pPr>
            <a:r>
              <a:rPr lang="en-GB" sz="800" b="1" kern="0" spc="150" noProof="0" dirty="0">
                <a:solidFill>
                  <a:srgbClr val="8094C8"/>
                </a:solidFill>
                <a:latin typeface="Cambria" panose="02040503050406030204" pitchFamily="18" charset="0"/>
                <a:ea typeface="Cambria" panose="02040503050406030204" pitchFamily="18" charset="0"/>
                <a:cs typeface="Calibri" pitchFamily="34" charset="-120"/>
              </a:rPr>
              <a:t>DESCRIPTIVE CLV</a:t>
            </a:r>
            <a:endParaRPr lang="en-GB" sz="800" noProof="0" dirty="0">
              <a:latin typeface="Cambria" panose="02040503050406030204" pitchFamily="18" charset="0"/>
              <a:ea typeface="Cambria" panose="02040503050406030204" pitchFamily="18" charset="0"/>
            </a:endParaRPr>
          </a:p>
        </p:txBody>
      </p:sp>
      <p:sp>
        <p:nvSpPr>
          <p:cNvPr id="12" name="Text 9"/>
          <p:cNvSpPr/>
          <p:nvPr/>
        </p:nvSpPr>
        <p:spPr>
          <a:xfrm>
            <a:off x="274320" y="4328160"/>
            <a:ext cx="2743200" cy="292608"/>
          </a:xfrm>
          <a:prstGeom prst="rect">
            <a:avLst/>
          </a:prstGeom>
          <a:noFill/>
          <a:ln/>
        </p:spPr>
        <p:txBody>
          <a:bodyPr wrap="square" lIns="0" tIns="0" rIns="0" bIns="0" rtlCol="0" anchor="ctr"/>
          <a:lstStyle/>
          <a:p>
            <a:pPr marL="0" indent="0" algn="ctr">
              <a:buNone/>
            </a:pPr>
            <a:r>
              <a:rPr lang="en-GB" sz="1300" b="1" noProof="0" dirty="0">
                <a:solidFill>
                  <a:srgbClr val="CADCFC"/>
                </a:solidFill>
                <a:latin typeface="Cambria" panose="02040503050406030204" pitchFamily="18" charset="0"/>
                <a:ea typeface="Cambria" panose="02040503050406030204" pitchFamily="18" charset="0"/>
                <a:cs typeface="Cambria" pitchFamily="34" charset="-120"/>
              </a:rPr>
              <a:t>CLV = (APV × PF) ÷ Churn Rate</a:t>
            </a:r>
            <a:endParaRPr lang="en-GB" sz="1300" noProof="0" dirty="0">
              <a:latin typeface="Cambria" panose="02040503050406030204" pitchFamily="18" charset="0"/>
              <a:ea typeface="Cambria" panose="02040503050406030204" pitchFamily="18" charset="0"/>
            </a:endParaRPr>
          </a:p>
        </p:txBody>
      </p:sp>
      <p:sp>
        <p:nvSpPr>
          <p:cNvPr id="13" name="Text 10"/>
          <p:cNvSpPr/>
          <p:nvPr/>
        </p:nvSpPr>
        <p:spPr>
          <a:xfrm>
            <a:off x="274320" y="4602480"/>
            <a:ext cx="2743200" cy="201168"/>
          </a:xfrm>
          <a:prstGeom prst="rect">
            <a:avLst/>
          </a:prstGeom>
          <a:noFill/>
          <a:ln/>
        </p:spPr>
        <p:txBody>
          <a:bodyPr wrap="square" lIns="0" tIns="0" rIns="0" bIns="0" rtlCol="0" anchor="ctr"/>
          <a:lstStyle/>
          <a:p>
            <a:pPr marL="0" indent="0" algn="ctr">
              <a:buNone/>
            </a:pPr>
            <a:r>
              <a:rPr lang="en-GB" sz="900" noProof="0" dirty="0">
                <a:solidFill>
                  <a:srgbClr val="8094C8"/>
                </a:solidFill>
                <a:latin typeface="Cambria" panose="02040503050406030204" pitchFamily="18" charset="0"/>
                <a:ea typeface="Cambria" panose="02040503050406030204" pitchFamily="18" charset="0"/>
                <a:cs typeface="Calibri" pitchFamily="34" charset="-120"/>
              </a:rPr>
              <a:t>Customer-level, monthly $</a:t>
            </a:r>
            <a:endParaRPr lang="en-GB" sz="900" noProof="0" dirty="0">
              <a:latin typeface="Cambria" panose="02040503050406030204" pitchFamily="18" charset="0"/>
              <a:ea typeface="Cambria" panose="02040503050406030204" pitchFamily="18" charset="0"/>
            </a:endParaRPr>
          </a:p>
        </p:txBody>
      </p:sp>
      <p:sp>
        <p:nvSpPr>
          <p:cNvPr id="14" name="Shape 11"/>
          <p:cNvSpPr/>
          <p:nvPr/>
        </p:nvSpPr>
        <p:spPr>
          <a:xfrm>
            <a:off x="3227832" y="4041648"/>
            <a:ext cx="2743200" cy="896112"/>
          </a:xfrm>
          <a:prstGeom prst="roundRect">
            <a:avLst>
              <a:gd name="adj" fmla="val 10204"/>
            </a:avLst>
          </a:prstGeom>
          <a:solidFill>
            <a:srgbClr val="1E2761"/>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GB" noProof="0" dirty="0">
              <a:latin typeface="Cambria" panose="02040503050406030204" pitchFamily="18" charset="0"/>
              <a:ea typeface="Cambria" panose="02040503050406030204" pitchFamily="18" charset="0"/>
            </a:endParaRPr>
          </a:p>
        </p:txBody>
      </p:sp>
      <p:sp>
        <p:nvSpPr>
          <p:cNvPr id="15" name="Text 12"/>
          <p:cNvSpPr/>
          <p:nvPr/>
        </p:nvSpPr>
        <p:spPr>
          <a:xfrm>
            <a:off x="3227832" y="4145280"/>
            <a:ext cx="2743200" cy="201168"/>
          </a:xfrm>
          <a:prstGeom prst="rect">
            <a:avLst/>
          </a:prstGeom>
          <a:noFill/>
          <a:ln/>
        </p:spPr>
        <p:txBody>
          <a:bodyPr wrap="square" lIns="0" tIns="0" rIns="0" bIns="0" rtlCol="0" anchor="ctr"/>
          <a:lstStyle/>
          <a:p>
            <a:pPr marL="0" indent="0" algn="ctr">
              <a:buNone/>
            </a:pPr>
            <a:r>
              <a:rPr lang="en-GB" sz="800" b="1" kern="0" spc="150" noProof="0" dirty="0">
                <a:solidFill>
                  <a:srgbClr val="8094C8"/>
                </a:solidFill>
                <a:latin typeface="Cambria" panose="02040503050406030204" pitchFamily="18" charset="0"/>
                <a:ea typeface="Cambria" panose="02040503050406030204" pitchFamily="18" charset="0"/>
                <a:cs typeface="Calibri" pitchFamily="34" charset="-120"/>
              </a:rPr>
              <a:t>CHURN DEFINITION</a:t>
            </a:r>
            <a:endParaRPr lang="en-GB" sz="800" noProof="0" dirty="0">
              <a:latin typeface="Cambria" panose="02040503050406030204" pitchFamily="18" charset="0"/>
              <a:ea typeface="Cambria" panose="02040503050406030204" pitchFamily="18" charset="0"/>
            </a:endParaRPr>
          </a:p>
        </p:txBody>
      </p:sp>
      <p:sp>
        <p:nvSpPr>
          <p:cNvPr id="16" name="Text 13"/>
          <p:cNvSpPr/>
          <p:nvPr/>
        </p:nvSpPr>
        <p:spPr>
          <a:xfrm>
            <a:off x="3227832" y="4328160"/>
            <a:ext cx="2743200" cy="292608"/>
          </a:xfrm>
          <a:prstGeom prst="rect">
            <a:avLst/>
          </a:prstGeom>
          <a:noFill/>
          <a:ln/>
        </p:spPr>
        <p:txBody>
          <a:bodyPr wrap="square" lIns="0" tIns="0" rIns="0" bIns="0" rtlCol="0" anchor="ctr"/>
          <a:lstStyle/>
          <a:p>
            <a:pPr marL="0" indent="0" algn="ctr">
              <a:buNone/>
            </a:pPr>
            <a:r>
              <a:rPr lang="en-GB" sz="1300" b="1" noProof="0" dirty="0">
                <a:solidFill>
                  <a:srgbClr val="CADCFC"/>
                </a:solidFill>
                <a:latin typeface="Cambria" panose="02040503050406030204" pitchFamily="18" charset="0"/>
                <a:ea typeface="Cambria" panose="02040503050406030204" pitchFamily="18" charset="0"/>
                <a:cs typeface="Cambria" pitchFamily="34" charset="-120"/>
              </a:rPr>
              <a:t>Recency &gt; 90 days</a:t>
            </a:r>
            <a:endParaRPr lang="en-GB" sz="1300" noProof="0" dirty="0">
              <a:latin typeface="Cambria" panose="02040503050406030204" pitchFamily="18" charset="0"/>
              <a:ea typeface="Cambria" panose="02040503050406030204" pitchFamily="18" charset="0"/>
            </a:endParaRPr>
          </a:p>
        </p:txBody>
      </p:sp>
      <p:sp>
        <p:nvSpPr>
          <p:cNvPr id="17" name="Text 14"/>
          <p:cNvSpPr/>
          <p:nvPr/>
        </p:nvSpPr>
        <p:spPr>
          <a:xfrm>
            <a:off x="3227832" y="4602480"/>
            <a:ext cx="2743200" cy="201168"/>
          </a:xfrm>
          <a:prstGeom prst="rect">
            <a:avLst/>
          </a:prstGeom>
          <a:noFill/>
          <a:ln/>
        </p:spPr>
        <p:txBody>
          <a:bodyPr wrap="square" lIns="0" tIns="0" rIns="0" bIns="0" rtlCol="0" anchor="ctr"/>
          <a:lstStyle/>
          <a:p>
            <a:pPr marL="0" indent="0" algn="ctr">
              <a:buNone/>
            </a:pPr>
            <a:r>
              <a:rPr lang="en-GB" sz="900" noProof="0" dirty="0">
                <a:solidFill>
                  <a:srgbClr val="8094C8"/>
                </a:solidFill>
                <a:latin typeface="Cambria" panose="02040503050406030204" pitchFamily="18" charset="0"/>
                <a:ea typeface="Cambria" panose="02040503050406030204" pitchFamily="18" charset="0"/>
                <a:cs typeface="Calibri" pitchFamily="34" charset="-120"/>
              </a:rPr>
              <a:t>62.9% of base classified churned</a:t>
            </a:r>
            <a:endParaRPr lang="en-GB" sz="900" noProof="0" dirty="0">
              <a:latin typeface="Cambria" panose="02040503050406030204" pitchFamily="18" charset="0"/>
              <a:ea typeface="Cambria" panose="02040503050406030204" pitchFamily="18" charset="0"/>
            </a:endParaRPr>
          </a:p>
        </p:txBody>
      </p:sp>
      <p:sp>
        <p:nvSpPr>
          <p:cNvPr id="18" name="Shape 15"/>
          <p:cNvSpPr/>
          <p:nvPr/>
        </p:nvSpPr>
        <p:spPr>
          <a:xfrm>
            <a:off x="6181344" y="4041648"/>
            <a:ext cx="2743200" cy="896112"/>
          </a:xfrm>
          <a:prstGeom prst="roundRect">
            <a:avLst>
              <a:gd name="adj" fmla="val 10204"/>
            </a:avLst>
          </a:prstGeom>
          <a:solidFill>
            <a:srgbClr val="1E2761"/>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GB" noProof="0" dirty="0">
              <a:latin typeface="Cambria" panose="02040503050406030204" pitchFamily="18" charset="0"/>
              <a:ea typeface="Cambria" panose="02040503050406030204" pitchFamily="18" charset="0"/>
            </a:endParaRPr>
          </a:p>
        </p:txBody>
      </p:sp>
      <p:sp>
        <p:nvSpPr>
          <p:cNvPr id="19" name="Text 16"/>
          <p:cNvSpPr/>
          <p:nvPr/>
        </p:nvSpPr>
        <p:spPr>
          <a:xfrm>
            <a:off x="6181344" y="4145280"/>
            <a:ext cx="2743200" cy="201168"/>
          </a:xfrm>
          <a:prstGeom prst="rect">
            <a:avLst/>
          </a:prstGeom>
          <a:noFill/>
          <a:ln/>
        </p:spPr>
        <p:txBody>
          <a:bodyPr wrap="square" lIns="0" tIns="0" rIns="0" bIns="0" rtlCol="0" anchor="ctr"/>
          <a:lstStyle/>
          <a:p>
            <a:pPr marL="0" indent="0" algn="ctr">
              <a:buNone/>
            </a:pPr>
            <a:r>
              <a:rPr lang="en-GB" sz="800" b="1" kern="0" spc="150" noProof="0" dirty="0">
                <a:solidFill>
                  <a:srgbClr val="8094C8"/>
                </a:solidFill>
                <a:latin typeface="Cambria" panose="02040503050406030204" pitchFamily="18" charset="0"/>
                <a:ea typeface="Cambria" panose="02040503050406030204" pitchFamily="18" charset="0"/>
                <a:cs typeface="Calibri" pitchFamily="34" charset="-120"/>
              </a:rPr>
              <a:t>ACTIVE CUSTOMER ONLY</a:t>
            </a:r>
            <a:endParaRPr lang="en-GB" sz="800" noProof="0" dirty="0">
              <a:latin typeface="Cambria" panose="02040503050406030204" pitchFamily="18" charset="0"/>
              <a:ea typeface="Cambria" panose="02040503050406030204" pitchFamily="18" charset="0"/>
            </a:endParaRPr>
          </a:p>
        </p:txBody>
      </p:sp>
      <p:sp>
        <p:nvSpPr>
          <p:cNvPr id="20" name="Text 17"/>
          <p:cNvSpPr/>
          <p:nvPr/>
        </p:nvSpPr>
        <p:spPr>
          <a:xfrm>
            <a:off x="6181344" y="4328160"/>
            <a:ext cx="2743200" cy="292608"/>
          </a:xfrm>
          <a:prstGeom prst="rect">
            <a:avLst/>
          </a:prstGeom>
          <a:noFill/>
          <a:ln/>
        </p:spPr>
        <p:txBody>
          <a:bodyPr wrap="square" lIns="0" tIns="0" rIns="0" bIns="0" rtlCol="0" anchor="ctr"/>
          <a:lstStyle/>
          <a:p>
            <a:pPr algn="ctr"/>
            <a:r>
              <a:rPr lang="en-GB" sz="1300" b="1" noProof="0" dirty="0">
                <a:solidFill>
                  <a:srgbClr val="CADCFC"/>
                </a:solidFill>
                <a:latin typeface="Cambria" panose="02040503050406030204" pitchFamily="18" charset="0"/>
                <a:ea typeface="Cambria" panose="02040503050406030204" pitchFamily="18" charset="0"/>
              </a:rPr>
              <a:t>Mean CLV = $6.11/month</a:t>
            </a:r>
          </a:p>
        </p:txBody>
      </p:sp>
      <p:sp>
        <p:nvSpPr>
          <p:cNvPr id="21" name="Text 18"/>
          <p:cNvSpPr/>
          <p:nvPr/>
        </p:nvSpPr>
        <p:spPr>
          <a:xfrm>
            <a:off x="6181344" y="4620768"/>
            <a:ext cx="2743200" cy="155974"/>
          </a:xfrm>
          <a:prstGeom prst="rect">
            <a:avLst/>
          </a:prstGeom>
          <a:noFill/>
          <a:ln/>
        </p:spPr>
        <p:txBody>
          <a:bodyPr wrap="square" lIns="0" tIns="0" rIns="0" bIns="0" rtlCol="0" anchor="ctr"/>
          <a:lstStyle/>
          <a:p>
            <a:pPr algn="ctr"/>
            <a:r>
              <a:rPr lang="en-GB" sz="900" noProof="0" dirty="0">
                <a:solidFill>
                  <a:srgbClr val="8094C8"/>
                </a:solidFill>
                <a:latin typeface="Cambria" panose="02040503050406030204" pitchFamily="18" charset="0"/>
                <a:ea typeface="Cambria" panose="02040503050406030204" pitchFamily="18" charset="0"/>
                <a:cs typeface="Calibri" pitchFamily="34" charset="-120"/>
              </a:rPr>
              <a:t>Against $3.85/month for the full dataset </a:t>
            </a:r>
          </a:p>
        </p:txBody>
      </p:sp>
      <p:sp>
        <p:nvSpPr>
          <p:cNvPr id="23" name="Text 0">
            <a:extLst>
              <a:ext uri="{FF2B5EF4-FFF2-40B4-BE49-F238E27FC236}">
                <a16:creationId xmlns:a16="http://schemas.microsoft.com/office/drawing/2014/main" id="{4FB8C9A4-F598-CF13-52CF-590CC7DEB99C}"/>
              </a:ext>
            </a:extLst>
          </p:cNvPr>
          <p:cNvSpPr/>
          <p:nvPr/>
        </p:nvSpPr>
        <p:spPr>
          <a:xfrm>
            <a:off x="274319" y="42203"/>
            <a:ext cx="1055077" cy="274320"/>
          </a:xfrm>
          <a:prstGeom prst="rect">
            <a:avLst/>
          </a:prstGeom>
          <a:noFill/>
          <a:ln/>
        </p:spPr>
        <p:txBody>
          <a:bodyPr wrap="square" lIns="0" tIns="0" rIns="0" bIns="0" rtlCol="0" anchor="ctr"/>
          <a:lstStyle/>
          <a:p>
            <a:r>
              <a:rPr lang="en-GB" sz="900" b="1" kern="0" spc="200" noProof="0" dirty="0">
                <a:solidFill>
                  <a:srgbClr val="CADCFC"/>
                </a:solidFill>
                <a:latin typeface="Cambria" panose="02040503050406030204" pitchFamily="18" charset="0"/>
                <a:ea typeface="Cambria" panose="02040503050406030204" pitchFamily="18" charset="0"/>
              </a:rPr>
              <a:t>PART C &amp; D</a:t>
            </a:r>
            <a:endParaRPr lang="en-GB" sz="900" noProof="0" dirty="0"/>
          </a:p>
        </p:txBody>
      </p:sp>
      <p:sp>
        <p:nvSpPr>
          <p:cNvPr id="29" name="Shape 1">
            <a:extLst>
              <a:ext uri="{FF2B5EF4-FFF2-40B4-BE49-F238E27FC236}">
                <a16:creationId xmlns:a16="http://schemas.microsoft.com/office/drawing/2014/main" id="{06104A24-10C5-EEB4-6E51-3851104329FA}"/>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GB" noProof="0" dirty="0"/>
          </a:p>
        </p:txBody>
      </p:sp>
      <p:sp>
        <p:nvSpPr>
          <p:cNvPr id="31" name="Text 2">
            <a:extLst>
              <a:ext uri="{FF2B5EF4-FFF2-40B4-BE49-F238E27FC236}">
                <a16:creationId xmlns:a16="http://schemas.microsoft.com/office/drawing/2014/main" id="{094F1FBE-764F-8920-0CFD-EAA8F2414D78}"/>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GB" sz="1300" b="1" noProof="0" dirty="0">
                <a:solidFill>
                  <a:srgbClr val="CADCFC"/>
                </a:solidFill>
              </a:rPr>
              <a:t>04</a:t>
            </a:r>
            <a:endParaRPr lang="en-GB" sz="13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4F7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GB" noProof="0" dirty="0"/>
          </a:p>
        </p:txBody>
      </p:sp>
      <p:sp>
        <p:nvSpPr>
          <p:cNvPr id="4" name="Text 1"/>
          <p:cNvSpPr/>
          <p:nvPr/>
        </p:nvSpPr>
        <p:spPr>
          <a:xfrm>
            <a:off x="274319" y="301752"/>
            <a:ext cx="5230368" cy="347472"/>
          </a:xfrm>
          <a:prstGeom prst="rect">
            <a:avLst/>
          </a:prstGeom>
          <a:noFill/>
          <a:ln/>
        </p:spPr>
        <p:txBody>
          <a:bodyPr wrap="square" lIns="0" tIns="0" rIns="0" bIns="0" rtlCol="0" anchor="ctr"/>
          <a:lstStyle/>
          <a:p>
            <a:pPr marL="0" indent="0" algn="l">
              <a:buNone/>
            </a:pPr>
            <a:r>
              <a:rPr lang="en-GB" sz="2800" b="1" noProof="0" dirty="0">
                <a:solidFill>
                  <a:srgbClr val="FFFFFF"/>
                </a:solidFill>
                <a:latin typeface="EucrosiaUPC" panose="02020603050405020304" pitchFamily="18" charset="-34"/>
                <a:ea typeface="Cambria" pitchFamily="34" charset="-122"/>
                <a:cs typeface="EucrosiaUPC" panose="02020603050405020304" pitchFamily="18" charset="-34"/>
              </a:rPr>
              <a:t>4. Predictive CLV&amp; Empirical Evidence</a:t>
            </a:r>
            <a:endParaRPr lang="en-GB" sz="2800" noProof="0" dirty="0">
              <a:latin typeface="EucrosiaUPC" panose="02020603050405020304" pitchFamily="18" charset="-34"/>
              <a:cs typeface="EucrosiaUPC" panose="02020603050405020304" pitchFamily="18" charset="-34"/>
            </a:endParaRPr>
          </a:p>
        </p:txBody>
      </p:sp>
      <p:sp>
        <p:nvSpPr>
          <p:cNvPr id="5" name="Text 2"/>
          <p:cNvSpPr/>
          <p:nvPr/>
        </p:nvSpPr>
        <p:spPr>
          <a:xfrm>
            <a:off x="274320" y="896112"/>
            <a:ext cx="4297680" cy="256032"/>
          </a:xfrm>
          <a:prstGeom prst="rect">
            <a:avLst/>
          </a:prstGeom>
          <a:noFill/>
          <a:ln/>
        </p:spPr>
        <p:txBody>
          <a:bodyPr wrap="square" lIns="0" tIns="0" rIns="0" bIns="0" rtlCol="0" anchor="ctr"/>
          <a:lstStyle/>
          <a:p>
            <a:r>
              <a:rPr lang="en-GB" sz="1200" b="1" kern="0" spc="200" noProof="0" dirty="0">
                <a:solidFill>
                  <a:srgbClr val="3A5BA0"/>
                </a:solidFill>
                <a:latin typeface="Cambria" panose="02040503050406030204" pitchFamily="18" charset="0"/>
                <a:ea typeface="Cambria" panose="02040503050406030204" pitchFamily="18" charset="0"/>
                <a:cs typeface="Calibri" pitchFamily="34" charset="-120"/>
              </a:rPr>
              <a:t>PREDICTIVE CLV: BG/NBD + GAMMA-GAMMA</a:t>
            </a:r>
            <a:endParaRPr lang="en-GB" sz="1200" noProof="0" dirty="0">
              <a:latin typeface="Cambria" panose="02040503050406030204" pitchFamily="18" charset="0"/>
              <a:ea typeface="Cambria" panose="02040503050406030204" pitchFamily="18" charset="0"/>
            </a:endParaRPr>
          </a:p>
        </p:txBody>
      </p:sp>
      <p:sp>
        <p:nvSpPr>
          <p:cNvPr id="6" name="Text 3"/>
          <p:cNvSpPr/>
          <p:nvPr/>
        </p:nvSpPr>
        <p:spPr>
          <a:xfrm>
            <a:off x="274320" y="1170432"/>
            <a:ext cx="4160520" cy="1847088"/>
          </a:xfrm>
          <a:prstGeom prst="rect">
            <a:avLst/>
          </a:prstGeom>
          <a:noFill/>
          <a:ln/>
        </p:spPr>
        <p:txBody>
          <a:bodyPr wrap="square" lIns="0" tIns="0" rIns="0" bIns="0" rtlCol="0" anchor="t"/>
          <a:lstStyle/>
          <a:p>
            <a:pPr>
              <a:spcAft>
                <a:spcPts val="100"/>
              </a:spcAft>
            </a:pPr>
            <a:r>
              <a:rPr lang="en-GB" sz="1000" noProof="0" dirty="0">
                <a:latin typeface="Cambria" panose="02040503050406030204" pitchFamily="18" charset="0"/>
                <a:ea typeface="Cambria" panose="02040503050406030204" pitchFamily="18" charset="0"/>
              </a:rPr>
              <a:t>The </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BG/NBD combined with the Gamma-Gamma model was selected for 3 main reasons: the dataset is not subscription-based, there are enough data history to estimate the parameters of the model and the customers show heterogeneous purchasing </a:t>
            </a:r>
            <a:r>
              <a:rPr lang="en-GB" sz="1000" noProof="0" dirty="0" err="1">
                <a:solidFill>
                  <a:srgbClr val="1A2440"/>
                </a:solidFill>
                <a:latin typeface="Cambria" panose="02040503050406030204" pitchFamily="18" charset="0"/>
                <a:ea typeface="Cambria" panose="02040503050406030204" pitchFamily="18" charset="0"/>
                <a:cs typeface="Calibri" pitchFamily="34" charset="-120"/>
              </a:rPr>
              <a:t>behavior</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a:t>
            </a:r>
          </a:p>
          <a:p>
            <a:pPr>
              <a:spcAft>
                <a:spcPts val="100"/>
              </a:spcAft>
            </a:pPr>
            <a:endParaRPr lang="en-GB" sz="1000" noProof="0" dirty="0">
              <a:solidFill>
                <a:srgbClr val="1A2440"/>
              </a:solidFill>
              <a:latin typeface="Cambria" panose="02040503050406030204" pitchFamily="18" charset="0"/>
              <a:ea typeface="Cambria" panose="02040503050406030204" pitchFamily="18" charset="0"/>
              <a:cs typeface="Calibri" pitchFamily="34" charset="-120"/>
            </a:endParaRPr>
          </a:p>
          <a:p>
            <a:pPr>
              <a:spcAft>
                <a:spcPts val="100"/>
              </a:spcAft>
            </a:pPr>
            <a:r>
              <a:rPr lang="en-GB" sz="1000" noProof="0" dirty="0">
                <a:solidFill>
                  <a:srgbClr val="1A2440"/>
                </a:solidFill>
                <a:latin typeface="Cambria" panose="02040503050406030204" pitchFamily="18" charset="0"/>
                <a:ea typeface="Cambria" panose="02040503050406030204" pitchFamily="18" charset="0"/>
                <a:cs typeface="Calibri" pitchFamily="34" charset="-120"/>
              </a:rPr>
              <a:t>The data was transformed to be handled by BG/NBD summary in a weekly format. It consists of two separate models:</a:t>
            </a:r>
          </a:p>
          <a:p>
            <a:pPr marL="171450" indent="-171450">
              <a:spcAft>
                <a:spcPts val="100"/>
              </a:spcAft>
              <a:buFont typeface="Arial" panose="020B0604020202020204" pitchFamily="34" charset="0"/>
              <a:buChar char="•"/>
            </a:pPr>
            <a:r>
              <a:rPr lang="en-GB" sz="1000" noProof="0" dirty="0" err="1">
                <a:solidFill>
                  <a:srgbClr val="1A2440"/>
                </a:solidFill>
                <a:latin typeface="Cambria" panose="02040503050406030204" pitchFamily="18" charset="0"/>
                <a:ea typeface="Cambria" panose="02040503050406030204" pitchFamily="18" charset="0"/>
                <a:cs typeface="Calibri" pitchFamily="34" charset="-120"/>
              </a:rPr>
              <a:t>BetaGeoFitter</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models the purchase frequency and dropout process simultaneously.</a:t>
            </a:r>
          </a:p>
          <a:p>
            <a:pPr marL="171450" indent="-171450">
              <a:spcAft>
                <a:spcPts val="100"/>
              </a:spcAft>
              <a:buFont typeface="Arial" panose="020B0604020202020204" pitchFamily="34" charset="0"/>
              <a:buChar char="•"/>
            </a:pPr>
            <a:r>
              <a:rPr lang="en-GB" sz="1000" noProof="0" dirty="0" err="1">
                <a:solidFill>
                  <a:srgbClr val="1A2440"/>
                </a:solidFill>
                <a:latin typeface="Cambria" panose="02040503050406030204" pitchFamily="18" charset="0"/>
                <a:ea typeface="Cambria" panose="02040503050406030204" pitchFamily="18" charset="0"/>
                <a:cs typeface="Calibri" pitchFamily="34" charset="-120"/>
              </a:rPr>
              <a:t>GammaGammaFitter</a:t>
            </a:r>
            <a:r>
              <a:rPr lang="en-GB" sz="1000" noProof="0" dirty="0">
                <a:solidFill>
                  <a:srgbClr val="1A2440"/>
                </a:solidFill>
                <a:latin typeface="Cambria" panose="02040503050406030204" pitchFamily="18" charset="0"/>
                <a:ea typeface="Cambria" panose="02040503050406030204" pitchFamily="18" charset="0"/>
                <a:cs typeface="Calibri" pitchFamily="34" charset="-120"/>
              </a:rPr>
              <a:t> models the monetary value of transactions, assuming each customer has an individual mean spend drawn from a Gamma distribution.</a:t>
            </a:r>
          </a:p>
        </p:txBody>
      </p:sp>
      <p:sp>
        <p:nvSpPr>
          <p:cNvPr id="7" name="Text 4"/>
          <p:cNvSpPr/>
          <p:nvPr/>
        </p:nvSpPr>
        <p:spPr>
          <a:xfrm>
            <a:off x="274320" y="3017520"/>
            <a:ext cx="3840480" cy="256032"/>
          </a:xfrm>
          <a:prstGeom prst="rect">
            <a:avLst/>
          </a:prstGeom>
          <a:noFill/>
          <a:ln/>
        </p:spPr>
        <p:txBody>
          <a:bodyPr wrap="square" lIns="0" tIns="0" rIns="0" bIns="0" rtlCol="0" anchor="ctr"/>
          <a:lstStyle/>
          <a:p>
            <a:pPr marL="0" indent="0" algn="l">
              <a:buNone/>
            </a:pPr>
            <a:endParaRPr lang="en-GB" sz="1000" noProof="0" dirty="0"/>
          </a:p>
        </p:txBody>
      </p:sp>
      <p:sp>
        <p:nvSpPr>
          <p:cNvPr id="8" name="Text 5"/>
          <p:cNvSpPr/>
          <p:nvPr/>
        </p:nvSpPr>
        <p:spPr>
          <a:xfrm>
            <a:off x="274320" y="3140964"/>
            <a:ext cx="4160520" cy="1760220"/>
          </a:xfrm>
          <a:prstGeom prst="rect">
            <a:avLst/>
          </a:prstGeom>
          <a:noFill/>
          <a:ln/>
        </p:spPr>
        <p:txBody>
          <a:bodyPr wrap="square" lIns="0" tIns="0" rIns="0" bIns="0" rtlCol="0" anchor="t"/>
          <a:lstStyle/>
          <a:p>
            <a:pPr marL="0" indent="0">
              <a:spcAft>
                <a:spcPts val="100"/>
              </a:spcAft>
              <a:buNone/>
            </a:pPr>
            <a:r>
              <a:rPr lang="en-GB" sz="1000" noProof="0" dirty="0">
                <a:latin typeface="Cambria" panose="02040503050406030204" pitchFamily="18" charset="0"/>
                <a:ea typeface="Cambria" panose="02040503050406030204" pitchFamily="18" charset="0"/>
              </a:rPr>
              <a:t>The two models were combined to predict individual CLV over a 52-week horizon (after 104 of training) using a monthly discount rate of 1%, reflecting the time value of money.</a:t>
            </a:r>
          </a:p>
          <a:p>
            <a:pPr marL="0" indent="0">
              <a:spcAft>
                <a:spcPts val="100"/>
              </a:spcAft>
              <a:buNone/>
            </a:pPr>
            <a:endParaRPr lang="en-GB" sz="1000" noProof="0" dirty="0">
              <a:latin typeface="Cambria" panose="02040503050406030204" pitchFamily="18" charset="0"/>
              <a:ea typeface="Cambria" panose="02040503050406030204" pitchFamily="18" charset="0"/>
            </a:endParaRPr>
          </a:p>
          <a:p>
            <a:pPr marL="0" indent="0">
              <a:spcAft>
                <a:spcPts val="100"/>
              </a:spcAft>
              <a:buNone/>
            </a:pPr>
            <a:r>
              <a:rPr lang="en-GB" sz="1000" noProof="0" dirty="0">
                <a:latin typeface="Cambria" panose="02040503050406030204" pitchFamily="18" charset="0"/>
                <a:ea typeface="Cambria" panose="02040503050406030204" pitchFamily="18" charset="0"/>
              </a:rPr>
              <a:t>The predictive model covered 7,369 customers (86.6% of base; 1,141 excluded due to zero monetary value causing log-likelihood instability). </a:t>
            </a:r>
          </a:p>
          <a:p>
            <a:pPr>
              <a:spcAft>
                <a:spcPts val="100"/>
              </a:spcAft>
            </a:pPr>
            <a:r>
              <a:rPr lang="en-GB" sz="1000" noProof="0" dirty="0">
                <a:latin typeface="Cambria" panose="02040503050406030204" pitchFamily="18" charset="0"/>
                <a:ea typeface="Cambria" panose="02040503050406030204" pitchFamily="18" charset="0"/>
              </a:rPr>
              <a:t>All top 20 customers exhibit high recency relative to T (recency ≈ T), confirming they remained active throughout the observation window and are likely to continue purchasing in the prediction horizon.</a:t>
            </a:r>
          </a:p>
          <a:p>
            <a:pPr>
              <a:spcAft>
                <a:spcPts val="100"/>
              </a:spcAft>
            </a:pPr>
            <a:r>
              <a:rPr lang="en-GB" sz="1000" noProof="0" dirty="0">
                <a:latin typeface="Cambria" panose="02040503050406030204" pitchFamily="18" charset="0"/>
                <a:ea typeface="Cambria" panose="02040503050406030204" pitchFamily="18" charset="0"/>
              </a:rPr>
              <a:t>The distribution of the CLV prediction and the evaluation metrics are displayed on the right.</a:t>
            </a:r>
          </a:p>
        </p:txBody>
      </p:sp>
      <p:sp>
        <p:nvSpPr>
          <p:cNvPr id="11" name="Shape 8"/>
          <p:cNvSpPr/>
          <p:nvPr/>
        </p:nvSpPr>
        <p:spPr>
          <a:xfrm>
            <a:off x="4709160" y="3931920"/>
            <a:ext cx="1298448" cy="969264"/>
          </a:xfrm>
          <a:prstGeom prst="roundRect">
            <a:avLst>
              <a:gd name="adj" fmla="val 7692"/>
            </a:avLst>
          </a:prstGeom>
          <a:solidFill>
            <a:srgbClr val="1E2761"/>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12" name="Text 9"/>
          <p:cNvSpPr/>
          <p:nvPr/>
        </p:nvSpPr>
        <p:spPr>
          <a:xfrm>
            <a:off x="4709160" y="3986788"/>
            <a:ext cx="1298448" cy="436096"/>
          </a:xfrm>
          <a:prstGeom prst="rect">
            <a:avLst/>
          </a:prstGeom>
          <a:noFill/>
          <a:ln/>
        </p:spPr>
        <p:txBody>
          <a:bodyPr wrap="square" lIns="0" tIns="0" rIns="0" bIns="0" rtlCol="0" anchor="ctr"/>
          <a:lstStyle/>
          <a:p>
            <a:pPr marL="0" indent="0" algn="ctr">
              <a:buNone/>
            </a:pPr>
            <a:r>
              <a:rPr lang="en-GB" sz="2400" b="1" noProof="0" dirty="0">
                <a:solidFill>
                  <a:srgbClr val="CADCFC"/>
                </a:solidFill>
                <a:latin typeface="Cambria" pitchFamily="34" charset="0"/>
                <a:ea typeface="Cambria" pitchFamily="34" charset="-122"/>
                <a:cs typeface="Cambria" pitchFamily="34" charset="-120"/>
              </a:rPr>
              <a:t>2.345</a:t>
            </a:r>
            <a:endParaRPr lang="en-GB" sz="2400" noProof="0" dirty="0"/>
          </a:p>
        </p:txBody>
      </p:sp>
      <p:sp>
        <p:nvSpPr>
          <p:cNvPr id="13" name="Text 10"/>
          <p:cNvSpPr/>
          <p:nvPr/>
        </p:nvSpPr>
        <p:spPr>
          <a:xfrm>
            <a:off x="4709160" y="4352544"/>
            <a:ext cx="1298448" cy="256032"/>
          </a:xfrm>
          <a:prstGeom prst="rect">
            <a:avLst/>
          </a:prstGeom>
          <a:noFill/>
          <a:ln/>
        </p:spPr>
        <p:txBody>
          <a:bodyPr wrap="square" lIns="0" tIns="0" rIns="0" bIns="0" rtlCol="0" anchor="ctr"/>
          <a:lstStyle/>
          <a:p>
            <a:pPr marL="0" indent="0" algn="ctr">
              <a:buNone/>
            </a:pPr>
            <a:r>
              <a:rPr lang="en-GB" sz="1200" b="1" noProof="0" dirty="0">
                <a:solidFill>
                  <a:srgbClr val="FFFFFF"/>
                </a:solidFill>
                <a:latin typeface="Calibri" pitchFamily="34" charset="0"/>
                <a:ea typeface="Calibri" pitchFamily="34" charset="-122"/>
                <a:cs typeface="Calibri" pitchFamily="34" charset="-120"/>
              </a:rPr>
              <a:t>RMSE</a:t>
            </a:r>
            <a:endParaRPr lang="en-GB" sz="1200" noProof="0" dirty="0"/>
          </a:p>
        </p:txBody>
      </p:sp>
      <p:sp>
        <p:nvSpPr>
          <p:cNvPr id="14" name="Text 11"/>
          <p:cNvSpPr/>
          <p:nvPr/>
        </p:nvSpPr>
        <p:spPr>
          <a:xfrm>
            <a:off x="4709160" y="4608576"/>
            <a:ext cx="1298448" cy="201168"/>
          </a:xfrm>
          <a:prstGeom prst="rect">
            <a:avLst/>
          </a:prstGeom>
          <a:noFill/>
          <a:ln/>
        </p:spPr>
        <p:txBody>
          <a:bodyPr wrap="square" lIns="0" tIns="0" rIns="0" bIns="0" rtlCol="0" anchor="ctr"/>
          <a:lstStyle/>
          <a:p>
            <a:pPr marL="0" indent="0" algn="ctr">
              <a:buNone/>
            </a:pPr>
            <a:r>
              <a:rPr lang="en-GB" sz="800" noProof="0" dirty="0">
                <a:solidFill>
                  <a:srgbClr val="8094C8"/>
                </a:solidFill>
                <a:latin typeface="Calibri" pitchFamily="34" charset="0"/>
                <a:ea typeface="Calibri" pitchFamily="34" charset="-122"/>
                <a:cs typeface="Calibri" pitchFamily="34" charset="-120"/>
              </a:rPr>
              <a:t>Holdout period</a:t>
            </a:r>
            <a:endParaRPr lang="en-GB" sz="800" noProof="0" dirty="0"/>
          </a:p>
        </p:txBody>
      </p:sp>
      <p:sp>
        <p:nvSpPr>
          <p:cNvPr id="15" name="Shape 12"/>
          <p:cNvSpPr/>
          <p:nvPr/>
        </p:nvSpPr>
        <p:spPr>
          <a:xfrm>
            <a:off x="6099048" y="3931920"/>
            <a:ext cx="1298448" cy="969264"/>
          </a:xfrm>
          <a:prstGeom prst="roundRect">
            <a:avLst>
              <a:gd name="adj" fmla="val 7692"/>
            </a:avLst>
          </a:prstGeom>
          <a:solidFill>
            <a:srgbClr val="1E2761"/>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16" name="Text 13"/>
          <p:cNvSpPr/>
          <p:nvPr/>
        </p:nvSpPr>
        <p:spPr>
          <a:xfrm>
            <a:off x="6099048" y="3986788"/>
            <a:ext cx="1298448" cy="436096"/>
          </a:xfrm>
          <a:prstGeom prst="rect">
            <a:avLst/>
          </a:prstGeom>
          <a:noFill/>
          <a:ln/>
        </p:spPr>
        <p:txBody>
          <a:bodyPr wrap="square" lIns="0" tIns="0" rIns="0" bIns="0" rtlCol="0" anchor="ctr"/>
          <a:lstStyle/>
          <a:p>
            <a:pPr marL="0" indent="0" algn="ctr">
              <a:buNone/>
            </a:pPr>
            <a:r>
              <a:rPr lang="en-GB" sz="2400" b="1" noProof="0" dirty="0">
                <a:solidFill>
                  <a:srgbClr val="CADCFC"/>
                </a:solidFill>
                <a:latin typeface="Cambria" pitchFamily="34" charset="0"/>
                <a:ea typeface="Cambria" pitchFamily="34" charset="-122"/>
                <a:cs typeface="Cambria" pitchFamily="34" charset="-120"/>
              </a:rPr>
              <a:t>1.783</a:t>
            </a:r>
            <a:endParaRPr lang="en-GB" sz="2400" noProof="0" dirty="0"/>
          </a:p>
        </p:txBody>
      </p:sp>
      <p:sp>
        <p:nvSpPr>
          <p:cNvPr id="17" name="Text 14"/>
          <p:cNvSpPr/>
          <p:nvPr/>
        </p:nvSpPr>
        <p:spPr>
          <a:xfrm>
            <a:off x="6099048" y="4352544"/>
            <a:ext cx="1298448" cy="256032"/>
          </a:xfrm>
          <a:prstGeom prst="rect">
            <a:avLst/>
          </a:prstGeom>
          <a:noFill/>
          <a:ln/>
        </p:spPr>
        <p:txBody>
          <a:bodyPr wrap="square" lIns="0" tIns="0" rIns="0" bIns="0" rtlCol="0" anchor="ctr"/>
          <a:lstStyle/>
          <a:p>
            <a:pPr marL="0" indent="0" algn="ctr">
              <a:buNone/>
            </a:pPr>
            <a:r>
              <a:rPr lang="en-GB" sz="1200" b="1" noProof="0" dirty="0">
                <a:solidFill>
                  <a:srgbClr val="FFFFFF"/>
                </a:solidFill>
                <a:latin typeface="Calibri" pitchFamily="34" charset="0"/>
                <a:ea typeface="Calibri" pitchFamily="34" charset="-122"/>
                <a:cs typeface="Calibri" pitchFamily="34" charset="-120"/>
              </a:rPr>
              <a:t>MAE</a:t>
            </a:r>
            <a:endParaRPr lang="en-GB" sz="1200" noProof="0" dirty="0"/>
          </a:p>
        </p:txBody>
      </p:sp>
      <p:sp>
        <p:nvSpPr>
          <p:cNvPr id="18" name="Text 15"/>
          <p:cNvSpPr/>
          <p:nvPr/>
        </p:nvSpPr>
        <p:spPr>
          <a:xfrm>
            <a:off x="6099048" y="4608576"/>
            <a:ext cx="1298448" cy="201168"/>
          </a:xfrm>
          <a:prstGeom prst="rect">
            <a:avLst/>
          </a:prstGeom>
          <a:noFill/>
          <a:ln/>
        </p:spPr>
        <p:txBody>
          <a:bodyPr wrap="square" lIns="0" tIns="0" rIns="0" bIns="0" rtlCol="0" anchor="ctr"/>
          <a:lstStyle/>
          <a:p>
            <a:pPr marL="0" indent="0" algn="ctr">
              <a:buNone/>
            </a:pPr>
            <a:r>
              <a:rPr lang="en-GB" sz="800" noProof="0" dirty="0">
                <a:solidFill>
                  <a:srgbClr val="8094C8"/>
                </a:solidFill>
                <a:latin typeface="Calibri" pitchFamily="34" charset="0"/>
                <a:ea typeface="Calibri" pitchFamily="34" charset="-122"/>
                <a:cs typeface="Calibri" pitchFamily="34" charset="-120"/>
              </a:rPr>
              <a:t>Holdout period</a:t>
            </a:r>
            <a:endParaRPr lang="en-GB" sz="800" noProof="0" dirty="0"/>
          </a:p>
        </p:txBody>
      </p:sp>
      <p:sp>
        <p:nvSpPr>
          <p:cNvPr id="19" name="Shape 16"/>
          <p:cNvSpPr/>
          <p:nvPr/>
        </p:nvSpPr>
        <p:spPr>
          <a:xfrm>
            <a:off x="7488936" y="3931920"/>
            <a:ext cx="1298448" cy="969264"/>
          </a:xfrm>
          <a:prstGeom prst="roundRect">
            <a:avLst>
              <a:gd name="adj" fmla="val 7692"/>
            </a:avLst>
          </a:prstGeom>
          <a:solidFill>
            <a:srgbClr val="1E2761"/>
          </a:solidFill>
          <a:ln w="12700">
            <a:solidFill>
              <a:srgbClr val="1E2761"/>
            </a:solidFill>
            <a:prstDash val="solid"/>
          </a:ln>
          <a:effectLst>
            <a:outerShdw blurRad="101600" dist="38100" dir="2700000" algn="bl" rotWithShape="0">
              <a:srgbClr val="000000">
                <a:alpha val="12000"/>
              </a:srgbClr>
            </a:outerShdw>
          </a:effectLst>
        </p:spPr>
        <p:txBody>
          <a:bodyPr/>
          <a:lstStyle/>
          <a:p>
            <a:endParaRPr lang="en-GB" noProof="0" dirty="0"/>
          </a:p>
        </p:txBody>
      </p:sp>
      <p:sp>
        <p:nvSpPr>
          <p:cNvPr id="20" name="Text 17"/>
          <p:cNvSpPr/>
          <p:nvPr/>
        </p:nvSpPr>
        <p:spPr>
          <a:xfrm>
            <a:off x="7488936" y="3986788"/>
            <a:ext cx="1298448" cy="436096"/>
          </a:xfrm>
          <a:prstGeom prst="rect">
            <a:avLst/>
          </a:prstGeom>
          <a:noFill/>
          <a:ln/>
        </p:spPr>
        <p:txBody>
          <a:bodyPr wrap="square" lIns="0" tIns="0" rIns="0" bIns="0" rtlCol="0" anchor="ctr"/>
          <a:lstStyle/>
          <a:p>
            <a:pPr marL="0" indent="0" algn="ctr">
              <a:buNone/>
            </a:pPr>
            <a:r>
              <a:rPr lang="en-GB" sz="2400" b="1" noProof="0" dirty="0">
                <a:solidFill>
                  <a:srgbClr val="CADCFC"/>
                </a:solidFill>
                <a:latin typeface="Cambria" pitchFamily="34" charset="0"/>
                <a:ea typeface="Cambria" pitchFamily="34" charset="-122"/>
                <a:cs typeface="Cambria" pitchFamily="34" charset="-120"/>
              </a:rPr>
              <a:t>0.426</a:t>
            </a:r>
            <a:endParaRPr lang="en-GB" sz="2400" noProof="0" dirty="0"/>
          </a:p>
        </p:txBody>
      </p:sp>
      <p:sp>
        <p:nvSpPr>
          <p:cNvPr id="21" name="Text 18"/>
          <p:cNvSpPr/>
          <p:nvPr/>
        </p:nvSpPr>
        <p:spPr>
          <a:xfrm>
            <a:off x="7488936" y="4352544"/>
            <a:ext cx="1298448" cy="256032"/>
          </a:xfrm>
          <a:prstGeom prst="rect">
            <a:avLst/>
          </a:prstGeom>
          <a:noFill/>
          <a:ln/>
        </p:spPr>
        <p:txBody>
          <a:bodyPr wrap="square" lIns="0" tIns="0" rIns="0" bIns="0" rtlCol="0" anchor="ctr"/>
          <a:lstStyle/>
          <a:p>
            <a:pPr marL="0" indent="0" algn="ctr">
              <a:buNone/>
            </a:pPr>
            <a:r>
              <a:rPr lang="en-GB" sz="1200" b="1" noProof="0" dirty="0">
                <a:solidFill>
                  <a:srgbClr val="FFFFFF"/>
                </a:solidFill>
                <a:latin typeface="Calibri" pitchFamily="34" charset="0"/>
                <a:ea typeface="Calibri" pitchFamily="34" charset="-122"/>
                <a:cs typeface="Calibri" pitchFamily="34" charset="-120"/>
              </a:rPr>
              <a:t>R²</a:t>
            </a:r>
            <a:endParaRPr lang="en-GB" sz="1200" noProof="0" dirty="0"/>
          </a:p>
        </p:txBody>
      </p:sp>
      <p:sp>
        <p:nvSpPr>
          <p:cNvPr id="22" name="Text 19"/>
          <p:cNvSpPr/>
          <p:nvPr/>
        </p:nvSpPr>
        <p:spPr>
          <a:xfrm>
            <a:off x="7488936" y="4608576"/>
            <a:ext cx="1298448" cy="201168"/>
          </a:xfrm>
          <a:prstGeom prst="rect">
            <a:avLst/>
          </a:prstGeom>
          <a:noFill/>
          <a:ln/>
        </p:spPr>
        <p:txBody>
          <a:bodyPr wrap="square" lIns="0" tIns="0" rIns="0" bIns="0" rtlCol="0" anchor="ctr"/>
          <a:lstStyle/>
          <a:p>
            <a:pPr marL="0" indent="0" algn="ctr">
              <a:buNone/>
            </a:pPr>
            <a:r>
              <a:rPr lang="en-GB" sz="800" noProof="0" dirty="0">
                <a:solidFill>
                  <a:srgbClr val="8094C8"/>
                </a:solidFill>
                <a:latin typeface="Calibri" pitchFamily="34" charset="0"/>
                <a:ea typeface="Calibri" pitchFamily="34" charset="-122"/>
                <a:cs typeface="Calibri" pitchFamily="34" charset="-120"/>
              </a:rPr>
              <a:t>Holdout period</a:t>
            </a:r>
            <a:endParaRPr lang="en-GB" sz="800" noProof="0" dirty="0"/>
          </a:p>
        </p:txBody>
      </p:sp>
      <p:sp>
        <p:nvSpPr>
          <p:cNvPr id="28" name="Shape 1">
            <a:extLst>
              <a:ext uri="{FF2B5EF4-FFF2-40B4-BE49-F238E27FC236}">
                <a16:creationId xmlns:a16="http://schemas.microsoft.com/office/drawing/2014/main" id="{0D58C238-B28F-AFB9-AD10-C39078A98745}"/>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GB" noProof="0" dirty="0"/>
          </a:p>
        </p:txBody>
      </p:sp>
      <p:sp>
        <p:nvSpPr>
          <p:cNvPr id="30" name="Text 2">
            <a:extLst>
              <a:ext uri="{FF2B5EF4-FFF2-40B4-BE49-F238E27FC236}">
                <a16:creationId xmlns:a16="http://schemas.microsoft.com/office/drawing/2014/main" id="{46B1BE59-A53F-74D7-37ED-E9AF4FD41F67}"/>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GB" sz="1300" b="1" noProof="0" dirty="0">
                <a:solidFill>
                  <a:srgbClr val="CADCFC"/>
                </a:solidFill>
              </a:rPr>
              <a:t>05</a:t>
            </a:r>
            <a:endParaRPr lang="en-GB" sz="1300" noProof="0" dirty="0"/>
          </a:p>
        </p:txBody>
      </p:sp>
      <p:sp>
        <p:nvSpPr>
          <p:cNvPr id="32" name="Text 0">
            <a:extLst>
              <a:ext uri="{FF2B5EF4-FFF2-40B4-BE49-F238E27FC236}">
                <a16:creationId xmlns:a16="http://schemas.microsoft.com/office/drawing/2014/main" id="{1F370D6D-21A9-C271-96ED-9B172CE23A0B}"/>
              </a:ext>
            </a:extLst>
          </p:cNvPr>
          <p:cNvSpPr/>
          <p:nvPr/>
        </p:nvSpPr>
        <p:spPr>
          <a:xfrm>
            <a:off x="274319" y="42203"/>
            <a:ext cx="1055077" cy="274320"/>
          </a:xfrm>
          <a:prstGeom prst="rect">
            <a:avLst/>
          </a:prstGeom>
          <a:noFill/>
          <a:ln/>
        </p:spPr>
        <p:txBody>
          <a:bodyPr wrap="square" lIns="0" tIns="0" rIns="0" bIns="0" rtlCol="0" anchor="ctr"/>
          <a:lstStyle/>
          <a:p>
            <a:r>
              <a:rPr lang="en-GB" sz="900" b="1" kern="0" spc="200" noProof="0" dirty="0">
                <a:solidFill>
                  <a:srgbClr val="CADCFC"/>
                </a:solidFill>
                <a:latin typeface="Cambria" panose="02040503050406030204" pitchFamily="18" charset="0"/>
                <a:ea typeface="Cambria" panose="02040503050406030204" pitchFamily="18" charset="0"/>
              </a:rPr>
              <a:t>PART E</a:t>
            </a:r>
            <a:endParaRPr lang="en-GB" sz="900" noProof="0" dirty="0"/>
          </a:p>
        </p:txBody>
      </p:sp>
      <p:pic>
        <p:nvPicPr>
          <p:cNvPr id="36" name="Immagine 35">
            <a:extLst>
              <a:ext uri="{FF2B5EF4-FFF2-40B4-BE49-F238E27FC236}">
                <a16:creationId xmlns:a16="http://schemas.microsoft.com/office/drawing/2014/main" id="{1A7EC47A-DA2A-A449-715A-A4628DCE645F}"/>
              </a:ext>
            </a:extLst>
          </p:cNvPr>
          <p:cNvPicPr>
            <a:picLocks noChangeAspect="1"/>
          </p:cNvPicPr>
          <p:nvPr/>
        </p:nvPicPr>
        <p:blipFill>
          <a:blip r:embed="rId3"/>
          <a:srcRect r="50000"/>
          <a:stretch>
            <a:fillRect/>
          </a:stretch>
        </p:blipFill>
        <p:spPr>
          <a:xfrm>
            <a:off x="5029202" y="890485"/>
            <a:ext cx="3195826" cy="294999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GB" noProof="0" dirty="0"/>
          </a:p>
        </p:txBody>
      </p:sp>
      <p:sp>
        <p:nvSpPr>
          <p:cNvPr id="4" name="Text 1"/>
          <p:cNvSpPr/>
          <p:nvPr/>
        </p:nvSpPr>
        <p:spPr>
          <a:xfrm>
            <a:off x="274319" y="337141"/>
            <a:ext cx="8229600" cy="338460"/>
          </a:xfrm>
          <a:prstGeom prst="rect">
            <a:avLst/>
          </a:prstGeom>
          <a:noFill/>
          <a:ln/>
        </p:spPr>
        <p:txBody>
          <a:bodyPr wrap="square" lIns="0" tIns="0" rIns="0" bIns="0" rtlCol="0" anchor="ctr"/>
          <a:lstStyle/>
          <a:p>
            <a:pPr marL="0" indent="0" algn="l">
              <a:buNone/>
            </a:pPr>
            <a:r>
              <a:rPr lang="en-GB" sz="2800" b="1" noProof="0" dirty="0">
                <a:solidFill>
                  <a:srgbClr val="FFFFFF"/>
                </a:solidFill>
                <a:latin typeface="EucrosiaUPC" panose="02020603050405020304" pitchFamily="18" charset="-34"/>
                <a:ea typeface="Cambria" pitchFamily="34" charset="-122"/>
                <a:cs typeface="EucrosiaUPC" panose="02020603050405020304" pitchFamily="18" charset="-34"/>
              </a:rPr>
              <a:t>5. Customer Segmentation</a:t>
            </a:r>
            <a:endParaRPr lang="en-GB" sz="2800" noProof="0" dirty="0">
              <a:latin typeface="EucrosiaUPC" panose="02020603050405020304" pitchFamily="18" charset="-34"/>
              <a:cs typeface="EucrosiaUPC" panose="02020603050405020304" pitchFamily="18" charset="-34"/>
            </a:endParaRPr>
          </a:p>
        </p:txBody>
      </p:sp>
      <p:sp>
        <p:nvSpPr>
          <p:cNvPr id="5" name="Text 2"/>
          <p:cNvSpPr/>
          <p:nvPr/>
        </p:nvSpPr>
        <p:spPr>
          <a:xfrm>
            <a:off x="274320" y="886968"/>
            <a:ext cx="8595360" cy="384322"/>
          </a:xfrm>
          <a:prstGeom prst="rect">
            <a:avLst/>
          </a:prstGeom>
          <a:noFill/>
          <a:ln/>
        </p:spPr>
        <p:txBody>
          <a:bodyPr wrap="square" lIns="0" tIns="0" rIns="0" bIns="0" rtlCol="0" anchor="t"/>
          <a:lstStyle/>
          <a:p>
            <a:pPr>
              <a:spcAft>
                <a:spcPts val="100"/>
              </a:spcAft>
            </a:pPr>
            <a:r>
              <a:rPr lang="en-GB" sz="1000" dirty="0">
                <a:solidFill>
                  <a:srgbClr val="1A2440"/>
                </a:solidFill>
                <a:latin typeface="Cambria" panose="02040503050406030204" pitchFamily="18" charset="0"/>
                <a:ea typeface="Cambria" panose="02040503050406030204" pitchFamily="18" charset="0"/>
                <a:cs typeface="Calibri" pitchFamily="34" charset="-120"/>
              </a:rPr>
              <a:t>Segmentation is based on descriptive CLV rather than predicted CLV, realized behaviour provides a more stable and interpretable basis for tier assignment without dependence on model assumptions about future purchasing.</a:t>
            </a:r>
          </a:p>
        </p:txBody>
      </p:sp>
      <p:sp>
        <p:nvSpPr>
          <p:cNvPr id="6" name="Shape 3"/>
          <p:cNvSpPr/>
          <p:nvPr/>
        </p:nvSpPr>
        <p:spPr>
          <a:xfrm>
            <a:off x="244273" y="1517808"/>
            <a:ext cx="1612247" cy="2105967"/>
          </a:xfrm>
          <a:prstGeom prst="roundRect">
            <a:avLst>
              <a:gd name="adj" fmla="val 5263"/>
            </a:avLst>
          </a:prstGeom>
          <a:solidFill>
            <a:srgbClr val="2D4A96"/>
          </a:solidFill>
          <a:ln w="12700">
            <a:solidFill>
              <a:srgbClr val="3A5BA0"/>
            </a:solidFill>
            <a:prstDash val="solid"/>
          </a:ln>
          <a:effectLst>
            <a:outerShdw blurRad="101600" dist="38100" dir="2700000" algn="bl" rotWithShape="0">
              <a:srgbClr val="000000">
                <a:alpha val="12000"/>
              </a:srgbClr>
            </a:outerShdw>
          </a:effectLst>
        </p:spPr>
        <p:txBody>
          <a:bodyPr/>
          <a:lstStyle/>
          <a:p>
            <a:endParaRPr lang="en-GB" noProof="0" dirty="0">
              <a:latin typeface="Cambria" panose="02040503050406030204" pitchFamily="18" charset="0"/>
              <a:ea typeface="Cambria" panose="02040503050406030204" pitchFamily="18" charset="0"/>
            </a:endParaRPr>
          </a:p>
        </p:txBody>
      </p:sp>
      <p:sp>
        <p:nvSpPr>
          <p:cNvPr id="7" name="Shape 4"/>
          <p:cNvSpPr/>
          <p:nvPr/>
        </p:nvSpPr>
        <p:spPr>
          <a:xfrm>
            <a:off x="244273" y="1423044"/>
            <a:ext cx="1612247" cy="303805"/>
          </a:xfrm>
          <a:prstGeom prst="roundRect">
            <a:avLst>
              <a:gd name="adj" fmla="val 15789"/>
            </a:avLst>
          </a:prstGeom>
          <a:solidFill>
            <a:srgbClr val="00B0F0"/>
          </a:solidFill>
          <a:ln w="12700">
            <a:solidFill>
              <a:srgbClr val="00B0F0"/>
            </a:solidFill>
            <a:prstDash val="solid"/>
          </a:ln>
        </p:spPr>
        <p:txBody>
          <a:bodyPr/>
          <a:lstStyle/>
          <a:p>
            <a:endParaRPr lang="en-GB" noProof="0" dirty="0">
              <a:latin typeface="Cambria" panose="02040503050406030204" pitchFamily="18" charset="0"/>
              <a:ea typeface="Cambria" panose="02040503050406030204" pitchFamily="18" charset="0"/>
            </a:endParaRPr>
          </a:p>
        </p:txBody>
      </p:sp>
      <p:sp>
        <p:nvSpPr>
          <p:cNvPr id="8" name="Text 5"/>
          <p:cNvSpPr/>
          <p:nvPr/>
        </p:nvSpPr>
        <p:spPr>
          <a:xfrm>
            <a:off x="244273" y="1423044"/>
            <a:ext cx="1612247" cy="303805"/>
          </a:xfrm>
          <a:prstGeom prst="rect">
            <a:avLst/>
          </a:prstGeom>
          <a:noFill/>
          <a:ln/>
        </p:spPr>
        <p:txBody>
          <a:bodyPr wrap="square" lIns="0" tIns="0" rIns="0" bIns="0" rtlCol="0" anchor="ctr"/>
          <a:lstStyle/>
          <a:p>
            <a:pPr marL="0" indent="0" algn="ctr">
              <a:buNone/>
            </a:pPr>
            <a:r>
              <a:rPr lang="en-GB" sz="1300" b="1" noProof="0" dirty="0">
                <a:solidFill>
                  <a:srgbClr val="FFFFFF"/>
                </a:solidFill>
                <a:latin typeface="Cambria" panose="02040503050406030204" pitchFamily="18" charset="0"/>
                <a:ea typeface="Cambria" panose="02040503050406030204" pitchFamily="18" charset="0"/>
                <a:cs typeface="Cambria" pitchFamily="34" charset="-120"/>
              </a:rPr>
              <a:t>PLATINUM</a:t>
            </a:r>
            <a:endParaRPr lang="en-GB" sz="1300" noProof="0" dirty="0">
              <a:latin typeface="Cambria" panose="02040503050406030204" pitchFamily="18" charset="0"/>
              <a:ea typeface="Cambria" panose="02040503050406030204" pitchFamily="18" charset="0"/>
            </a:endParaRPr>
          </a:p>
        </p:txBody>
      </p:sp>
      <p:sp>
        <p:nvSpPr>
          <p:cNvPr id="9" name="Text 6"/>
          <p:cNvSpPr/>
          <p:nvPr/>
        </p:nvSpPr>
        <p:spPr>
          <a:xfrm>
            <a:off x="134545" y="1805430"/>
            <a:ext cx="1801923" cy="199871"/>
          </a:xfrm>
          <a:prstGeom prst="rect">
            <a:avLst/>
          </a:prstGeom>
          <a:noFill/>
          <a:ln/>
        </p:spPr>
        <p:txBody>
          <a:bodyPr wrap="square" lIns="0" tIns="0" rIns="0" bIns="0" rtlCol="0" anchor="ctr"/>
          <a:lstStyle/>
          <a:p>
            <a:pPr marL="0" indent="0" algn="ctr">
              <a:buNone/>
            </a:pPr>
            <a:r>
              <a:rPr lang="en-GB" sz="900" b="1" kern="0" spc="100" noProof="0" dirty="0">
                <a:solidFill>
                  <a:srgbClr val="AED8E6"/>
                </a:solidFill>
                <a:latin typeface="Cambria" panose="02040503050406030204" pitchFamily="18" charset="0"/>
                <a:ea typeface="Cambria" panose="02040503050406030204" pitchFamily="18" charset="0"/>
                <a:cs typeface="Calibri" pitchFamily="34" charset="-120"/>
              </a:rPr>
              <a:t>Top 20%</a:t>
            </a:r>
            <a:endParaRPr lang="en-GB" sz="900" noProof="0" dirty="0">
              <a:solidFill>
                <a:srgbClr val="AED8E6"/>
              </a:solidFill>
              <a:latin typeface="Cambria" panose="02040503050406030204" pitchFamily="18" charset="0"/>
              <a:ea typeface="Cambria" panose="02040503050406030204" pitchFamily="18" charset="0"/>
            </a:endParaRPr>
          </a:p>
        </p:txBody>
      </p:sp>
      <p:sp>
        <p:nvSpPr>
          <p:cNvPr id="10" name="Text 7"/>
          <p:cNvSpPr/>
          <p:nvPr/>
        </p:nvSpPr>
        <p:spPr>
          <a:xfrm>
            <a:off x="244273" y="1921018"/>
            <a:ext cx="1612247" cy="335784"/>
          </a:xfrm>
          <a:prstGeom prst="rect">
            <a:avLst/>
          </a:prstGeom>
          <a:noFill/>
          <a:ln/>
        </p:spPr>
        <p:txBody>
          <a:bodyPr wrap="square" lIns="0" tIns="0" rIns="0" bIns="0" rtlCol="0" anchor="ctr"/>
          <a:lstStyle/>
          <a:p>
            <a:pPr marL="0" indent="0" algn="ctr">
              <a:buNone/>
            </a:pPr>
            <a:r>
              <a:rPr lang="en-GB" sz="1600" b="1" noProof="0" dirty="0">
                <a:solidFill>
                  <a:srgbClr val="CADCFC"/>
                </a:solidFill>
                <a:latin typeface="Cambria" panose="02040503050406030204" pitchFamily="18" charset="0"/>
                <a:ea typeface="Cambria" panose="02040503050406030204" pitchFamily="18" charset="0"/>
                <a:cs typeface="Cambria" pitchFamily="34" charset="-120"/>
              </a:rPr>
              <a:t>$10.69 / </a:t>
            </a:r>
            <a:r>
              <a:rPr lang="en-GB" sz="1600" b="1" noProof="0" dirty="0" err="1">
                <a:solidFill>
                  <a:srgbClr val="CADCFC"/>
                </a:solidFill>
                <a:latin typeface="Cambria" panose="02040503050406030204" pitchFamily="18" charset="0"/>
                <a:ea typeface="Cambria" panose="02040503050406030204" pitchFamily="18" charset="0"/>
                <a:cs typeface="Cambria" pitchFamily="34" charset="-120"/>
              </a:rPr>
              <a:t>mo</a:t>
            </a:r>
            <a:endParaRPr lang="en-GB" sz="1600" noProof="0" dirty="0">
              <a:latin typeface="Cambria" panose="02040503050406030204" pitchFamily="18" charset="0"/>
              <a:ea typeface="Cambria" panose="02040503050406030204" pitchFamily="18" charset="0"/>
            </a:endParaRPr>
          </a:p>
        </p:txBody>
      </p:sp>
      <p:sp>
        <p:nvSpPr>
          <p:cNvPr id="11" name="Text 8"/>
          <p:cNvSpPr/>
          <p:nvPr/>
        </p:nvSpPr>
        <p:spPr>
          <a:xfrm>
            <a:off x="134545" y="2190325"/>
            <a:ext cx="1801923" cy="175887"/>
          </a:xfrm>
          <a:prstGeom prst="rect">
            <a:avLst/>
          </a:prstGeom>
          <a:noFill/>
          <a:ln/>
        </p:spPr>
        <p:txBody>
          <a:bodyPr wrap="square" lIns="0" tIns="0" rIns="0" bIns="0" rtlCol="0" anchor="ctr"/>
          <a:lstStyle/>
          <a:p>
            <a:pPr marL="0" indent="0" algn="ctr">
              <a:buNone/>
            </a:pPr>
            <a:r>
              <a:rPr lang="en-GB" sz="900" noProof="0" dirty="0">
                <a:solidFill>
                  <a:srgbClr val="AED8E6"/>
                </a:solidFill>
                <a:latin typeface="Cambria" panose="02040503050406030204" pitchFamily="18" charset="0"/>
                <a:ea typeface="Cambria" panose="02040503050406030204" pitchFamily="18" charset="0"/>
                <a:cs typeface="Calibri" pitchFamily="34" charset="-120"/>
              </a:rPr>
              <a:t>n = 1,702</a:t>
            </a:r>
            <a:endParaRPr lang="en-GB" sz="900" noProof="0" dirty="0">
              <a:solidFill>
                <a:srgbClr val="AED8E6"/>
              </a:solidFill>
              <a:latin typeface="Cambria" panose="02040503050406030204" pitchFamily="18" charset="0"/>
              <a:ea typeface="Cambria" panose="02040503050406030204" pitchFamily="18" charset="0"/>
            </a:endParaRPr>
          </a:p>
        </p:txBody>
      </p:sp>
      <p:sp>
        <p:nvSpPr>
          <p:cNvPr id="12" name="Text 9"/>
          <p:cNvSpPr/>
          <p:nvPr/>
        </p:nvSpPr>
        <p:spPr>
          <a:xfrm>
            <a:off x="225985" y="2418068"/>
            <a:ext cx="1643860" cy="671567"/>
          </a:xfrm>
          <a:prstGeom prst="rect">
            <a:avLst/>
          </a:prstGeom>
          <a:noFill/>
          <a:ln/>
        </p:spPr>
        <p:txBody>
          <a:bodyPr wrap="square" lIns="0" tIns="0" rIns="0" bIns="0" rtlCol="0" anchor="t"/>
          <a:lstStyle/>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90.7 days recency</a:t>
            </a:r>
            <a:endParaRPr lang="en-GB" sz="1000" noProof="0" dirty="0">
              <a:latin typeface="Cambria" panose="02040503050406030204" pitchFamily="18" charset="0"/>
              <a:ea typeface="Cambria" panose="02040503050406030204" pitchFamily="18" charset="0"/>
            </a:endParaRPr>
          </a:p>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15.55 orders </a:t>
            </a:r>
            <a:r>
              <a:rPr lang="en-GB" sz="1000" noProof="0" dirty="0" err="1">
                <a:solidFill>
                  <a:srgbClr val="FFFFFF"/>
                </a:solidFill>
                <a:latin typeface="Cambria" panose="02040503050406030204" pitchFamily="18" charset="0"/>
                <a:ea typeface="Cambria" panose="02040503050406030204" pitchFamily="18" charset="0"/>
                <a:cs typeface="Calibri" pitchFamily="34" charset="-120"/>
              </a:rPr>
              <a:t>avg</a:t>
            </a:r>
            <a:endParaRPr lang="en-GB" sz="1000" noProof="0" dirty="0">
              <a:latin typeface="Cambria" panose="02040503050406030204" pitchFamily="18" charset="0"/>
              <a:ea typeface="Cambria" panose="02040503050406030204" pitchFamily="18" charset="0"/>
            </a:endParaRPr>
          </a:p>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APV $14.78</a:t>
            </a:r>
            <a:endParaRPr lang="en-GB" sz="1000" noProof="0" dirty="0">
              <a:latin typeface="Cambria" panose="02040503050406030204" pitchFamily="18" charset="0"/>
              <a:ea typeface="Cambria" panose="02040503050406030204" pitchFamily="18" charset="0"/>
            </a:endParaRPr>
          </a:p>
        </p:txBody>
      </p:sp>
      <p:sp>
        <p:nvSpPr>
          <p:cNvPr id="13" name="Text 10"/>
          <p:cNvSpPr/>
          <p:nvPr/>
        </p:nvSpPr>
        <p:spPr>
          <a:xfrm>
            <a:off x="318006" y="2935569"/>
            <a:ext cx="1442642" cy="561924"/>
          </a:xfrm>
          <a:prstGeom prst="rect">
            <a:avLst/>
          </a:prstGeom>
          <a:noFill/>
          <a:ln/>
        </p:spPr>
        <p:txBody>
          <a:bodyPr wrap="square" lIns="0" tIns="0" rIns="0" bIns="0" rtlCol="0" anchor="t"/>
          <a:lstStyle/>
          <a:p>
            <a:pPr marL="0" indent="0" algn="ctr">
              <a:buNone/>
            </a:pPr>
            <a:r>
              <a:rPr lang="en-GB" sz="900" i="1" noProof="0" dirty="0">
                <a:solidFill>
                  <a:schemeClr val="bg1"/>
                </a:solidFill>
                <a:latin typeface="Cambria" panose="02040503050406030204" pitchFamily="18" charset="0"/>
                <a:ea typeface="Cambria" panose="02040503050406030204" pitchFamily="18" charset="0"/>
                <a:cs typeface="Calibri" pitchFamily="34" charset="-120"/>
              </a:rPr>
              <a:t>Habitual buyers at churn boundary, highest priority for proactive retention.</a:t>
            </a:r>
            <a:endParaRPr lang="en-GB" sz="900" noProof="0" dirty="0">
              <a:solidFill>
                <a:schemeClr val="bg1"/>
              </a:solidFill>
              <a:latin typeface="Cambria" panose="02040503050406030204" pitchFamily="18" charset="0"/>
              <a:ea typeface="Cambria" panose="02040503050406030204" pitchFamily="18" charset="0"/>
            </a:endParaRPr>
          </a:p>
        </p:txBody>
      </p:sp>
      <p:sp>
        <p:nvSpPr>
          <p:cNvPr id="14" name="Shape 11"/>
          <p:cNvSpPr/>
          <p:nvPr/>
        </p:nvSpPr>
        <p:spPr>
          <a:xfrm>
            <a:off x="1954756" y="1517808"/>
            <a:ext cx="1612247" cy="2105967"/>
          </a:xfrm>
          <a:prstGeom prst="roundRect">
            <a:avLst>
              <a:gd name="adj" fmla="val 5263"/>
            </a:avLst>
          </a:prstGeom>
          <a:solidFill>
            <a:srgbClr val="2D4A96"/>
          </a:solidFill>
          <a:ln w="12700">
            <a:solidFill>
              <a:srgbClr val="3A5BA0"/>
            </a:solidFill>
            <a:prstDash val="solid"/>
          </a:ln>
          <a:effectLst>
            <a:outerShdw blurRad="101600" dist="38100" dir="2700000" algn="bl" rotWithShape="0">
              <a:srgbClr val="000000">
                <a:alpha val="12000"/>
              </a:srgbClr>
            </a:outerShdw>
          </a:effectLst>
        </p:spPr>
        <p:txBody>
          <a:bodyPr/>
          <a:lstStyle/>
          <a:p>
            <a:endParaRPr lang="en-GB" noProof="0" dirty="0">
              <a:latin typeface="Cambria" panose="02040503050406030204" pitchFamily="18" charset="0"/>
              <a:ea typeface="Cambria" panose="02040503050406030204" pitchFamily="18" charset="0"/>
            </a:endParaRPr>
          </a:p>
        </p:txBody>
      </p:sp>
      <p:sp>
        <p:nvSpPr>
          <p:cNvPr id="15" name="Shape 12"/>
          <p:cNvSpPr/>
          <p:nvPr/>
        </p:nvSpPr>
        <p:spPr>
          <a:xfrm>
            <a:off x="1954756" y="1423044"/>
            <a:ext cx="1612247" cy="303805"/>
          </a:xfrm>
          <a:prstGeom prst="roundRect">
            <a:avLst>
              <a:gd name="adj" fmla="val 15789"/>
            </a:avLst>
          </a:prstGeom>
          <a:solidFill>
            <a:srgbClr val="3A5BA0"/>
          </a:solidFill>
          <a:ln w="12700">
            <a:solidFill>
              <a:srgbClr val="3A5BA0"/>
            </a:solidFill>
            <a:prstDash val="solid"/>
          </a:ln>
        </p:spPr>
        <p:txBody>
          <a:bodyPr/>
          <a:lstStyle/>
          <a:p>
            <a:endParaRPr lang="en-GB" noProof="0" dirty="0">
              <a:latin typeface="Cambria" panose="02040503050406030204" pitchFamily="18" charset="0"/>
              <a:ea typeface="Cambria" panose="02040503050406030204" pitchFamily="18" charset="0"/>
            </a:endParaRPr>
          </a:p>
        </p:txBody>
      </p:sp>
      <p:sp>
        <p:nvSpPr>
          <p:cNvPr id="16" name="Text 13"/>
          <p:cNvSpPr/>
          <p:nvPr/>
        </p:nvSpPr>
        <p:spPr>
          <a:xfrm>
            <a:off x="1954756" y="1423044"/>
            <a:ext cx="1612247" cy="303805"/>
          </a:xfrm>
          <a:prstGeom prst="rect">
            <a:avLst/>
          </a:prstGeom>
          <a:noFill/>
          <a:ln/>
        </p:spPr>
        <p:txBody>
          <a:bodyPr wrap="square" lIns="0" tIns="0" rIns="0" bIns="0" rtlCol="0" anchor="ctr"/>
          <a:lstStyle/>
          <a:p>
            <a:pPr marL="0" indent="0" algn="ctr">
              <a:buNone/>
            </a:pPr>
            <a:r>
              <a:rPr lang="en-GB" sz="1300" b="1" noProof="0" dirty="0">
                <a:solidFill>
                  <a:srgbClr val="FFFFFF"/>
                </a:solidFill>
                <a:latin typeface="Cambria" panose="02040503050406030204" pitchFamily="18" charset="0"/>
                <a:ea typeface="Cambria" panose="02040503050406030204" pitchFamily="18" charset="0"/>
                <a:cs typeface="Cambria" pitchFamily="34" charset="-120"/>
              </a:rPr>
              <a:t>GOLD</a:t>
            </a:r>
            <a:endParaRPr lang="en-GB" sz="1300" noProof="0" dirty="0">
              <a:latin typeface="Cambria" panose="02040503050406030204" pitchFamily="18" charset="0"/>
              <a:ea typeface="Cambria" panose="02040503050406030204" pitchFamily="18" charset="0"/>
            </a:endParaRPr>
          </a:p>
        </p:txBody>
      </p:sp>
      <p:sp>
        <p:nvSpPr>
          <p:cNvPr id="17" name="Text 14"/>
          <p:cNvSpPr/>
          <p:nvPr/>
        </p:nvSpPr>
        <p:spPr>
          <a:xfrm>
            <a:off x="1845028" y="1805430"/>
            <a:ext cx="1801923" cy="199871"/>
          </a:xfrm>
          <a:prstGeom prst="rect">
            <a:avLst/>
          </a:prstGeom>
          <a:noFill/>
          <a:ln/>
        </p:spPr>
        <p:txBody>
          <a:bodyPr wrap="square" lIns="0" tIns="0" rIns="0" bIns="0" rtlCol="0" anchor="ctr"/>
          <a:lstStyle/>
          <a:p>
            <a:pPr marL="0" indent="0" algn="ctr">
              <a:buNone/>
            </a:pPr>
            <a:r>
              <a:rPr lang="en-GB" sz="900" b="1" kern="0" spc="100" noProof="0" dirty="0">
                <a:solidFill>
                  <a:srgbClr val="AED8E6"/>
                </a:solidFill>
                <a:latin typeface="Cambria" panose="02040503050406030204" pitchFamily="18" charset="0"/>
                <a:ea typeface="Cambria" panose="02040503050406030204" pitchFamily="18" charset="0"/>
                <a:cs typeface="Calibri" pitchFamily="34" charset="-120"/>
              </a:rPr>
              <a:t>Next 30%</a:t>
            </a:r>
            <a:endParaRPr lang="en-GB" sz="900" noProof="0" dirty="0">
              <a:solidFill>
                <a:srgbClr val="AED8E6"/>
              </a:solidFill>
              <a:latin typeface="Cambria" panose="02040503050406030204" pitchFamily="18" charset="0"/>
              <a:ea typeface="Cambria" panose="02040503050406030204" pitchFamily="18" charset="0"/>
            </a:endParaRPr>
          </a:p>
        </p:txBody>
      </p:sp>
      <p:sp>
        <p:nvSpPr>
          <p:cNvPr id="18" name="Text 15"/>
          <p:cNvSpPr/>
          <p:nvPr/>
        </p:nvSpPr>
        <p:spPr>
          <a:xfrm>
            <a:off x="1954756" y="1921018"/>
            <a:ext cx="1612247" cy="335784"/>
          </a:xfrm>
          <a:prstGeom prst="rect">
            <a:avLst/>
          </a:prstGeom>
          <a:noFill/>
          <a:ln/>
        </p:spPr>
        <p:txBody>
          <a:bodyPr wrap="square" lIns="0" tIns="0" rIns="0" bIns="0" rtlCol="0" anchor="ctr"/>
          <a:lstStyle/>
          <a:p>
            <a:pPr marL="0" indent="0" algn="ctr">
              <a:buNone/>
            </a:pPr>
            <a:r>
              <a:rPr lang="en-GB" sz="1600" b="1" noProof="0" dirty="0">
                <a:solidFill>
                  <a:srgbClr val="CADCFC"/>
                </a:solidFill>
                <a:latin typeface="Cambria" panose="02040503050406030204" pitchFamily="18" charset="0"/>
                <a:ea typeface="Cambria" panose="02040503050406030204" pitchFamily="18" charset="0"/>
                <a:cs typeface="Cambria" pitchFamily="34" charset="-120"/>
              </a:rPr>
              <a:t>$3.94 / </a:t>
            </a:r>
            <a:r>
              <a:rPr lang="en-GB" sz="1600" b="1" noProof="0" dirty="0" err="1">
                <a:solidFill>
                  <a:srgbClr val="CADCFC"/>
                </a:solidFill>
                <a:latin typeface="Cambria" panose="02040503050406030204" pitchFamily="18" charset="0"/>
                <a:ea typeface="Cambria" panose="02040503050406030204" pitchFamily="18" charset="0"/>
                <a:cs typeface="Cambria" pitchFamily="34" charset="-120"/>
              </a:rPr>
              <a:t>mo</a:t>
            </a:r>
            <a:endParaRPr lang="en-GB" sz="1600" noProof="0" dirty="0">
              <a:latin typeface="Cambria" panose="02040503050406030204" pitchFamily="18" charset="0"/>
              <a:ea typeface="Cambria" panose="02040503050406030204" pitchFamily="18" charset="0"/>
            </a:endParaRPr>
          </a:p>
        </p:txBody>
      </p:sp>
      <p:sp>
        <p:nvSpPr>
          <p:cNvPr id="19" name="Text 16"/>
          <p:cNvSpPr/>
          <p:nvPr/>
        </p:nvSpPr>
        <p:spPr>
          <a:xfrm>
            <a:off x="1845028" y="2190325"/>
            <a:ext cx="1801923" cy="175887"/>
          </a:xfrm>
          <a:prstGeom prst="rect">
            <a:avLst/>
          </a:prstGeom>
          <a:noFill/>
          <a:ln/>
        </p:spPr>
        <p:txBody>
          <a:bodyPr wrap="square" lIns="0" tIns="0" rIns="0" bIns="0" rtlCol="0" anchor="ctr"/>
          <a:lstStyle/>
          <a:p>
            <a:pPr marL="0" indent="0" algn="ctr">
              <a:buNone/>
            </a:pPr>
            <a:r>
              <a:rPr lang="en-GB" sz="900" noProof="0" dirty="0">
                <a:solidFill>
                  <a:srgbClr val="AED8E6"/>
                </a:solidFill>
                <a:latin typeface="Cambria" panose="02040503050406030204" pitchFamily="18" charset="0"/>
                <a:ea typeface="Cambria" panose="02040503050406030204" pitchFamily="18" charset="0"/>
                <a:cs typeface="Calibri" pitchFamily="34" charset="-120"/>
              </a:rPr>
              <a:t>n = 2,553</a:t>
            </a:r>
            <a:endParaRPr lang="en-GB" sz="900" noProof="0" dirty="0">
              <a:solidFill>
                <a:srgbClr val="AED8E6"/>
              </a:solidFill>
              <a:latin typeface="Cambria" panose="02040503050406030204" pitchFamily="18" charset="0"/>
              <a:ea typeface="Cambria" panose="02040503050406030204" pitchFamily="18" charset="0"/>
            </a:endParaRPr>
          </a:p>
        </p:txBody>
      </p:sp>
      <p:sp>
        <p:nvSpPr>
          <p:cNvPr id="20" name="Text 17"/>
          <p:cNvSpPr/>
          <p:nvPr/>
        </p:nvSpPr>
        <p:spPr>
          <a:xfrm>
            <a:off x="1936468" y="2418068"/>
            <a:ext cx="1643860" cy="671567"/>
          </a:xfrm>
          <a:prstGeom prst="rect">
            <a:avLst/>
          </a:prstGeom>
          <a:noFill/>
          <a:ln/>
        </p:spPr>
        <p:txBody>
          <a:bodyPr wrap="square" lIns="0" tIns="0" rIns="0" bIns="0" rtlCol="0" anchor="t"/>
          <a:lstStyle/>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171 days recency</a:t>
            </a:r>
            <a:endParaRPr lang="en-GB" sz="1000" noProof="0" dirty="0">
              <a:latin typeface="Cambria" panose="02040503050406030204" pitchFamily="18" charset="0"/>
              <a:ea typeface="Cambria" panose="02040503050406030204" pitchFamily="18" charset="0"/>
            </a:endParaRPr>
          </a:p>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6.92 orders </a:t>
            </a:r>
            <a:r>
              <a:rPr lang="en-GB" sz="1000" noProof="0" dirty="0" err="1">
                <a:solidFill>
                  <a:srgbClr val="FFFFFF"/>
                </a:solidFill>
                <a:latin typeface="Cambria" panose="02040503050406030204" pitchFamily="18" charset="0"/>
                <a:ea typeface="Cambria" panose="02040503050406030204" pitchFamily="18" charset="0"/>
                <a:cs typeface="Calibri" pitchFamily="34" charset="-120"/>
              </a:rPr>
              <a:t>avg</a:t>
            </a:r>
            <a:endParaRPr lang="en-GB" sz="1000" noProof="0" dirty="0">
              <a:latin typeface="Cambria" panose="02040503050406030204" pitchFamily="18" charset="0"/>
              <a:ea typeface="Cambria" panose="02040503050406030204" pitchFamily="18" charset="0"/>
            </a:endParaRPr>
          </a:p>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APV $12.78</a:t>
            </a:r>
            <a:endParaRPr lang="en-GB" sz="1000" noProof="0" dirty="0">
              <a:latin typeface="Cambria" panose="02040503050406030204" pitchFamily="18" charset="0"/>
              <a:ea typeface="Cambria" panose="02040503050406030204" pitchFamily="18" charset="0"/>
            </a:endParaRPr>
          </a:p>
        </p:txBody>
      </p:sp>
      <p:sp>
        <p:nvSpPr>
          <p:cNvPr id="21" name="Text 18"/>
          <p:cNvSpPr/>
          <p:nvPr/>
        </p:nvSpPr>
        <p:spPr>
          <a:xfrm>
            <a:off x="2028489" y="2935569"/>
            <a:ext cx="1442642" cy="561924"/>
          </a:xfrm>
          <a:prstGeom prst="rect">
            <a:avLst/>
          </a:prstGeom>
          <a:noFill/>
          <a:ln/>
        </p:spPr>
        <p:txBody>
          <a:bodyPr wrap="square" lIns="0" tIns="0" rIns="0" bIns="0" rtlCol="0" anchor="t"/>
          <a:lstStyle/>
          <a:p>
            <a:pPr marL="0" indent="0" algn="ctr">
              <a:buNone/>
            </a:pPr>
            <a:r>
              <a:rPr lang="en-GB" sz="900" i="1" noProof="0" dirty="0">
                <a:solidFill>
                  <a:schemeClr val="bg1"/>
                </a:solidFill>
                <a:latin typeface="Cambria" panose="02040503050406030204" pitchFamily="18" charset="0"/>
                <a:ea typeface="Cambria" panose="02040503050406030204" pitchFamily="18" charset="0"/>
                <a:cs typeface="Calibri" pitchFamily="34" charset="-120"/>
              </a:rPr>
              <a:t>Stable mid-tier with highest upgrade potential, frequency gap vs. Platinum is the primary lever.</a:t>
            </a:r>
            <a:endParaRPr lang="en-GB" sz="900" noProof="0" dirty="0">
              <a:solidFill>
                <a:schemeClr val="bg1"/>
              </a:solidFill>
              <a:latin typeface="Cambria" panose="02040503050406030204" pitchFamily="18" charset="0"/>
              <a:ea typeface="Cambria" panose="02040503050406030204" pitchFamily="18" charset="0"/>
            </a:endParaRPr>
          </a:p>
        </p:txBody>
      </p:sp>
      <p:sp>
        <p:nvSpPr>
          <p:cNvPr id="22" name="Shape 19"/>
          <p:cNvSpPr/>
          <p:nvPr/>
        </p:nvSpPr>
        <p:spPr>
          <a:xfrm>
            <a:off x="3654592" y="1521346"/>
            <a:ext cx="1612247" cy="2105967"/>
          </a:xfrm>
          <a:prstGeom prst="roundRect">
            <a:avLst>
              <a:gd name="adj" fmla="val 5263"/>
            </a:avLst>
          </a:prstGeom>
          <a:solidFill>
            <a:srgbClr val="2D4A96"/>
          </a:solidFill>
          <a:ln w="12700">
            <a:solidFill>
              <a:srgbClr val="3A5BA0"/>
            </a:solidFill>
            <a:prstDash val="solid"/>
          </a:ln>
          <a:effectLst>
            <a:outerShdw blurRad="101600" dist="38100" dir="2700000" algn="bl" rotWithShape="0">
              <a:srgbClr val="000000">
                <a:alpha val="12000"/>
              </a:srgbClr>
            </a:outerShdw>
          </a:effectLst>
        </p:spPr>
        <p:txBody>
          <a:bodyPr/>
          <a:lstStyle/>
          <a:p>
            <a:endParaRPr lang="en-GB" noProof="0" dirty="0">
              <a:latin typeface="Cambria" panose="02040503050406030204" pitchFamily="18" charset="0"/>
              <a:ea typeface="Cambria" panose="02040503050406030204" pitchFamily="18" charset="0"/>
            </a:endParaRPr>
          </a:p>
        </p:txBody>
      </p:sp>
      <p:sp>
        <p:nvSpPr>
          <p:cNvPr id="25" name="Text 22"/>
          <p:cNvSpPr/>
          <p:nvPr/>
        </p:nvSpPr>
        <p:spPr>
          <a:xfrm>
            <a:off x="3544864" y="1808968"/>
            <a:ext cx="1801923" cy="199871"/>
          </a:xfrm>
          <a:prstGeom prst="rect">
            <a:avLst/>
          </a:prstGeom>
          <a:noFill/>
          <a:ln/>
        </p:spPr>
        <p:txBody>
          <a:bodyPr wrap="square" lIns="0" tIns="0" rIns="0" bIns="0" rtlCol="0" anchor="ctr"/>
          <a:lstStyle/>
          <a:p>
            <a:pPr marL="0" indent="0" algn="ctr">
              <a:buNone/>
            </a:pPr>
            <a:r>
              <a:rPr lang="en-GB" sz="900" b="1" kern="0" spc="100" noProof="0" dirty="0">
                <a:solidFill>
                  <a:srgbClr val="AED8E6"/>
                </a:solidFill>
                <a:latin typeface="Cambria" panose="02040503050406030204" pitchFamily="18" charset="0"/>
                <a:ea typeface="Cambria" panose="02040503050406030204" pitchFamily="18" charset="0"/>
                <a:cs typeface="Calibri" pitchFamily="34" charset="-120"/>
              </a:rPr>
              <a:t>Next 30%</a:t>
            </a:r>
            <a:endParaRPr lang="en-GB" sz="900" noProof="0" dirty="0">
              <a:solidFill>
                <a:srgbClr val="AED8E6"/>
              </a:solidFill>
              <a:latin typeface="Cambria" panose="02040503050406030204" pitchFamily="18" charset="0"/>
              <a:ea typeface="Cambria" panose="02040503050406030204" pitchFamily="18" charset="0"/>
            </a:endParaRPr>
          </a:p>
        </p:txBody>
      </p:sp>
      <p:sp>
        <p:nvSpPr>
          <p:cNvPr id="26" name="Text 23"/>
          <p:cNvSpPr/>
          <p:nvPr/>
        </p:nvSpPr>
        <p:spPr>
          <a:xfrm>
            <a:off x="3654592" y="1924556"/>
            <a:ext cx="1612247" cy="335784"/>
          </a:xfrm>
          <a:prstGeom prst="rect">
            <a:avLst/>
          </a:prstGeom>
          <a:noFill/>
          <a:ln/>
        </p:spPr>
        <p:txBody>
          <a:bodyPr wrap="square" lIns="0" tIns="0" rIns="0" bIns="0" rtlCol="0" anchor="ctr"/>
          <a:lstStyle/>
          <a:p>
            <a:pPr marL="0" indent="0" algn="ctr">
              <a:buNone/>
            </a:pPr>
            <a:r>
              <a:rPr lang="en-GB" sz="1600" b="1" noProof="0" dirty="0">
                <a:solidFill>
                  <a:srgbClr val="CADCFC"/>
                </a:solidFill>
                <a:latin typeface="Cambria" panose="02040503050406030204" pitchFamily="18" charset="0"/>
                <a:ea typeface="Cambria" panose="02040503050406030204" pitchFamily="18" charset="0"/>
                <a:cs typeface="Cambria" pitchFamily="34" charset="-120"/>
              </a:rPr>
              <a:t>$1.53 / </a:t>
            </a:r>
            <a:r>
              <a:rPr lang="en-GB" sz="1600" b="1" noProof="0" dirty="0" err="1">
                <a:solidFill>
                  <a:srgbClr val="CADCFC"/>
                </a:solidFill>
                <a:latin typeface="Cambria" panose="02040503050406030204" pitchFamily="18" charset="0"/>
                <a:ea typeface="Cambria" panose="02040503050406030204" pitchFamily="18" charset="0"/>
                <a:cs typeface="Cambria" pitchFamily="34" charset="-120"/>
              </a:rPr>
              <a:t>mo</a:t>
            </a:r>
            <a:endParaRPr lang="en-GB" sz="1600" noProof="0" dirty="0">
              <a:latin typeface="Cambria" panose="02040503050406030204" pitchFamily="18" charset="0"/>
              <a:ea typeface="Cambria" panose="02040503050406030204" pitchFamily="18" charset="0"/>
            </a:endParaRPr>
          </a:p>
        </p:txBody>
      </p:sp>
      <p:sp>
        <p:nvSpPr>
          <p:cNvPr id="27" name="Text 24"/>
          <p:cNvSpPr/>
          <p:nvPr/>
        </p:nvSpPr>
        <p:spPr>
          <a:xfrm>
            <a:off x="3544864" y="2193863"/>
            <a:ext cx="1801923" cy="175887"/>
          </a:xfrm>
          <a:prstGeom prst="rect">
            <a:avLst/>
          </a:prstGeom>
          <a:noFill/>
          <a:ln/>
        </p:spPr>
        <p:txBody>
          <a:bodyPr wrap="square" lIns="0" tIns="0" rIns="0" bIns="0" rtlCol="0" anchor="ctr"/>
          <a:lstStyle/>
          <a:p>
            <a:pPr marL="0" indent="0" algn="ctr">
              <a:buNone/>
            </a:pPr>
            <a:r>
              <a:rPr lang="en-GB" sz="900" noProof="0" dirty="0">
                <a:solidFill>
                  <a:srgbClr val="AED8E6"/>
                </a:solidFill>
                <a:latin typeface="Cambria" panose="02040503050406030204" pitchFamily="18" charset="0"/>
                <a:ea typeface="Cambria" panose="02040503050406030204" pitchFamily="18" charset="0"/>
                <a:cs typeface="Calibri" pitchFamily="34" charset="-120"/>
              </a:rPr>
              <a:t>n = 2,553</a:t>
            </a:r>
            <a:endParaRPr lang="en-GB" sz="900" noProof="0" dirty="0">
              <a:solidFill>
                <a:srgbClr val="AED8E6"/>
              </a:solidFill>
              <a:latin typeface="Cambria" panose="02040503050406030204" pitchFamily="18" charset="0"/>
              <a:ea typeface="Cambria" panose="02040503050406030204" pitchFamily="18" charset="0"/>
            </a:endParaRPr>
          </a:p>
        </p:txBody>
      </p:sp>
      <p:sp>
        <p:nvSpPr>
          <p:cNvPr id="28" name="Text 25"/>
          <p:cNvSpPr/>
          <p:nvPr/>
        </p:nvSpPr>
        <p:spPr>
          <a:xfrm>
            <a:off x="3636304" y="2421606"/>
            <a:ext cx="1643860" cy="671567"/>
          </a:xfrm>
          <a:prstGeom prst="rect">
            <a:avLst/>
          </a:prstGeom>
          <a:noFill/>
          <a:ln/>
        </p:spPr>
        <p:txBody>
          <a:bodyPr wrap="square" lIns="0" tIns="0" rIns="0" bIns="0" rtlCol="0" anchor="t"/>
          <a:lstStyle/>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274.6 days recency</a:t>
            </a:r>
            <a:endParaRPr lang="en-GB" sz="1000" noProof="0" dirty="0">
              <a:latin typeface="Cambria" panose="02040503050406030204" pitchFamily="18" charset="0"/>
              <a:ea typeface="Cambria" panose="02040503050406030204" pitchFamily="18" charset="0"/>
            </a:endParaRPr>
          </a:p>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3.85 orders </a:t>
            </a:r>
            <a:r>
              <a:rPr lang="en-GB" sz="1000" noProof="0" dirty="0" err="1">
                <a:solidFill>
                  <a:srgbClr val="FFFFFF"/>
                </a:solidFill>
                <a:latin typeface="Cambria" panose="02040503050406030204" pitchFamily="18" charset="0"/>
                <a:ea typeface="Cambria" panose="02040503050406030204" pitchFamily="18" charset="0"/>
                <a:cs typeface="Calibri" pitchFamily="34" charset="-120"/>
              </a:rPr>
              <a:t>avg</a:t>
            </a:r>
            <a:endParaRPr lang="en-GB" sz="1000" noProof="0" dirty="0">
              <a:latin typeface="Cambria" panose="02040503050406030204" pitchFamily="18" charset="0"/>
              <a:ea typeface="Cambria" panose="02040503050406030204" pitchFamily="18" charset="0"/>
            </a:endParaRPr>
          </a:p>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APV $9.09</a:t>
            </a:r>
            <a:endParaRPr lang="en-GB" sz="1000" noProof="0" dirty="0">
              <a:latin typeface="Cambria" panose="02040503050406030204" pitchFamily="18" charset="0"/>
              <a:ea typeface="Cambria" panose="02040503050406030204" pitchFamily="18" charset="0"/>
            </a:endParaRPr>
          </a:p>
        </p:txBody>
      </p:sp>
      <p:sp>
        <p:nvSpPr>
          <p:cNvPr id="29" name="Text 26"/>
          <p:cNvSpPr/>
          <p:nvPr/>
        </p:nvSpPr>
        <p:spPr>
          <a:xfrm>
            <a:off x="3728325" y="2939107"/>
            <a:ext cx="1442642" cy="561924"/>
          </a:xfrm>
          <a:prstGeom prst="rect">
            <a:avLst/>
          </a:prstGeom>
          <a:noFill/>
          <a:ln/>
        </p:spPr>
        <p:txBody>
          <a:bodyPr wrap="square" lIns="0" tIns="0" rIns="0" bIns="0" rtlCol="0" anchor="t"/>
          <a:lstStyle/>
          <a:p>
            <a:pPr marL="0" indent="0" algn="ctr">
              <a:buNone/>
            </a:pPr>
            <a:r>
              <a:rPr lang="en-GB" sz="900" i="1" noProof="0" dirty="0">
                <a:solidFill>
                  <a:schemeClr val="bg1"/>
                </a:solidFill>
                <a:latin typeface="Cambria" panose="02040503050406030204" pitchFamily="18" charset="0"/>
                <a:ea typeface="Cambria" panose="02040503050406030204" pitchFamily="18" charset="0"/>
                <a:cs typeface="Calibri" pitchFamily="34" charset="-120"/>
              </a:rPr>
              <a:t>Occasional or seasonal buyers. Low engagement; simple win-back offers preferred over complex programs.</a:t>
            </a:r>
            <a:endParaRPr lang="en-GB" sz="900" noProof="0" dirty="0">
              <a:solidFill>
                <a:schemeClr val="bg1"/>
              </a:solidFill>
              <a:latin typeface="Cambria" panose="02040503050406030204" pitchFamily="18" charset="0"/>
              <a:ea typeface="Cambria" panose="02040503050406030204" pitchFamily="18" charset="0"/>
            </a:endParaRPr>
          </a:p>
        </p:txBody>
      </p:sp>
      <p:sp>
        <p:nvSpPr>
          <p:cNvPr id="30" name="Shape 27"/>
          <p:cNvSpPr/>
          <p:nvPr/>
        </p:nvSpPr>
        <p:spPr>
          <a:xfrm>
            <a:off x="731520" y="3730068"/>
            <a:ext cx="4108994" cy="1240483"/>
          </a:xfrm>
          <a:prstGeom prst="roundRect">
            <a:avLst>
              <a:gd name="adj" fmla="val 5263"/>
            </a:avLst>
          </a:prstGeom>
          <a:solidFill>
            <a:srgbClr val="2D4A96"/>
          </a:solidFill>
          <a:ln w="12700">
            <a:solidFill>
              <a:srgbClr val="3A5BA0"/>
            </a:solidFill>
            <a:prstDash val="solid"/>
          </a:ln>
          <a:effectLst>
            <a:outerShdw blurRad="101600" dist="38100" dir="2700000" algn="bl" rotWithShape="0">
              <a:srgbClr val="000000">
                <a:alpha val="12000"/>
              </a:srgbClr>
            </a:outerShdw>
          </a:effectLst>
        </p:spPr>
        <p:txBody>
          <a:bodyPr/>
          <a:lstStyle/>
          <a:p>
            <a:endParaRPr lang="en-GB" noProof="0" dirty="0">
              <a:latin typeface="Cambria" panose="02040503050406030204" pitchFamily="18" charset="0"/>
              <a:ea typeface="Cambria" panose="02040503050406030204" pitchFamily="18" charset="0"/>
            </a:endParaRPr>
          </a:p>
        </p:txBody>
      </p:sp>
      <p:sp>
        <p:nvSpPr>
          <p:cNvPr id="31" name="Shape 28"/>
          <p:cNvSpPr/>
          <p:nvPr/>
        </p:nvSpPr>
        <p:spPr>
          <a:xfrm>
            <a:off x="1538271" y="3709450"/>
            <a:ext cx="2515022" cy="271931"/>
          </a:xfrm>
          <a:prstGeom prst="roundRect">
            <a:avLst>
              <a:gd name="adj" fmla="val 15789"/>
            </a:avLst>
          </a:prstGeom>
          <a:solidFill>
            <a:srgbClr val="1E2761"/>
          </a:solidFill>
          <a:ln w="12700">
            <a:solidFill>
              <a:srgbClr val="1E2761"/>
            </a:solidFill>
            <a:prstDash val="solid"/>
          </a:ln>
        </p:spPr>
        <p:txBody>
          <a:bodyPr/>
          <a:lstStyle/>
          <a:p>
            <a:endParaRPr lang="en-GB" noProof="0" dirty="0">
              <a:latin typeface="Cambria" panose="02040503050406030204" pitchFamily="18" charset="0"/>
              <a:ea typeface="Cambria" panose="02040503050406030204" pitchFamily="18" charset="0"/>
            </a:endParaRPr>
          </a:p>
        </p:txBody>
      </p:sp>
      <p:sp>
        <p:nvSpPr>
          <p:cNvPr id="32" name="Text 29"/>
          <p:cNvSpPr/>
          <p:nvPr/>
        </p:nvSpPr>
        <p:spPr>
          <a:xfrm>
            <a:off x="1538271" y="3709450"/>
            <a:ext cx="2515022" cy="271931"/>
          </a:xfrm>
          <a:prstGeom prst="rect">
            <a:avLst/>
          </a:prstGeom>
          <a:noFill/>
          <a:ln/>
        </p:spPr>
        <p:txBody>
          <a:bodyPr wrap="square" lIns="0" tIns="0" rIns="0" bIns="0" rtlCol="0" anchor="ctr"/>
          <a:lstStyle/>
          <a:p>
            <a:pPr marL="0" indent="0" algn="ctr">
              <a:buNone/>
            </a:pPr>
            <a:r>
              <a:rPr lang="en-GB" sz="1300" b="1" noProof="0" dirty="0">
                <a:solidFill>
                  <a:srgbClr val="FFFFFF"/>
                </a:solidFill>
                <a:latin typeface="Cambria" panose="02040503050406030204" pitchFamily="18" charset="0"/>
                <a:ea typeface="Cambria" panose="02040503050406030204" pitchFamily="18" charset="0"/>
                <a:cs typeface="Cambria" pitchFamily="34" charset="-120"/>
              </a:rPr>
              <a:t>BRONZE</a:t>
            </a:r>
            <a:endParaRPr lang="en-GB" sz="1300" noProof="0" dirty="0">
              <a:latin typeface="Cambria" panose="02040503050406030204" pitchFamily="18" charset="0"/>
              <a:ea typeface="Cambria" panose="02040503050406030204" pitchFamily="18" charset="0"/>
            </a:endParaRPr>
          </a:p>
        </p:txBody>
      </p:sp>
      <p:sp>
        <p:nvSpPr>
          <p:cNvPr id="33" name="Text 30"/>
          <p:cNvSpPr/>
          <p:nvPr/>
        </p:nvSpPr>
        <p:spPr>
          <a:xfrm>
            <a:off x="994385" y="4076960"/>
            <a:ext cx="1198933" cy="178901"/>
          </a:xfrm>
          <a:prstGeom prst="rect">
            <a:avLst/>
          </a:prstGeom>
          <a:noFill/>
          <a:ln/>
        </p:spPr>
        <p:txBody>
          <a:bodyPr wrap="square" lIns="0" tIns="0" rIns="0" bIns="0" rtlCol="0" anchor="ctr"/>
          <a:lstStyle/>
          <a:p>
            <a:pPr marL="0" indent="0" algn="ctr">
              <a:buNone/>
            </a:pPr>
            <a:r>
              <a:rPr lang="en-GB" sz="900" b="1" kern="0" spc="100" noProof="0" dirty="0">
                <a:solidFill>
                  <a:srgbClr val="AED8E6"/>
                </a:solidFill>
                <a:latin typeface="Cambria" panose="02040503050406030204" pitchFamily="18" charset="0"/>
                <a:ea typeface="Cambria" panose="02040503050406030204" pitchFamily="18" charset="0"/>
                <a:cs typeface="Calibri" pitchFamily="34" charset="-120"/>
              </a:rPr>
              <a:t>Bottom 20%</a:t>
            </a:r>
            <a:endParaRPr lang="en-GB" sz="900" noProof="0" dirty="0">
              <a:solidFill>
                <a:srgbClr val="AED8E6"/>
              </a:solidFill>
              <a:latin typeface="Cambria" panose="02040503050406030204" pitchFamily="18" charset="0"/>
              <a:ea typeface="Cambria" panose="02040503050406030204" pitchFamily="18" charset="0"/>
            </a:endParaRPr>
          </a:p>
        </p:txBody>
      </p:sp>
      <p:sp>
        <p:nvSpPr>
          <p:cNvPr id="34" name="Text 31"/>
          <p:cNvSpPr/>
          <p:nvPr/>
        </p:nvSpPr>
        <p:spPr>
          <a:xfrm>
            <a:off x="1048532" y="4232271"/>
            <a:ext cx="1072730" cy="300555"/>
          </a:xfrm>
          <a:prstGeom prst="rect">
            <a:avLst/>
          </a:prstGeom>
          <a:noFill/>
          <a:ln/>
        </p:spPr>
        <p:txBody>
          <a:bodyPr wrap="square" lIns="0" tIns="0" rIns="0" bIns="0" rtlCol="0" anchor="ctr"/>
          <a:lstStyle/>
          <a:p>
            <a:pPr marL="0" indent="0" algn="ctr">
              <a:buNone/>
            </a:pPr>
            <a:r>
              <a:rPr lang="en-GB" sz="1600" b="1" noProof="0" dirty="0">
                <a:solidFill>
                  <a:srgbClr val="CADCFC"/>
                </a:solidFill>
                <a:latin typeface="Cambria" panose="02040503050406030204" pitchFamily="18" charset="0"/>
                <a:ea typeface="Cambria" panose="02040503050406030204" pitchFamily="18" charset="0"/>
                <a:cs typeface="Cambria" pitchFamily="34" charset="-120"/>
              </a:rPr>
              <a:t>$0.36 / </a:t>
            </a:r>
            <a:r>
              <a:rPr lang="en-GB" sz="1600" b="1" noProof="0" dirty="0" err="1">
                <a:solidFill>
                  <a:srgbClr val="CADCFC"/>
                </a:solidFill>
                <a:latin typeface="Cambria" panose="02040503050406030204" pitchFamily="18" charset="0"/>
                <a:ea typeface="Cambria" panose="02040503050406030204" pitchFamily="18" charset="0"/>
                <a:cs typeface="Cambria" pitchFamily="34" charset="-120"/>
              </a:rPr>
              <a:t>mo</a:t>
            </a:r>
            <a:endParaRPr lang="en-GB" sz="1600" noProof="0" dirty="0">
              <a:latin typeface="Cambria" panose="02040503050406030204" pitchFamily="18" charset="0"/>
              <a:ea typeface="Cambria" panose="02040503050406030204" pitchFamily="18" charset="0"/>
            </a:endParaRPr>
          </a:p>
        </p:txBody>
      </p:sp>
      <p:sp>
        <p:nvSpPr>
          <p:cNvPr id="35" name="Text 32"/>
          <p:cNvSpPr/>
          <p:nvPr/>
        </p:nvSpPr>
        <p:spPr>
          <a:xfrm>
            <a:off x="938804" y="4538637"/>
            <a:ext cx="1198933" cy="157433"/>
          </a:xfrm>
          <a:prstGeom prst="rect">
            <a:avLst/>
          </a:prstGeom>
          <a:noFill/>
          <a:ln/>
        </p:spPr>
        <p:txBody>
          <a:bodyPr wrap="square" lIns="0" tIns="0" rIns="0" bIns="0" rtlCol="0" anchor="ctr"/>
          <a:lstStyle/>
          <a:p>
            <a:pPr marL="0" indent="0" algn="ctr">
              <a:buNone/>
            </a:pPr>
            <a:r>
              <a:rPr lang="en-GB" sz="900" noProof="0" dirty="0">
                <a:solidFill>
                  <a:srgbClr val="AED8E6"/>
                </a:solidFill>
                <a:latin typeface="Cambria" panose="02040503050406030204" pitchFamily="18" charset="0"/>
                <a:ea typeface="Cambria" panose="02040503050406030204" pitchFamily="18" charset="0"/>
                <a:cs typeface="Calibri" pitchFamily="34" charset="-120"/>
              </a:rPr>
              <a:t>n = 1,702</a:t>
            </a:r>
            <a:endParaRPr lang="en-GB" sz="900" noProof="0" dirty="0">
              <a:solidFill>
                <a:srgbClr val="AED8E6"/>
              </a:solidFill>
              <a:latin typeface="Cambria" panose="02040503050406030204" pitchFamily="18" charset="0"/>
              <a:ea typeface="Cambria" panose="02040503050406030204" pitchFamily="18" charset="0"/>
            </a:endParaRPr>
          </a:p>
        </p:txBody>
      </p:sp>
      <p:sp>
        <p:nvSpPr>
          <p:cNvPr id="36" name="Text 33"/>
          <p:cNvSpPr/>
          <p:nvPr/>
        </p:nvSpPr>
        <p:spPr>
          <a:xfrm>
            <a:off x="2248900" y="4173455"/>
            <a:ext cx="1093764" cy="601109"/>
          </a:xfrm>
          <a:prstGeom prst="rect">
            <a:avLst/>
          </a:prstGeom>
          <a:noFill/>
          <a:ln/>
        </p:spPr>
        <p:txBody>
          <a:bodyPr wrap="square" lIns="0" tIns="0" rIns="0" bIns="0" rtlCol="0" anchor="t"/>
          <a:lstStyle/>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433.7 days recency</a:t>
            </a:r>
            <a:endParaRPr lang="en-GB" sz="1000" noProof="0" dirty="0">
              <a:latin typeface="Cambria" panose="02040503050406030204" pitchFamily="18" charset="0"/>
              <a:ea typeface="Cambria" panose="02040503050406030204" pitchFamily="18" charset="0"/>
            </a:endParaRPr>
          </a:p>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1.77 orders </a:t>
            </a:r>
            <a:r>
              <a:rPr lang="en-GB" sz="1000" noProof="0" dirty="0" err="1">
                <a:solidFill>
                  <a:srgbClr val="FFFFFF"/>
                </a:solidFill>
                <a:latin typeface="Cambria" panose="02040503050406030204" pitchFamily="18" charset="0"/>
                <a:ea typeface="Cambria" panose="02040503050406030204" pitchFamily="18" charset="0"/>
                <a:cs typeface="Calibri" pitchFamily="34" charset="-120"/>
              </a:rPr>
              <a:t>avg</a:t>
            </a:r>
            <a:endParaRPr lang="en-GB" sz="1000" noProof="0" dirty="0">
              <a:latin typeface="Cambria" panose="02040503050406030204" pitchFamily="18" charset="0"/>
              <a:ea typeface="Cambria" panose="02040503050406030204" pitchFamily="18" charset="0"/>
            </a:endParaRPr>
          </a:p>
          <a:p>
            <a:pPr marL="0" indent="0" algn="ctr">
              <a:buNone/>
            </a:pPr>
            <a:r>
              <a:rPr lang="en-GB" sz="1000" noProof="0" dirty="0">
                <a:solidFill>
                  <a:srgbClr val="FFFFFF"/>
                </a:solidFill>
                <a:latin typeface="Cambria" panose="02040503050406030204" pitchFamily="18" charset="0"/>
                <a:ea typeface="Cambria" panose="02040503050406030204" pitchFamily="18" charset="0"/>
                <a:cs typeface="Calibri" pitchFamily="34" charset="-120"/>
              </a:rPr>
              <a:t>APV $4.11</a:t>
            </a:r>
            <a:endParaRPr lang="en-GB" sz="1000" noProof="0" dirty="0">
              <a:latin typeface="Cambria" panose="02040503050406030204" pitchFamily="18" charset="0"/>
              <a:ea typeface="Cambria" panose="02040503050406030204" pitchFamily="18" charset="0"/>
            </a:endParaRPr>
          </a:p>
        </p:txBody>
      </p:sp>
      <p:sp>
        <p:nvSpPr>
          <p:cNvPr id="37" name="Text 34"/>
          <p:cNvSpPr/>
          <p:nvPr/>
        </p:nvSpPr>
        <p:spPr>
          <a:xfrm>
            <a:off x="3453827" y="4106697"/>
            <a:ext cx="1198933" cy="667868"/>
          </a:xfrm>
          <a:prstGeom prst="rect">
            <a:avLst/>
          </a:prstGeom>
          <a:noFill/>
          <a:ln/>
        </p:spPr>
        <p:txBody>
          <a:bodyPr wrap="square" lIns="0" tIns="0" rIns="0" bIns="0" rtlCol="0" anchor="t"/>
          <a:lstStyle/>
          <a:p>
            <a:pPr marL="0" indent="0" algn="ctr">
              <a:buNone/>
            </a:pPr>
            <a:r>
              <a:rPr lang="en-GB" sz="900" i="1" noProof="0" dirty="0">
                <a:solidFill>
                  <a:schemeClr val="bg1"/>
                </a:solidFill>
                <a:latin typeface="Cambria" panose="02040503050406030204" pitchFamily="18" charset="0"/>
                <a:ea typeface="Cambria" panose="02040503050406030204" pitchFamily="18" charset="0"/>
                <a:cs typeface="Calibri" pitchFamily="34" charset="-120"/>
              </a:rPr>
              <a:t>Largely dormant. Near-zero CLV; minimal direct marketing investment justified on ROI grounds.</a:t>
            </a:r>
            <a:endParaRPr lang="en-GB" sz="900" noProof="0" dirty="0">
              <a:solidFill>
                <a:schemeClr val="bg1"/>
              </a:solidFill>
              <a:latin typeface="Cambria" panose="02040503050406030204" pitchFamily="18" charset="0"/>
              <a:ea typeface="Cambria" panose="02040503050406030204" pitchFamily="18" charset="0"/>
            </a:endParaRPr>
          </a:p>
        </p:txBody>
      </p:sp>
      <p:sp>
        <p:nvSpPr>
          <p:cNvPr id="45" name="Shape 1">
            <a:extLst>
              <a:ext uri="{FF2B5EF4-FFF2-40B4-BE49-F238E27FC236}">
                <a16:creationId xmlns:a16="http://schemas.microsoft.com/office/drawing/2014/main" id="{F148BDF1-6A96-5B54-AF82-6E8D962841A4}"/>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GB" noProof="0" dirty="0"/>
          </a:p>
        </p:txBody>
      </p:sp>
      <p:sp>
        <p:nvSpPr>
          <p:cNvPr id="47" name="Text 2">
            <a:extLst>
              <a:ext uri="{FF2B5EF4-FFF2-40B4-BE49-F238E27FC236}">
                <a16:creationId xmlns:a16="http://schemas.microsoft.com/office/drawing/2014/main" id="{66694EAD-E935-8376-5DCB-9958272A5608}"/>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GB" sz="1300" b="1" noProof="0" dirty="0">
                <a:solidFill>
                  <a:srgbClr val="CADCFC"/>
                </a:solidFill>
              </a:rPr>
              <a:t>06</a:t>
            </a:r>
            <a:endParaRPr lang="en-GB" sz="1300" noProof="0" dirty="0"/>
          </a:p>
        </p:txBody>
      </p:sp>
      <p:sp>
        <p:nvSpPr>
          <p:cNvPr id="41" name="Text 0">
            <a:extLst>
              <a:ext uri="{FF2B5EF4-FFF2-40B4-BE49-F238E27FC236}">
                <a16:creationId xmlns:a16="http://schemas.microsoft.com/office/drawing/2014/main" id="{7B9F596E-A98E-26D9-AD5C-32D7BA13E416}"/>
              </a:ext>
            </a:extLst>
          </p:cNvPr>
          <p:cNvSpPr/>
          <p:nvPr/>
        </p:nvSpPr>
        <p:spPr>
          <a:xfrm>
            <a:off x="274319" y="42203"/>
            <a:ext cx="1055077" cy="274320"/>
          </a:xfrm>
          <a:prstGeom prst="rect">
            <a:avLst/>
          </a:prstGeom>
          <a:noFill/>
          <a:ln/>
        </p:spPr>
        <p:txBody>
          <a:bodyPr wrap="square" lIns="0" tIns="0" rIns="0" bIns="0" rtlCol="0" anchor="ctr"/>
          <a:lstStyle/>
          <a:p>
            <a:r>
              <a:rPr lang="en-GB" sz="900" b="1" kern="0" spc="200" noProof="0" dirty="0">
                <a:solidFill>
                  <a:srgbClr val="CADCFC"/>
                </a:solidFill>
                <a:latin typeface="Cambria" panose="02040503050406030204" pitchFamily="18" charset="0"/>
                <a:ea typeface="Cambria" panose="02040503050406030204" pitchFamily="18" charset="0"/>
              </a:rPr>
              <a:t>PART F</a:t>
            </a:r>
            <a:endParaRPr lang="en-GB" sz="900" noProof="0" dirty="0"/>
          </a:p>
        </p:txBody>
      </p:sp>
      <p:sp>
        <p:nvSpPr>
          <p:cNvPr id="43" name="Shape 12">
            <a:extLst>
              <a:ext uri="{FF2B5EF4-FFF2-40B4-BE49-F238E27FC236}">
                <a16:creationId xmlns:a16="http://schemas.microsoft.com/office/drawing/2014/main" id="{1BA8E009-8E16-A5E0-6007-341C7CFFE17B}"/>
              </a:ext>
            </a:extLst>
          </p:cNvPr>
          <p:cNvSpPr/>
          <p:nvPr/>
        </p:nvSpPr>
        <p:spPr>
          <a:xfrm>
            <a:off x="3654592" y="1423026"/>
            <a:ext cx="1612247" cy="303805"/>
          </a:xfrm>
          <a:prstGeom prst="roundRect">
            <a:avLst>
              <a:gd name="adj" fmla="val 15789"/>
            </a:avLst>
          </a:prstGeom>
          <a:solidFill>
            <a:schemeClr val="accent5">
              <a:lumMod val="75000"/>
            </a:schemeClr>
          </a:solidFill>
          <a:ln w="12700">
            <a:solidFill>
              <a:srgbClr val="3A5BA0"/>
            </a:solidFill>
            <a:prstDash val="solid"/>
          </a:ln>
        </p:spPr>
        <p:txBody>
          <a:bodyPr/>
          <a:lstStyle/>
          <a:p>
            <a:endParaRPr lang="en-GB" noProof="0" dirty="0">
              <a:latin typeface="Cambria" panose="02040503050406030204" pitchFamily="18" charset="0"/>
              <a:ea typeface="Cambria" panose="02040503050406030204" pitchFamily="18" charset="0"/>
            </a:endParaRPr>
          </a:p>
        </p:txBody>
      </p:sp>
      <p:sp>
        <p:nvSpPr>
          <p:cNvPr id="46" name="Text 21">
            <a:extLst>
              <a:ext uri="{FF2B5EF4-FFF2-40B4-BE49-F238E27FC236}">
                <a16:creationId xmlns:a16="http://schemas.microsoft.com/office/drawing/2014/main" id="{3F6AD59D-9B85-45D9-2DDF-BC6CCD4389F7}"/>
              </a:ext>
            </a:extLst>
          </p:cNvPr>
          <p:cNvSpPr/>
          <p:nvPr/>
        </p:nvSpPr>
        <p:spPr>
          <a:xfrm>
            <a:off x="3654592" y="1426582"/>
            <a:ext cx="1612247" cy="303805"/>
          </a:xfrm>
          <a:prstGeom prst="rect">
            <a:avLst/>
          </a:prstGeom>
          <a:noFill/>
          <a:ln/>
        </p:spPr>
        <p:txBody>
          <a:bodyPr wrap="square" lIns="0" tIns="0" rIns="0" bIns="0" rtlCol="0" anchor="ctr"/>
          <a:lstStyle/>
          <a:p>
            <a:pPr marL="0" indent="0" algn="ctr">
              <a:buNone/>
            </a:pPr>
            <a:r>
              <a:rPr lang="en-GB" sz="1300" b="1" noProof="0" dirty="0">
                <a:solidFill>
                  <a:srgbClr val="FFFFFF"/>
                </a:solidFill>
                <a:latin typeface="Cambria" panose="02040503050406030204" pitchFamily="18" charset="0"/>
                <a:ea typeface="Cambria" panose="02040503050406030204" pitchFamily="18" charset="0"/>
                <a:cs typeface="Cambria" pitchFamily="34" charset="-120"/>
              </a:rPr>
              <a:t>SILVER</a:t>
            </a:r>
            <a:endParaRPr lang="en-GB" sz="1300" noProof="0" dirty="0">
              <a:latin typeface="Cambria" panose="02040503050406030204" pitchFamily="18" charset="0"/>
              <a:ea typeface="Cambria" panose="02040503050406030204" pitchFamily="18" charset="0"/>
            </a:endParaRPr>
          </a:p>
        </p:txBody>
      </p:sp>
      <p:pic>
        <p:nvPicPr>
          <p:cNvPr id="49" name="Immagine 48">
            <a:extLst>
              <a:ext uri="{FF2B5EF4-FFF2-40B4-BE49-F238E27FC236}">
                <a16:creationId xmlns:a16="http://schemas.microsoft.com/office/drawing/2014/main" id="{5005BF38-2D53-8107-2A1A-AAB23C4429C2}"/>
              </a:ext>
            </a:extLst>
          </p:cNvPr>
          <p:cNvPicPr>
            <a:picLocks noChangeAspect="1"/>
          </p:cNvPicPr>
          <p:nvPr/>
        </p:nvPicPr>
        <p:blipFill>
          <a:blip r:embed="rId3"/>
          <a:stretch>
            <a:fillRect/>
          </a:stretch>
        </p:blipFill>
        <p:spPr>
          <a:xfrm>
            <a:off x="5421774" y="1426581"/>
            <a:ext cx="3499601" cy="34574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08D19F-CCFC-068C-81C1-6819C9C4A8C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5F170A7-8265-DC8F-44F2-6048DFD061E4}"/>
              </a:ext>
            </a:extLst>
          </p:cNvPr>
          <p:cNvSpPr/>
          <p:nvPr/>
        </p:nvSpPr>
        <p:spPr>
          <a:xfrm>
            <a:off x="0" y="0"/>
            <a:ext cx="9144000" cy="777240"/>
          </a:xfrm>
          <a:prstGeom prst="rect">
            <a:avLst/>
          </a:prstGeom>
          <a:solidFill>
            <a:srgbClr val="1E2761"/>
          </a:solidFill>
          <a:ln w="12700">
            <a:solidFill>
              <a:srgbClr val="1E2761"/>
            </a:solidFill>
            <a:prstDash val="solid"/>
          </a:ln>
        </p:spPr>
        <p:txBody>
          <a:bodyPr/>
          <a:lstStyle/>
          <a:p>
            <a:endParaRPr lang="en-GB" noProof="0" dirty="0"/>
          </a:p>
        </p:txBody>
      </p:sp>
      <p:sp>
        <p:nvSpPr>
          <p:cNvPr id="4" name="Text 1">
            <a:extLst>
              <a:ext uri="{FF2B5EF4-FFF2-40B4-BE49-F238E27FC236}">
                <a16:creationId xmlns:a16="http://schemas.microsoft.com/office/drawing/2014/main" id="{4B7D495C-1514-DD23-1E4B-99B250362FAF}"/>
              </a:ext>
            </a:extLst>
          </p:cNvPr>
          <p:cNvSpPr/>
          <p:nvPr/>
        </p:nvSpPr>
        <p:spPr>
          <a:xfrm>
            <a:off x="274319" y="238799"/>
            <a:ext cx="5180874" cy="489204"/>
          </a:xfrm>
          <a:prstGeom prst="rect">
            <a:avLst/>
          </a:prstGeom>
          <a:noFill/>
          <a:ln/>
        </p:spPr>
        <p:txBody>
          <a:bodyPr wrap="square" lIns="0" tIns="0" rIns="0" bIns="0" rtlCol="0" anchor="ctr"/>
          <a:lstStyle/>
          <a:p>
            <a:pPr marL="0" indent="0" algn="l">
              <a:buNone/>
            </a:pPr>
            <a:r>
              <a:rPr lang="en-GB" sz="2800" b="1" noProof="0" dirty="0">
                <a:solidFill>
                  <a:srgbClr val="FFFFFF"/>
                </a:solidFill>
                <a:latin typeface="EucrosiaUPC" panose="02020603050405020304" pitchFamily="18" charset="-34"/>
                <a:ea typeface="Cambria" pitchFamily="34" charset="-122"/>
                <a:cs typeface="EucrosiaUPC" panose="02020603050405020304" pitchFamily="18" charset="-34"/>
              </a:rPr>
              <a:t>6. Actionable Business Implications</a:t>
            </a:r>
            <a:endParaRPr lang="en-GB" sz="2800" noProof="0" dirty="0">
              <a:latin typeface="EucrosiaUPC" panose="02020603050405020304" pitchFamily="18" charset="-34"/>
              <a:cs typeface="EucrosiaUPC" panose="02020603050405020304" pitchFamily="18" charset="-34"/>
            </a:endParaRPr>
          </a:p>
        </p:txBody>
      </p:sp>
      <p:sp>
        <p:nvSpPr>
          <p:cNvPr id="5" name="Shape 2">
            <a:extLst>
              <a:ext uri="{FF2B5EF4-FFF2-40B4-BE49-F238E27FC236}">
                <a16:creationId xmlns:a16="http://schemas.microsoft.com/office/drawing/2014/main" id="{AA2DDE99-C2AC-98D1-3860-3F7848663809}"/>
              </a:ext>
            </a:extLst>
          </p:cNvPr>
          <p:cNvSpPr/>
          <p:nvPr/>
        </p:nvSpPr>
        <p:spPr>
          <a:xfrm>
            <a:off x="1264613" y="903657"/>
            <a:ext cx="2126890" cy="1943318"/>
          </a:xfrm>
          <a:prstGeom prst="roundRect">
            <a:avLst>
              <a:gd name="adj" fmla="val 7246"/>
            </a:avLst>
          </a:prstGeom>
          <a:solidFill>
            <a:srgbClr val="2D4A96"/>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endParaRPr lang="en-GB" noProof="0" dirty="0"/>
          </a:p>
        </p:txBody>
      </p:sp>
      <p:sp>
        <p:nvSpPr>
          <p:cNvPr id="6" name="Text 3">
            <a:extLst>
              <a:ext uri="{FF2B5EF4-FFF2-40B4-BE49-F238E27FC236}">
                <a16:creationId xmlns:a16="http://schemas.microsoft.com/office/drawing/2014/main" id="{80FB3497-2AE0-5B79-A9F7-980D8BF12489}"/>
              </a:ext>
            </a:extLst>
          </p:cNvPr>
          <p:cNvSpPr/>
          <p:nvPr/>
        </p:nvSpPr>
        <p:spPr>
          <a:xfrm>
            <a:off x="1410916" y="995096"/>
            <a:ext cx="1982081" cy="422460"/>
          </a:xfrm>
          <a:prstGeom prst="rect">
            <a:avLst/>
          </a:prstGeom>
          <a:noFill/>
          <a:ln/>
        </p:spPr>
        <p:txBody>
          <a:bodyPr wrap="square" lIns="0" tIns="0" rIns="0" bIns="0" rtlCol="0" anchor="t"/>
          <a:lstStyle/>
          <a:p>
            <a:pPr marL="0" indent="0" algn="ctr">
              <a:buNone/>
            </a:pPr>
            <a:r>
              <a:rPr lang="en-GB" sz="1150" b="1" noProof="0" dirty="0">
                <a:solidFill>
                  <a:srgbClr val="CADCFC"/>
                </a:solidFill>
                <a:latin typeface="Cambria" pitchFamily="34" charset="0"/>
                <a:ea typeface="Cambria" pitchFamily="34" charset="-122"/>
                <a:cs typeface="Cambria" pitchFamily="34" charset="-120"/>
              </a:rPr>
              <a:t>1. Retention: Platinum Priority</a:t>
            </a:r>
            <a:endParaRPr lang="en-GB" sz="1150" noProof="0" dirty="0"/>
          </a:p>
        </p:txBody>
      </p:sp>
      <p:sp>
        <p:nvSpPr>
          <p:cNvPr id="7" name="Text 4">
            <a:extLst>
              <a:ext uri="{FF2B5EF4-FFF2-40B4-BE49-F238E27FC236}">
                <a16:creationId xmlns:a16="http://schemas.microsoft.com/office/drawing/2014/main" id="{7C544BB2-C555-4BEA-C6D1-4AF31477169D}"/>
              </a:ext>
            </a:extLst>
          </p:cNvPr>
          <p:cNvSpPr/>
          <p:nvPr/>
        </p:nvSpPr>
        <p:spPr>
          <a:xfrm>
            <a:off x="1410917" y="1368844"/>
            <a:ext cx="1862289" cy="1267381"/>
          </a:xfrm>
          <a:prstGeom prst="rect">
            <a:avLst/>
          </a:prstGeom>
          <a:noFill/>
          <a:ln/>
        </p:spPr>
        <p:txBody>
          <a:bodyPr wrap="square" lIns="0" tIns="0" rIns="0" bIns="0" rtlCol="0" anchor="t"/>
          <a:lstStyle/>
          <a:p>
            <a:pPr marL="0" indent="0" algn="ctr">
              <a:buNone/>
            </a:pPr>
            <a:r>
              <a:rPr lang="en-GB" sz="1000" noProof="0" dirty="0">
                <a:solidFill>
                  <a:srgbClr val="FFFFFF"/>
                </a:solidFill>
                <a:latin typeface="Calibri" pitchFamily="34" charset="0"/>
                <a:ea typeface="Calibri" pitchFamily="34" charset="-122"/>
                <a:cs typeface="Calibri" pitchFamily="34" charset="-120"/>
              </a:rPr>
              <a:t>The Platinum segment are the customers that generate the highest value. For this reason, trigger reactivation campaigns before the 90-day churn threshold must be implemented. A 1% reduction in Platinum churn has great revenue impact given their $10.69/month CLV.</a:t>
            </a:r>
            <a:endParaRPr lang="en-GB" sz="1000" noProof="0" dirty="0"/>
          </a:p>
        </p:txBody>
      </p:sp>
      <p:sp>
        <p:nvSpPr>
          <p:cNvPr id="8" name="Shape 5">
            <a:extLst>
              <a:ext uri="{FF2B5EF4-FFF2-40B4-BE49-F238E27FC236}">
                <a16:creationId xmlns:a16="http://schemas.microsoft.com/office/drawing/2014/main" id="{3826238E-3DF7-B825-B189-FE7EFCCF4C6A}"/>
              </a:ext>
            </a:extLst>
          </p:cNvPr>
          <p:cNvSpPr/>
          <p:nvPr/>
        </p:nvSpPr>
        <p:spPr>
          <a:xfrm>
            <a:off x="5832364" y="2954311"/>
            <a:ext cx="2126890" cy="1841718"/>
          </a:xfrm>
          <a:prstGeom prst="roundRect">
            <a:avLst>
              <a:gd name="adj" fmla="val 7246"/>
            </a:avLst>
          </a:prstGeom>
          <a:solidFill>
            <a:srgbClr val="AED8E6"/>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endParaRPr lang="en-GB" noProof="0" dirty="0"/>
          </a:p>
        </p:txBody>
      </p:sp>
      <p:sp>
        <p:nvSpPr>
          <p:cNvPr id="9" name="Text 6">
            <a:extLst>
              <a:ext uri="{FF2B5EF4-FFF2-40B4-BE49-F238E27FC236}">
                <a16:creationId xmlns:a16="http://schemas.microsoft.com/office/drawing/2014/main" id="{8CA16449-8160-DFC0-ADE7-E37A3BB97A22}"/>
              </a:ext>
            </a:extLst>
          </p:cNvPr>
          <p:cNvSpPr/>
          <p:nvPr/>
        </p:nvSpPr>
        <p:spPr>
          <a:xfrm>
            <a:off x="5978667" y="3045751"/>
            <a:ext cx="1838007" cy="206248"/>
          </a:xfrm>
          <a:prstGeom prst="rect">
            <a:avLst/>
          </a:prstGeom>
          <a:noFill/>
          <a:ln/>
        </p:spPr>
        <p:txBody>
          <a:bodyPr wrap="square" lIns="0" tIns="0" rIns="0" bIns="0" rtlCol="0" anchor="t"/>
          <a:lstStyle/>
          <a:p>
            <a:pPr marL="0" indent="0" algn="ctr">
              <a:buNone/>
            </a:pPr>
            <a:r>
              <a:rPr lang="en-GB" sz="1150" b="1" noProof="0" dirty="0">
                <a:solidFill>
                  <a:srgbClr val="1E2761"/>
                </a:solidFill>
                <a:latin typeface="Cambria" pitchFamily="34" charset="0"/>
                <a:ea typeface="Cambria" pitchFamily="34" charset="-122"/>
                <a:cs typeface="Cambria" pitchFamily="34" charset="-120"/>
              </a:rPr>
              <a:t>Upgrade Gold → Platinum</a:t>
            </a:r>
            <a:endParaRPr lang="en-GB" sz="1150" noProof="0" dirty="0">
              <a:solidFill>
                <a:srgbClr val="1E2761"/>
              </a:solidFill>
            </a:endParaRPr>
          </a:p>
        </p:txBody>
      </p:sp>
      <p:sp>
        <p:nvSpPr>
          <p:cNvPr id="10" name="Text 7">
            <a:extLst>
              <a:ext uri="{FF2B5EF4-FFF2-40B4-BE49-F238E27FC236}">
                <a16:creationId xmlns:a16="http://schemas.microsoft.com/office/drawing/2014/main" id="{E22543F0-3781-DDB9-3D91-94D1A2720FAC}"/>
              </a:ext>
            </a:extLst>
          </p:cNvPr>
          <p:cNvSpPr/>
          <p:nvPr/>
        </p:nvSpPr>
        <p:spPr>
          <a:xfrm>
            <a:off x="5978667" y="3251999"/>
            <a:ext cx="1862289" cy="1520858"/>
          </a:xfrm>
          <a:prstGeom prst="rect">
            <a:avLst/>
          </a:prstGeom>
          <a:noFill/>
          <a:ln/>
        </p:spPr>
        <p:txBody>
          <a:bodyPr wrap="square" lIns="0" tIns="0" rIns="0" bIns="0" rtlCol="0" anchor="t"/>
          <a:lstStyle/>
          <a:p>
            <a:pPr marL="0" indent="0" algn="ctr">
              <a:buNone/>
            </a:pPr>
            <a:r>
              <a:rPr lang="en-GB" sz="1000" noProof="0" dirty="0">
                <a:solidFill>
                  <a:srgbClr val="1E2761"/>
                </a:solidFill>
                <a:latin typeface="Calibri" pitchFamily="34" charset="0"/>
                <a:ea typeface="Calibri" pitchFamily="34" charset="-122"/>
                <a:cs typeface="Calibri" pitchFamily="34" charset="-120"/>
              </a:rPr>
              <a:t>The frequency gap (6.92 vs 15.55 orders) is the primary differentiator. Churn often affect the customers with low frequency. So, it’s better to deploy replenishment reminders and subscription prompts in Beverages, Dairy, and Confectionery, the top categories across all tiers.</a:t>
            </a:r>
            <a:endParaRPr lang="en-GB" sz="1000" noProof="0" dirty="0">
              <a:solidFill>
                <a:srgbClr val="1E2761"/>
              </a:solidFill>
            </a:endParaRPr>
          </a:p>
        </p:txBody>
      </p:sp>
      <p:sp>
        <p:nvSpPr>
          <p:cNvPr id="11" name="Shape 8">
            <a:extLst>
              <a:ext uri="{FF2B5EF4-FFF2-40B4-BE49-F238E27FC236}">
                <a16:creationId xmlns:a16="http://schemas.microsoft.com/office/drawing/2014/main" id="{0E5868FD-524E-9CE6-65EF-A0CF0B01DBAB}"/>
              </a:ext>
            </a:extLst>
          </p:cNvPr>
          <p:cNvSpPr/>
          <p:nvPr/>
        </p:nvSpPr>
        <p:spPr>
          <a:xfrm>
            <a:off x="3537806" y="913856"/>
            <a:ext cx="2126890" cy="1943318"/>
          </a:xfrm>
          <a:prstGeom prst="roundRect">
            <a:avLst>
              <a:gd name="adj" fmla="val 7246"/>
            </a:avLst>
          </a:prstGeom>
          <a:solidFill>
            <a:srgbClr val="AED8E6"/>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endParaRPr lang="en-GB" noProof="0" dirty="0"/>
          </a:p>
        </p:txBody>
      </p:sp>
      <p:sp>
        <p:nvSpPr>
          <p:cNvPr id="12" name="Text 9">
            <a:extLst>
              <a:ext uri="{FF2B5EF4-FFF2-40B4-BE49-F238E27FC236}">
                <a16:creationId xmlns:a16="http://schemas.microsoft.com/office/drawing/2014/main" id="{E4A995FC-DC9E-CC0B-67E2-5A3347805891}"/>
              </a:ext>
            </a:extLst>
          </p:cNvPr>
          <p:cNvSpPr/>
          <p:nvPr/>
        </p:nvSpPr>
        <p:spPr>
          <a:xfrm>
            <a:off x="3684110" y="1005295"/>
            <a:ext cx="1860866" cy="422460"/>
          </a:xfrm>
          <a:prstGeom prst="rect">
            <a:avLst/>
          </a:prstGeom>
          <a:noFill/>
          <a:ln/>
        </p:spPr>
        <p:txBody>
          <a:bodyPr wrap="square" lIns="0" tIns="0" rIns="0" bIns="0" rtlCol="0" anchor="t"/>
          <a:lstStyle/>
          <a:p>
            <a:pPr marL="0" indent="0" algn="ctr">
              <a:buNone/>
            </a:pPr>
            <a:r>
              <a:rPr lang="en-GB" sz="1150" b="1" noProof="0" dirty="0">
                <a:solidFill>
                  <a:srgbClr val="1E2761"/>
                </a:solidFill>
                <a:latin typeface="Cambria" pitchFamily="34" charset="0"/>
                <a:ea typeface="Cambria" pitchFamily="34" charset="-122"/>
                <a:cs typeface="Cambria" pitchFamily="34" charset="-120"/>
              </a:rPr>
              <a:t>2. Loyalty Program Architecture</a:t>
            </a:r>
            <a:endParaRPr lang="en-GB" sz="1150" noProof="0" dirty="0">
              <a:solidFill>
                <a:srgbClr val="1E2761"/>
              </a:solidFill>
            </a:endParaRPr>
          </a:p>
        </p:txBody>
      </p:sp>
      <p:sp>
        <p:nvSpPr>
          <p:cNvPr id="13" name="Text 10">
            <a:extLst>
              <a:ext uri="{FF2B5EF4-FFF2-40B4-BE49-F238E27FC236}">
                <a16:creationId xmlns:a16="http://schemas.microsoft.com/office/drawing/2014/main" id="{F9A6DA1B-66A5-16F4-FB28-F4B77B0CA77D}"/>
              </a:ext>
            </a:extLst>
          </p:cNvPr>
          <p:cNvSpPr/>
          <p:nvPr/>
        </p:nvSpPr>
        <p:spPr>
          <a:xfrm>
            <a:off x="3684109" y="1384741"/>
            <a:ext cx="1862289" cy="1358596"/>
          </a:xfrm>
          <a:prstGeom prst="rect">
            <a:avLst/>
          </a:prstGeom>
          <a:noFill/>
          <a:ln/>
        </p:spPr>
        <p:txBody>
          <a:bodyPr wrap="square" lIns="0" tIns="0" rIns="0" bIns="0" rtlCol="0" anchor="t"/>
          <a:lstStyle/>
          <a:p>
            <a:pPr marL="0" indent="0" algn="ctr">
              <a:buNone/>
            </a:pPr>
            <a:r>
              <a:rPr lang="en-GB" sz="1000" noProof="0" dirty="0">
                <a:solidFill>
                  <a:srgbClr val="1E2761"/>
                </a:solidFill>
                <a:latin typeface="Calibri" pitchFamily="34" charset="0"/>
                <a:ea typeface="Calibri" pitchFamily="34" charset="-122"/>
                <a:cs typeface="Calibri" pitchFamily="34" charset="-120"/>
              </a:rPr>
              <a:t>Tier benefits must be asymmetric: Platinum receives experiential rewards (early access, exclusive bundles) that reinforce habit without eroding margin. Gold milestones should reward incremental frequency, not spend. Bronze receives only low-cost digital win-back triggers.</a:t>
            </a:r>
            <a:endParaRPr lang="en-GB" sz="1000" noProof="0" dirty="0">
              <a:solidFill>
                <a:srgbClr val="1E2761"/>
              </a:solidFill>
            </a:endParaRPr>
          </a:p>
        </p:txBody>
      </p:sp>
      <p:sp>
        <p:nvSpPr>
          <p:cNvPr id="14" name="Shape 11">
            <a:extLst>
              <a:ext uri="{FF2B5EF4-FFF2-40B4-BE49-F238E27FC236}">
                <a16:creationId xmlns:a16="http://schemas.microsoft.com/office/drawing/2014/main" id="{6D9E5BE6-FA17-1D98-239B-54707DE2AF9B}"/>
              </a:ext>
            </a:extLst>
          </p:cNvPr>
          <p:cNvSpPr/>
          <p:nvPr/>
        </p:nvSpPr>
        <p:spPr>
          <a:xfrm>
            <a:off x="5809505" y="919554"/>
            <a:ext cx="2126890" cy="1943318"/>
          </a:xfrm>
          <a:prstGeom prst="roundRect">
            <a:avLst>
              <a:gd name="adj" fmla="val 7246"/>
            </a:avLst>
          </a:prstGeom>
          <a:solidFill>
            <a:srgbClr val="2D4A96"/>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endParaRPr lang="en-GB" noProof="0" dirty="0"/>
          </a:p>
        </p:txBody>
      </p:sp>
      <p:sp>
        <p:nvSpPr>
          <p:cNvPr id="15" name="Text 12">
            <a:extLst>
              <a:ext uri="{FF2B5EF4-FFF2-40B4-BE49-F238E27FC236}">
                <a16:creationId xmlns:a16="http://schemas.microsoft.com/office/drawing/2014/main" id="{8337B7AF-8859-9CF1-CC7B-F8AC8930A9CC}"/>
              </a:ext>
            </a:extLst>
          </p:cNvPr>
          <p:cNvSpPr/>
          <p:nvPr/>
        </p:nvSpPr>
        <p:spPr>
          <a:xfrm>
            <a:off x="5955809" y="1010993"/>
            <a:ext cx="1860866" cy="422460"/>
          </a:xfrm>
          <a:prstGeom prst="rect">
            <a:avLst/>
          </a:prstGeom>
          <a:noFill/>
          <a:ln/>
        </p:spPr>
        <p:txBody>
          <a:bodyPr wrap="square" lIns="0" tIns="0" rIns="0" bIns="0" rtlCol="0" anchor="t"/>
          <a:lstStyle/>
          <a:p>
            <a:pPr marL="0" indent="0" algn="ctr">
              <a:buNone/>
            </a:pPr>
            <a:r>
              <a:rPr lang="en-GB" sz="1150" b="1" noProof="0" dirty="0">
                <a:solidFill>
                  <a:srgbClr val="CADCFC"/>
                </a:solidFill>
                <a:latin typeface="Cambria" pitchFamily="34" charset="0"/>
                <a:ea typeface="Cambria" pitchFamily="34" charset="-122"/>
                <a:cs typeface="Cambria" pitchFamily="34" charset="-120"/>
              </a:rPr>
              <a:t>3. Resource Allocation: Asymmetric budget</a:t>
            </a:r>
            <a:endParaRPr lang="en-GB" sz="1150" noProof="0" dirty="0"/>
          </a:p>
        </p:txBody>
      </p:sp>
      <p:sp>
        <p:nvSpPr>
          <p:cNvPr id="16" name="Text 13">
            <a:extLst>
              <a:ext uri="{FF2B5EF4-FFF2-40B4-BE49-F238E27FC236}">
                <a16:creationId xmlns:a16="http://schemas.microsoft.com/office/drawing/2014/main" id="{4554DE04-4C8B-3A19-5430-D0DAA50E4169}"/>
              </a:ext>
            </a:extLst>
          </p:cNvPr>
          <p:cNvSpPr/>
          <p:nvPr/>
        </p:nvSpPr>
        <p:spPr>
          <a:xfrm>
            <a:off x="5955808" y="1427755"/>
            <a:ext cx="1862289" cy="1334959"/>
          </a:xfrm>
          <a:prstGeom prst="rect">
            <a:avLst/>
          </a:prstGeom>
          <a:noFill/>
          <a:ln/>
        </p:spPr>
        <p:txBody>
          <a:bodyPr wrap="square" lIns="0" tIns="0" rIns="0" bIns="0" rtlCol="0" anchor="t"/>
          <a:lstStyle/>
          <a:p>
            <a:pPr marL="0" indent="0" algn="ctr">
              <a:buNone/>
            </a:pPr>
            <a:r>
              <a:rPr lang="en-GB" sz="1000" noProof="0" dirty="0">
                <a:solidFill>
                  <a:srgbClr val="FFFFFF"/>
                </a:solidFill>
                <a:latin typeface="Calibri" pitchFamily="34" charset="0"/>
                <a:ea typeface="Calibri" pitchFamily="34" charset="-122"/>
                <a:cs typeface="Calibri" pitchFamily="34" charset="-120"/>
              </a:rPr>
              <a:t>Top-20 predicted CLV ranges $1,084–$1,711. Allocate a disproportionate retention budget to Platinum and upper-Gold. Bronze customers (</a:t>
            </a:r>
            <a:r>
              <a:rPr lang="en-GB" sz="1000" noProof="0" dirty="0" err="1">
                <a:solidFill>
                  <a:srgbClr val="FFFFFF"/>
                </a:solidFill>
                <a:latin typeface="Calibri" pitchFamily="34" charset="0"/>
                <a:ea typeface="Calibri" pitchFamily="34" charset="-122"/>
                <a:cs typeface="Calibri" pitchFamily="34" charset="-120"/>
              </a:rPr>
              <a:t>avg</a:t>
            </a:r>
            <a:r>
              <a:rPr lang="en-GB" sz="1000" noProof="0" dirty="0">
                <a:solidFill>
                  <a:srgbClr val="FFFFFF"/>
                </a:solidFill>
                <a:latin typeface="Calibri" pitchFamily="34" charset="0"/>
                <a:ea typeface="Calibri" pitchFamily="34" charset="-122"/>
                <a:cs typeface="Calibri" pitchFamily="34" charset="-120"/>
              </a:rPr>
              <a:t> CLV $0.36/month, recency 433 days) cannot recover acquisition cost at any reasonable payback horizon.</a:t>
            </a:r>
            <a:endParaRPr lang="en-GB" sz="1000" noProof="0" dirty="0"/>
          </a:p>
        </p:txBody>
      </p:sp>
      <p:sp>
        <p:nvSpPr>
          <p:cNvPr id="17" name="Shape 14">
            <a:extLst>
              <a:ext uri="{FF2B5EF4-FFF2-40B4-BE49-F238E27FC236}">
                <a16:creationId xmlns:a16="http://schemas.microsoft.com/office/drawing/2014/main" id="{9DFAF21C-4C80-4FC4-FEF3-C610841D89E9}"/>
              </a:ext>
            </a:extLst>
          </p:cNvPr>
          <p:cNvSpPr/>
          <p:nvPr/>
        </p:nvSpPr>
        <p:spPr>
          <a:xfrm>
            <a:off x="1274592" y="2956703"/>
            <a:ext cx="2126890" cy="1841718"/>
          </a:xfrm>
          <a:prstGeom prst="roundRect">
            <a:avLst>
              <a:gd name="adj" fmla="val 7246"/>
            </a:avLst>
          </a:prstGeom>
          <a:solidFill>
            <a:srgbClr val="AED8E6"/>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endParaRPr lang="en-GB" noProof="0" dirty="0"/>
          </a:p>
        </p:txBody>
      </p:sp>
      <p:sp>
        <p:nvSpPr>
          <p:cNvPr id="18" name="Text 15">
            <a:extLst>
              <a:ext uri="{FF2B5EF4-FFF2-40B4-BE49-F238E27FC236}">
                <a16:creationId xmlns:a16="http://schemas.microsoft.com/office/drawing/2014/main" id="{85052400-AF59-315D-07A5-17D7514E0A2D}"/>
              </a:ext>
            </a:extLst>
          </p:cNvPr>
          <p:cNvSpPr/>
          <p:nvPr/>
        </p:nvSpPr>
        <p:spPr>
          <a:xfrm>
            <a:off x="1420895" y="3048143"/>
            <a:ext cx="1982081" cy="187958"/>
          </a:xfrm>
          <a:prstGeom prst="rect">
            <a:avLst/>
          </a:prstGeom>
          <a:noFill/>
          <a:ln/>
        </p:spPr>
        <p:txBody>
          <a:bodyPr wrap="square" lIns="0" tIns="0" rIns="0" bIns="0" rtlCol="0" anchor="t"/>
          <a:lstStyle/>
          <a:p>
            <a:pPr marL="0" indent="0" algn="ctr">
              <a:buNone/>
            </a:pPr>
            <a:r>
              <a:rPr lang="en-GB" sz="1150" b="1" noProof="0" dirty="0">
                <a:solidFill>
                  <a:srgbClr val="1E2761"/>
                </a:solidFill>
                <a:latin typeface="Cambria" pitchFamily="34" charset="0"/>
                <a:ea typeface="Cambria" pitchFamily="34" charset="-122"/>
                <a:cs typeface="Cambria" pitchFamily="34" charset="-120"/>
              </a:rPr>
              <a:t>4. Promotion Design</a:t>
            </a:r>
            <a:endParaRPr lang="en-GB" sz="1150" noProof="0" dirty="0">
              <a:solidFill>
                <a:srgbClr val="1E2761"/>
              </a:solidFill>
            </a:endParaRPr>
          </a:p>
        </p:txBody>
      </p:sp>
      <p:sp>
        <p:nvSpPr>
          <p:cNvPr id="19" name="Text 16">
            <a:extLst>
              <a:ext uri="{FF2B5EF4-FFF2-40B4-BE49-F238E27FC236}">
                <a16:creationId xmlns:a16="http://schemas.microsoft.com/office/drawing/2014/main" id="{557582AD-AD5E-C2BD-FF08-3D9A85A595B2}"/>
              </a:ext>
            </a:extLst>
          </p:cNvPr>
          <p:cNvSpPr/>
          <p:nvPr/>
        </p:nvSpPr>
        <p:spPr>
          <a:xfrm>
            <a:off x="1420896" y="3220724"/>
            <a:ext cx="1860989" cy="1491336"/>
          </a:xfrm>
          <a:prstGeom prst="rect">
            <a:avLst/>
          </a:prstGeom>
          <a:noFill/>
          <a:ln/>
        </p:spPr>
        <p:txBody>
          <a:bodyPr wrap="square" lIns="0" tIns="0" rIns="0" bIns="0" rtlCol="0" anchor="t"/>
          <a:lstStyle/>
          <a:p>
            <a:pPr marL="0" indent="0" algn="ctr">
              <a:buNone/>
            </a:pPr>
            <a:r>
              <a:rPr lang="en-GB" sz="1000" noProof="0" dirty="0">
                <a:solidFill>
                  <a:srgbClr val="1E2761"/>
                </a:solidFill>
                <a:latin typeface="Calibri" pitchFamily="34" charset="0"/>
                <a:ea typeface="Calibri" pitchFamily="34" charset="-122"/>
                <a:cs typeface="Calibri" pitchFamily="34" charset="-120"/>
              </a:rPr>
              <a:t>Category preferences are uniform across all tiers (Beverages &gt; Dairy &gt; Confectionery in Platinum through Silver), so blanket category promotions will not differentially activate high-value customers. So, it’s better to </a:t>
            </a:r>
            <a:r>
              <a:rPr lang="en-GB" sz="1000" dirty="0">
                <a:solidFill>
                  <a:srgbClr val="1E2761"/>
                </a:solidFill>
                <a:latin typeface="Calibri" pitchFamily="34" charset="0"/>
                <a:ea typeface="Calibri" pitchFamily="34" charset="-122"/>
                <a:cs typeface="Calibri" pitchFamily="34" charset="-120"/>
              </a:rPr>
              <a:t>d</a:t>
            </a:r>
            <a:r>
              <a:rPr lang="en-GB" sz="1000" noProof="0" dirty="0" err="1">
                <a:solidFill>
                  <a:srgbClr val="1E2761"/>
                </a:solidFill>
                <a:latin typeface="Calibri" pitchFamily="34" charset="0"/>
                <a:ea typeface="Calibri" pitchFamily="34" charset="-122"/>
                <a:cs typeface="Calibri" pitchFamily="34" charset="-120"/>
              </a:rPr>
              <a:t>esign</a:t>
            </a:r>
            <a:r>
              <a:rPr lang="en-GB" sz="1000" noProof="0" dirty="0">
                <a:solidFill>
                  <a:srgbClr val="1E2761"/>
                </a:solidFill>
                <a:latin typeface="Calibri" pitchFamily="34" charset="0"/>
                <a:ea typeface="Calibri" pitchFamily="34" charset="-122"/>
                <a:cs typeface="Calibri" pitchFamily="34" charset="-120"/>
              </a:rPr>
              <a:t> promotions around frequency mechanics, not category affinity.</a:t>
            </a:r>
            <a:endParaRPr lang="en-GB" sz="1000" noProof="0" dirty="0">
              <a:solidFill>
                <a:srgbClr val="1E2761"/>
              </a:solidFill>
            </a:endParaRPr>
          </a:p>
        </p:txBody>
      </p:sp>
      <p:sp>
        <p:nvSpPr>
          <p:cNvPr id="20" name="Shape 17">
            <a:extLst>
              <a:ext uri="{FF2B5EF4-FFF2-40B4-BE49-F238E27FC236}">
                <a16:creationId xmlns:a16="http://schemas.microsoft.com/office/drawing/2014/main" id="{AA1092C3-5E64-7EBF-D89A-8EF3AA6B2A1C}"/>
              </a:ext>
            </a:extLst>
          </p:cNvPr>
          <p:cNvSpPr/>
          <p:nvPr/>
        </p:nvSpPr>
        <p:spPr>
          <a:xfrm>
            <a:off x="3560665" y="2972600"/>
            <a:ext cx="2126890" cy="1841718"/>
          </a:xfrm>
          <a:prstGeom prst="roundRect">
            <a:avLst>
              <a:gd name="adj" fmla="val 7246"/>
            </a:avLst>
          </a:prstGeom>
          <a:solidFill>
            <a:srgbClr val="2D4A96"/>
          </a:solidFill>
          <a:ln w="12700">
            <a:solidFill>
              <a:srgbClr val="3A5BA0"/>
            </a:solidFill>
            <a:prstDash val="solid"/>
          </a:ln>
          <a:effectLst>
            <a:outerShdw blurRad="101600" dist="38100" dir="2700000" algn="bl" rotWithShape="0">
              <a:srgbClr val="000000">
                <a:alpha val="12000"/>
              </a:srgbClr>
            </a:outerShdw>
          </a:effectLst>
        </p:spPr>
        <p:txBody>
          <a:bodyPr/>
          <a:lstStyle/>
          <a:p>
            <a:pPr algn="ctr"/>
            <a:endParaRPr lang="en-GB" noProof="0" dirty="0"/>
          </a:p>
        </p:txBody>
      </p:sp>
      <p:sp>
        <p:nvSpPr>
          <p:cNvPr id="21" name="Text 18">
            <a:extLst>
              <a:ext uri="{FF2B5EF4-FFF2-40B4-BE49-F238E27FC236}">
                <a16:creationId xmlns:a16="http://schemas.microsoft.com/office/drawing/2014/main" id="{9CF97B97-1FBE-AE77-F3A6-21D09A3BEEB3}"/>
              </a:ext>
            </a:extLst>
          </p:cNvPr>
          <p:cNvSpPr/>
          <p:nvPr/>
        </p:nvSpPr>
        <p:spPr>
          <a:xfrm>
            <a:off x="3706968" y="3064039"/>
            <a:ext cx="1838007" cy="400373"/>
          </a:xfrm>
          <a:prstGeom prst="rect">
            <a:avLst/>
          </a:prstGeom>
          <a:noFill/>
          <a:ln/>
        </p:spPr>
        <p:txBody>
          <a:bodyPr wrap="square" lIns="0" tIns="0" rIns="0" bIns="0" rtlCol="0" anchor="t"/>
          <a:lstStyle/>
          <a:p>
            <a:pPr marL="0" indent="0" algn="ctr">
              <a:buNone/>
            </a:pPr>
            <a:r>
              <a:rPr lang="en-GB" sz="1150" b="1" noProof="0" dirty="0">
                <a:solidFill>
                  <a:srgbClr val="CADCFC"/>
                </a:solidFill>
                <a:latin typeface="Cambria" pitchFamily="34" charset="0"/>
                <a:ea typeface="Cambria" pitchFamily="34" charset="-122"/>
                <a:cs typeface="Cambria" pitchFamily="34" charset="-120"/>
              </a:rPr>
              <a:t>5. Acquisition: Quality over volume</a:t>
            </a:r>
            <a:endParaRPr lang="en-GB" sz="1150" noProof="0" dirty="0"/>
          </a:p>
        </p:txBody>
      </p:sp>
      <p:sp>
        <p:nvSpPr>
          <p:cNvPr id="22" name="Text 19">
            <a:extLst>
              <a:ext uri="{FF2B5EF4-FFF2-40B4-BE49-F238E27FC236}">
                <a16:creationId xmlns:a16="http://schemas.microsoft.com/office/drawing/2014/main" id="{7C5BEC58-D862-FB72-F39E-2502268BC801}"/>
              </a:ext>
            </a:extLst>
          </p:cNvPr>
          <p:cNvSpPr/>
          <p:nvPr/>
        </p:nvSpPr>
        <p:spPr>
          <a:xfrm>
            <a:off x="3706968" y="3446122"/>
            <a:ext cx="1862289" cy="1281835"/>
          </a:xfrm>
          <a:prstGeom prst="rect">
            <a:avLst/>
          </a:prstGeom>
          <a:noFill/>
          <a:ln/>
        </p:spPr>
        <p:txBody>
          <a:bodyPr wrap="square" lIns="0" tIns="0" rIns="0" bIns="0" rtlCol="0" anchor="t"/>
          <a:lstStyle/>
          <a:p>
            <a:pPr marL="0" indent="0" algn="ctr">
              <a:buNone/>
            </a:pPr>
            <a:r>
              <a:rPr lang="en-GB" sz="1000" noProof="0" dirty="0">
                <a:solidFill>
                  <a:srgbClr val="FFFFFF"/>
                </a:solidFill>
                <a:latin typeface="Calibri" pitchFamily="34" charset="0"/>
                <a:ea typeface="Calibri" pitchFamily="34" charset="-122"/>
                <a:cs typeface="Calibri" pitchFamily="34" charset="-120"/>
              </a:rPr>
              <a:t>BG/NBD confirms that once engaged, customers rarely churn. Acquisition should target behavioural profiles matching Platinum and Gold: 6–7 repeat transactions in year one is the key early indicator of high lifetime value.</a:t>
            </a:r>
            <a:endParaRPr lang="en-GB" sz="1000" noProof="0" dirty="0"/>
          </a:p>
        </p:txBody>
      </p:sp>
      <p:sp>
        <p:nvSpPr>
          <p:cNvPr id="28" name="Shape 1">
            <a:extLst>
              <a:ext uri="{FF2B5EF4-FFF2-40B4-BE49-F238E27FC236}">
                <a16:creationId xmlns:a16="http://schemas.microsoft.com/office/drawing/2014/main" id="{66841F68-79FF-A903-4F17-76CFE7A60478}"/>
              </a:ext>
            </a:extLst>
          </p:cNvPr>
          <p:cNvSpPr/>
          <p:nvPr/>
        </p:nvSpPr>
        <p:spPr>
          <a:xfrm>
            <a:off x="8366760" y="126961"/>
            <a:ext cx="502920" cy="502920"/>
          </a:xfrm>
          <a:prstGeom prst="rect">
            <a:avLst/>
          </a:prstGeom>
          <a:solidFill>
            <a:srgbClr val="2A3880"/>
          </a:solidFill>
          <a:ln w="12700">
            <a:solidFill>
              <a:srgbClr val="2A3880"/>
            </a:solidFill>
            <a:prstDash val="solid"/>
          </a:ln>
        </p:spPr>
        <p:txBody>
          <a:bodyPr/>
          <a:lstStyle/>
          <a:p>
            <a:endParaRPr lang="en-GB" noProof="0" dirty="0"/>
          </a:p>
        </p:txBody>
      </p:sp>
      <p:sp>
        <p:nvSpPr>
          <p:cNvPr id="30" name="Text 2">
            <a:extLst>
              <a:ext uri="{FF2B5EF4-FFF2-40B4-BE49-F238E27FC236}">
                <a16:creationId xmlns:a16="http://schemas.microsoft.com/office/drawing/2014/main" id="{B084CA6B-FD76-6C14-DD65-911886F72CE0}"/>
              </a:ext>
            </a:extLst>
          </p:cNvPr>
          <p:cNvSpPr/>
          <p:nvPr/>
        </p:nvSpPr>
        <p:spPr>
          <a:xfrm>
            <a:off x="8366760" y="126961"/>
            <a:ext cx="502920" cy="502920"/>
          </a:xfrm>
          <a:prstGeom prst="rect">
            <a:avLst/>
          </a:prstGeom>
          <a:noFill/>
          <a:ln/>
        </p:spPr>
        <p:txBody>
          <a:bodyPr wrap="square" lIns="0" tIns="0" rIns="0" bIns="0" rtlCol="0" anchor="ctr"/>
          <a:lstStyle/>
          <a:p>
            <a:pPr marL="0" indent="0" algn="ctr">
              <a:buNone/>
            </a:pPr>
            <a:r>
              <a:rPr lang="en-GB" sz="1300" b="1" noProof="0" dirty="0">
                <a:solidFill>
                  <a:srgbClr val="CADCFC"/>
                </a:solidFill>
              </a:rPr>
              <a:t>07</a:t>
            </a:r>
            <a:endParaRPr lang="en-GB" sz="1300" noProof="0" dirty="0"/>
          </a:p>
        </p:txBody>
      </p:sp>
      <p:sp>
        <p:nvSpPr>
          <p:cNvPr id="24" name="Text 0">
            <a:extLst>
              <a:ext uri="{FF2B5EF4-FFF2-40B4-BE49-F238E27FC236}">
                <a16:creationId xmlns:a16="http://schemas.microsoft.com/office/drawing/2014/main" id="{60ADDE25-45F1-EBB5-49A0-B12C319ADE83}"/>
              </a:ext>
            </a:extLst>
          </p:cNvPr>
          <p:cNvSpPr/>
          <p:nvPr/>
        </p:nvSpPr>
        <p:spPr>
          <a:xfrm>
            <a:off x="274319" y="42203"/>
            <a:ext cx="1939110" cy="274320"/>
          </a:xfrm>
          <a:prstGeom prst="rect">
            <a:avLst/>
          </a:prstGeom>
          <a:noFill/>
          <a:ln/>
        </p:spPr>
        <p:txBody>
          <a:bodyPr wrap="square" lIns="0" tIns="0" rIns="0" bIns="0" rtlCol="0" anchor="ctr"/>
          <a:lstStyle/>
          <a:p>
            <a:r>
              <a:rPr lang="en-GB" sz="900" b="1" kern="0" spc="200" noProof="0" dirty="0">
                <a:solidFill>
                  <a:srgbClr val="CADCFC"/>
                </a:solidFill>
                <a:latin typeface="Cambria" panose="02040503050406030204" pitchFamily="18" charset="0"/>
                <a:ea typeface="Cambria" panose="02040503050406030204" pitchFamily="18" charset="0"/>
              </a:rPr>
              <a:t>PART F &amp; CONCLUSION</a:t>
            </a:r>
            <a:endParaRPr lang="en-GB" sz="900" noProof="0" dirty="0"/>
          </a:p>
        </p:txBody>
      </p:sp>
    </p:spTree>
    <p:extLst>
      <p:ext uri="{BB962C8B-B14F-4D97-AF65-F5344CB8AC3E}">
        <p14:creationId xmlns:p14="http://schemas.microsoft.com/office/powerpoint/2010/main" val="274464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0520E4BB-D40A-F1E1-2419-1923543E60F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2D028FB-B174-EC27-680A-69428A28B823}"/>
              </a:ext>
            </a:extLst>
          </p:cNvPr>
          <p:cNvSpPr/>
          <p:nvPr/>
        </p:nvSpPr>
        <p:spPr>
          <a:xfrm>
            <a:off x="457200" y="914400"/>
            <a:ext cx="3200400" cy="274320"/>
          </a:xfrm>
          <a:prstGeom prst="rect">
            <a:avLst/>
          </a:prstGeom>
          <a:noFill/>
          <a:ln/>
        </p:spPr>
        <p:txBody>
          <a:bodyPr wrap="square" lIns="0" tIns="0" rIns="0" bIns="0" rtlCol="0" anchor="ctr"/>
          <a:lstStyle/>
          <a:p>
            <a:pPr marL="0" indent="0" algn="l">
              <a:buNone/>
            </a:pPr>
            <a:r>
              <a:rPr lang="en-US" sz="900" b="1" kern="0" spc="200" dirty="0">
                <a:solidFill>
                  <a:srgbClr val="CADCFC"/>
                </a:solidFill>
                <a:latin typeface="Cambria" panose="02040503050406030204" pitchFamily="18" charset="0"/>
                <a:ea typeface="Cambria" panose="02040503050406030204" pitchFamily="18" charset="0"/>
              </a:rPr>
              <a:t>MARKETING ANALYTICS — HOMEWORK 2</a:t>
            </a:r>
            <a:endParaRPr lang="en-US" sz="900" dirty="0">
              <a:latin typeface="Cambria" panose="02040503050406030204" pitchFamily="18" charset="0"/>
              <a:ea typeface="Cambria" panose="02040503050406030204" pitchFamily="18" charset="0"/>
            </a:endParaRPr>
          </a:p>
        </p:txBody>
      </p:sp>
      <p:sp>
        <p:nvSpPr>
          <p:cNvPr id="5" name="Text 3">
            <a:extLst>
              <a:ext uri="{FF2B5EF4-FFF2-40B4-BE49-F238E27FC236}">
                <a16:creationId xmlns:a16="http://schemas.microsoft.com/office/drawing/2014/main" id="{A77FD61D-3E6B-65CF-22AF-3331D33C4265}"/>
              </a:ext>
            </a:extLst>
          </p:cNvPr>
          <p:cNvSpPr/>
          <p:nvPr/>
        </p:nvSpPr>
        <p:spPr>
          <a:xfrm>
            <a:off x="457200" y="1783080"/>
            <a:ext cx="6858000" cy="1005840"/>
          </a:xfrm>
          <a:prstGeom prst="rect">
            <a:avLst/>
          </a:prstGeom>
          <a:noFill/>
          <a:ln/>
        </p:spPr>
        <p:txBody>
          <a:bodyPr wrap="square" lIns="0" tIns="0" rIns="0" bIns="0" rtlCol="0" anchor="ctr"/>
          <a:lstStyle/>
          <a:p>
            <a:pPr marL="0" indent="0" algn="l">
              <a:buNone/>
            </a:pPr>
            <a:r>
              <a:rPr lang="en-US" sz="9600" b="1" dirty="0">
                <a:solidFill>
                  <a:srgbClr val="FFFFFF"/>
                </a:solidFill>
                <a:latin typeface="EucrosiaUPC" panose="02020603050405020304" pitchFamily="18" charset="-34"/>
                <a:ea typeface="Calibri" pitchFamily="34" charset="-122"/>
                <a:cs typeface="EucrosiaUPC" panose="02020603050405020304" pitchFamily="18" charset="-34"/>
              </a:rPr>
              <a:t>Thank you</a:t>
            </a:r>
            <a:endParaRPr lang="en-US" sz="9600" dirty="0">
              <a:latin typeface="EucrosiaUPC" panose="02020603050405020304" pitchFamily="18" charset="-34"/>
              <a:cs typeface="EucrosiaUPC" panose="02020603050405020304" pitchFamily="18" charset="-34"/>
            </a:endParaRPr>
          </a:p>
        </p:txBody>
      </p:sp>
      <p:sp>
        <p:nvSpPr>
          <p:cNvPr id="6" name="Text 4">
            <a:extLst>
              <a:ext uri="{FF2B5EF4-FFF2-40B4-BE49-F238E27FC236}">
                <a16:creationId xmlns:a16="http://schemas.microsoft.com/office/drawing/2014/main" id="{1E789521-FAC6-79FC-3D94-18134BF0DBC7}"/>
              </a:ext>
            </a:extLst>
          </p:cNvPr>
          <p:cNvSpPr/>
          <p:nvPr/>
        </p:nvSpPr>
        <p:spPr>
          <a:xfrm>
            <a:off x="457200" y="3515456"/>
            <a:ext cx="5943600" cy="498349"/>
          </a:xfrm>
          <a:prstGeom prst="rect">
            <a:avLst/>
          </a:prstGeom>
          <a:noFill/>
          <a:ln/>
        </p:spPr>
        <p:txBody>
          <a:bodyPr wrap="square" lIns="0" tIns="0" rIns="0" bIns="0" rtlCol="0" anchor="ctr"/>
          <a:lstStyle/>
          <a:p>
            <a:r>
              <a:rPr lang="en-GB" sz="1300" i="1" dirty="0">
                <a:solidFill>
                  <a:srgbClr val="CADCFC"/>
                </a:solidFill>
                <a:latin typeface="Cambria" panose="02040503050406030204" pitchFamily="18" charset="0"/>
                <a:ea typeface="Cambria" panose="02040503050406030204" pitchFamily="18" charset="0"/>
                <a:cs typeface="Calibri" pitchFamily="34" charset="-120"/>
              </a:rPr>
              <a:t>An End-to-End CLV Framework: RFM Segmentation - Descriptive CLV - BG/NBD Prediction - Actionable Strategy</a:t>
            </a:r>
            <a:endParaRPr lang="en-GB" sz="1300" dirty="0">
              <a:latin typeface="Cambria" panose="02040503050406030204" pitchFamily="18" charset="0"/>
              <a:ea typeface="Cambria" panose="02040503050406030204" pitchFamily="18" charset="0"/>
            </a:endParaRPr>
          </a:p>
        </p:txBody>
      </p:sp>
      <p:sp>
        <p:nvSpPr>
          <p:cNvPr id="7" name="Shape 5">
            <a:extLst>
              <a:ext uri="{FF2B5EF4-FFF2-40B4-BE49-F238E27FC236}">
                <a16:creationId xmlns:a16="http://schemas.microsoft.com/office/drawing/2014/main" id="{8BCAD734-BF02-F981-9737-2F2A39BC4214}"/>
              </a:ext>
            </a:extLst>
          </p:cNvPr>
          <p:cNvSpPr/>
          <p:nvPr/>
        </p:nvSpPr>
        <p:spPr>
          <a:xfrm>
            <a:off x="457200" y="4096512"/>
            <a:ext cx="3200400" cy="0"/>
          </a:xfrm>
          <a:prstGeom prst="line">
            <a:avLst/>
          </a:prstGeom>
          <a:noFill/>
          <a:ln w="25400">
            <a:solidFill>
              <a:srgbClr val="3A7BD5"/>
            </a:solidFill>
            <a:prstDash val="solid"/>
          </a:ln>
        </p:spPr>
        <p:txBody>
          <a:bodyPr/>
          <a:lstStyle/>
          <a:p>
            <a:endParaRPr lang="it-IT"/>
          </a:p>
        </p:txBody>
      </p:sp>
      <p:sp>
        <p:nvSpPr>
          <p:cNvPr id="8" name="Text 6">
            <a:extLst>
              <a:ext uri="{FF2B5EF4-FFF2-40B4-BE49-F238E27FC236}">
                <a16:creationId xmlns:a16="http://schemas.microsoft.com/office/drawing/2014/main" id="{EF979122-A143-725B-104C-D7D8EC0B3286}"/>
              </a:ext>
            </a:extLst>
          </p:cNvPr>
          <p:cNvSpPr/>
          <p:nvPr/>
        </p:nvSpPr>
        <p:spPr>
          <a:xfrm>
            <a:off x="457200" y="4157472"/>
            <a:ext cx="4572000" cy="256032"/>
          </a:xfrm>
          <a:prstGeom prst="rect">
            <a:avLst/>
          </a:prstGeom>
          <a:noFill/>
          <a:ln/>
        </p:spPr>
        <p:txBody>
          <a:bodyPr wrap="square" lIns="0" tIns="0" rIns="0" bIns="0" rtlCol="0" anchor="ctr"/>
          <a:lstStyle/>
          <a:p>
            <a:pPr marL="0" indent="0" algn="l">
              <a:buNone/>
            </a:pPr>
            <a:r>
              <a:rPr lang="en-US" sz="1100" dirty="0">
                <a:solidFill>
                  <a:schemeClr val="bg1"/>
                </a:solidFill>
                <a:latin typeface="Cambria" panose="02040503050406030204" pitchFamily="18" charset="0"/>
                <a:ea typeface="Cambria" panose="02040503050406030204" pitchFamily="18" charset="0"/>
              </a:rPr>
              <a:t>Presented to: Professor Luigi Capone</a:t>
            </a:r>
          </a:p>
        </p:txBody>
      </p:sp>
      <p:sp>
        <p:nvSpPr>
          <p:cNvPr id="15" name="Text 6">
            <a:extLst>
              <a:ext uri="{FF2B5EF4-FFF2-40B4-BE49-F238E27FC236}">
                <a16:creationId xmlns:a16="http://schemas.microsoft.com/office/drawing/2014/main" id="{77004C30-4107-26FA-8F58-D177AAF1016E}"/>
              </a:ext>
            </a:extLst>
          </p:cNvPr>
          <p:cNvSpPr/>
          <p:nvPr/>
        </p:nvSpPr>
        <p:spPr>
          <a:xfrm>
            <a:off x="457200" y="4368487"/>
            <a:ext cx="4572000" cy="256032"/>
          </a:xfrm>
          <a:prstGeom prst="rect">
            <a:avLst/>
          </a:prstGeom>
          <a:noFill/>
          <a:ln/>
        </p:spPr>
        <p:txBody>
          <a:bodyPr wrap="square" lIns="0" tIns="0" rIns="0" bIns="0" rtlCol="0" anchor="ctr"/>
          <a:lstStyle/>
          <a:p>
            <a:pPr marL="0" indent="0" algn="l">
              <a:buNone/>
            </a:pPr>
            <a:r>
              <a:rPr lang="en-US" sz="1100" dirty="0">
                <a:solidFill>
                  <a:schemeClr val="bg1"/>
                </a:solidFill>
                <a:latin typeface="Cambria" panose="02040503050406030204" pitchFamily="18" charset="0"/>
                <a:ea typeface="Cambria" panose="02040503050406030204" pitchFamily="18" charset="0"/>
              </a:rPr>
              <a:t>Student: Colombini Francesco – ID:944941</a:t>
            </a:r>
          </a:p>
        </p:txBody>
      </p:sp>
      <p:sp>
        <p:nvSpPr>
          <p:cNvPr id="2" name="Text 3">
            <a:extLst>
              <a:ext uri="{FF2B5EF4-FFF2-40B4-BE49-F238E27FC236}">
                <a16:creationId xmlns:a16="http://schemas.microsoft.com/office/drawing/2014/main" id="{D5772690-5CC0-1B43-0ADA-F5607B11CBE2}"/>
              </a:ext>
            </a:extLst>
          </p:cNvPr>
          <p:cNvSpPr/>
          <p:nvPr/>
        </p:nvSpPr>
        <p:spPr>
          <a:xfrm>
            <a:off x="457200" y="3103976"/>
            <a:ext cx="6858000" cy="411480"/>
          </a:xfrm>
          <a:prstGeom prst="rect">
            <a:avLst/>
          </a:prstGeom>
          <a:noFill/>
          <a:ln/>
        </p:spPr>
        <p:txBody>
          <a:bodyPr wrap="square" lIns="0" tIns="0" rIns="0" bIns="0" rtlCol="0" anchor="ctr"/>
          <a:lstStyle/>
          <a:p>
            <a:r>
              <a:rPr lang="en-GB" sz="4000" b="1" dirty="0">
                <a:solidFill>
                  <a:srgbClr val="FFFFFF"/>
                </a:solidFill>
                <a:latin typeface="EucrosiaUPC" panose="02020603050405020304" pitchFamily="18" charset="-34"/>
                <a:ea typeface="Cambria" pitchFamily="34" charset="-122"/>
                <a:cs typeface="EucrosiaUPC" panose="02020603050405020304" pitchFamily="18" charset="-34"/>
              </a:rPr>
              <a:t>Customer </a:t>
            </a:r>
            <a:r>
              <a:rPr lang="en-GB" sz="4000" b="1" dirty="0">
                <a:solidFill>
                  <a:srgbClr val="FFFFFF"/>
                </a:solidFill>
                <a:latin typeface="EucrosiaUPC" panose="02020603050405020304" pitchFamily="18" charset="-34"/>
                <a:ea typeface="Calibri" pitchFamily="34" charset="-122"/>
                <a:cs typeface="EucrosiaUPC" panose="02020603050405020304" pitchFamily="18" charset="-34"/>
              </a:rPr>
              <a:t>Lifetime</a:t>
            </a:r>
            <a:r>
              <a:rPr lang="en-GB" sz="4000" b="1" dirty="0">
                <a:solidFill>
                  <a:srgbClr val="FFFFFF"/>
                </a:solidFill>
                <a:latin typeface="EucrosiaUPC" panose="02020603050405020304" pitchFamily="18" charset="-34"/>
                <a:ea typeface="Cambria" pitchFamily="34" charset="-122"/>
                <a:cs typeface="EucrosiaUPC" panose="02020603050405020304" pitchFamily="18" charset="-34"/>
              </a:rPr>
              <a:t> Value Analysis</a:t>
            </a:r>
            <a:endParaRPr lang="en-GB" sz="4000" dirty="0">
              <a:latin typeface="EucrosiaUPC" panose="02020603050405020304" pitchFamily="18" charset="-34"/>
              <a:cs typeface="EucrosiaUPC" panose="02020603050405020304" pitchFamily="18" charset="-34"/>
            </a:endParaRPr>
          </a:p>
        </p:txBody>
      </p:sp>
    </p:spTree>
    <p:extLst>
      <p:ext uri="{BB962C8B-B14F-4D97-AF65-F5344CB8AC3E}">
        <p14:creationId xmlns:p14="http://schemas.microsoft.com/office/powerpoint/2010/main" val="40572543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TotalTime>
  <Words>1737</Words>
  <Application>Microsoft Office PowerPoint</Application>
  <PresentationFormat>Presentazione su schermo (16:9)</PresentationFormat>
  <Paragraphs>194</Paragraphs>
  <Slides>8</Slides>
  <Notes>7</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8</vt:i4>
      </vt:variant>
    </vt:vector>
  </HeadingPairs>
  <TitlesOfParts>
    <vt:vector size="13" baseType="lpstr">
      <vt:lpstr>Arial</vt:lpstr>
      <vt:lpstr>Calibri</vt:lpstr>
      <vt:lpstr>Cambria</vt:lpstr>
      <vt:lpstr>EucrosiaUPC</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Lifetime Value Analysis — Marketing Analytics HW2</dc:title>
  <dc:subject>PptxGenJS Presentation</dc:subject>
  <dc:creator>Francesco</dc:creator>
  <cp:lastModifiedBy>Francesco Colombini</cp:lastModifiedBy>
  <cp:revision>17</cp:revision>
  <dcterms:created xsi:type="dcterms:W3CDTF">2026-06-11T06:18:33Z</dcterms:created>
  <dcterms:modified xsi:type="dcterms:W3CDTF">2026-06-11T11:17:23Z</dcterms:modified>
</cp:coreProperties>
</file>