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5" r:id="rId4"/>
    <p:sldId id="268" r:id="rId5"/>
    <p:sldId id="258" r:id="rId6"/>
    <p:sldId id="269" r:id="rId7"/>
    <p:sldId id="259" r:id="rId8"/>
    <p:sldId id="266" r:id="rId9"/>
    <p:sldId id="267" r:id="rId10"/>
    <p:sldId id="260" r:id="rId11"/>
    <p:sldId id="263" r:id="rId12"/>
    <p:sldId id="264"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761"/>
    <a:srgbClr val="AED8E6"/>
    <a:srgbClr val="CAD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ile medio 2 - Color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8488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CB031-B0F2-D154-23E1-C388CB2A5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3623C-238C-7635-72AA-C5BC435D890C}"/>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10959ACA-DE96-FC89-10EF-0C6C25F374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27A4C5-9AAD-BDED-21F9-28FCF3A3E78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980632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FE3B4-9905-3385-0E81-99DE45754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291AA-6518-1A5E-EA39-9355D9544534}"/>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F52EDFAE-54B7-6E65-D9E8-38ADC32CC5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B8BF58-B879-2596-A6AE-120F66CC49B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04504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Segnaposto note 2"/>
          <p:cNvSpPr>
            <a:spLocks noGrp="1"/>
          </p:cNvSpPr>
          <p:nvPr>
            <p:ph type="body" idx="1"/>
          </p:nvPr>
        </p:nvSpPr>
        <p:spPr>
          <a:xfrm>
            <a:off x="514350" y="4400550"/>
            <a:ext cx="4114800" cy="3600450"/>
          </a:xfrm>
          <a:prstGeom prst="rect">
            <a:avLst/>
          </a:prstGeom>
        </p:spPr>
        <p:txBody>
          <a:bodyPr/>
          <a:lstStyle/>
          <a:p>
            <a:endParaRPr lang="it-IT" dirty="0"/>
          </a:p>
        </p:txBody>
      </p:sp>
    </p:spTree>
    <p:extLst>
      <p:ext uri="{BB962C8B-B14F-4D97-AF65-F5344CB8AC3E}">
        <p14:creationId xmlns:p14="http://schemas.microsoft.com/office/powerpoint/2010/main" val="3255450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4CDBC-C153-4CA1-8915-1EA86A16E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C281D-B356-C912-C394-935CAAF526DE}"/>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775B3305-9A7D-9C6B-24F7-94E348D867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1D8088-5A50-8F75-41BA-418B7A3E603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03436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7BFA0-BAB4-EA62-6602-B42F2BCE4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E82FF-B922-A151-D1D2-C75DD4DD0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E2FB7-C181-6002-922A-1A92AF1C35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13F068-4B20-BD8B-E679-13692974943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22453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MARKETING</a:t>
            </a:r>
            <a:r>
              <a:rPr lang="en-US" sz="900" b="1" kern="0" spc="200" noProof="0" dirty="0">
                <a:solidFill>
                  <a:srgbClr val="CADCFC"/>
                </a:solidFill>
              </a:rPr>
              <a:t> ANALYTICS — PROJECT</a:t>
            </a:r>
            <a:endParaRPr lang="en-US" sz="900" noProof="0" dirty="0"/>
          </a:p>
        </p:txBody>
      </p:sp>
      <p:sp>
        <p:nvSpPr>
          <p:cNvPr id="3" name="Text 1"/>
          <p:cNvSpPr/>
          <p:nvPr/>
        </p:nvSpPr>
        <p:spPr>
          <a:xfrm>
            <a:off x="457200" y="642892"/>
            <a:ext cx="5788855" cy="749808"/>
          </a:xfrm>
          <a:prstGeom prst="rect">
            <a:avLst/>
          </a:prstGeom>
          <a:noFill/>
          <a:ln/>
        </p:spPr>
        <p:txBody>
          <a:bodyPr wrap="square" lIns="0" tIns="0" rIns="0" bIns="0" rtlCol="0" anchor="ctr"/>
          <a:lstStyle/>
          <a:p>
            <a:pPr marL="0" indent="0" algn="l">
              <a:buNone/>
            </a:pPr>
            <a:r>
              <a:rPr lang="en-US" sz="6000" b="1" noProof="0" dirty="0">
                <a:solidFill>
                  <a:srgbClr val="FFFFFF"/>
                </a:solidFill>
                <a:latin typeface="EucrosiaUPC" panose="02020603050405020304" pitchFamily="18" charset="-34"/>
                <a:ea typeface="Cambria" pitchFamily="34" charset="-122"/>
                <a:cs typeface="EucrosiaUPC" panose="02020603050405020304" pitchFamily="18" charset="-34"/>
              </a:rPr>
              <a:t>Marketing Mix Modelling</a:t>
            </a:r>
            <a:endParaRPr lang="en-US" sz="6000" noProof="0" dirty="0">
              <a:latin typeface="EucrosiaUPC" panose="02020603050405020304" pitchFamily="18" charset="-34"/>
              <a:cs typeface="EucrosiaUPC" panose="02020603050405020304" pitchFamily="18" charset="-34"/>
            </a:endParaRPr>
          </a:p>
        </p:txBody>
      </p:sp>
      <p:sp>
        <p:nvSpPr>
          <p:cNvPr id="4" name="Text 2"/>
          <p:cNvSpPr/>
          <p:nvPr/>
        </p:nvSpPr>
        <p:spPr>
          <a:xfrm>
            <a:off x="457200" y="1334659"/>
            <a:ext cx="5859194" cy="347472"/>
          </a:xfrm>
          <a:prstGeom prst="rect">
            <a:avLst/>
          </a:prstGeom>
          <a:noFill/>
          <a:ln/>
        </p:spPr>
        <p:txBody>
          <a:bodyPr wrap="square" lIns="0" tIns="0" rIns="0" bIns="0" rtlCol="0" anchor="ctr"/>
          <a:lstStyle/>
          <a:p>
            <a:pPr marL="0" indent="0" algn="l">
              <a:buNone/>
            </a:pPr>
            <a:r>
              <a:rPr lang="en-US" sz="1300" i="1" noProof="0" dirty="0">
                <a:solidFill>
                  <a:srgbClr val="CADCFC"/>
                </a:solidFill>
                <a:latin typeface="Cambria" panose="02040503050406030204" pitchFamily="18" charset="0"/>
                <a:ea typeface="Cambria" panose="02040503050406030204" pitchFamily="18" charset="0"/>
                <a:cs typeface="Calibri" pitchFamily="34" charset="-120"/>
              </a:rPr>
              <a:t>A Meridian MMM study with SHAP explainability, built on daily multi-territory marketing and sales data for a selected organization.</a:t>
            </a:r>
          </a:p>
        </p:txBody>
      </p:sp>
      <p:sp>
        <p:nvSpPr>
          <p:cNvPr id="5" name="Shape 3"/>
          <p:cNvSpPr/>
          <p:nvPr/>
        </p:nvSpPr>
        <p:spPr>
          <a:xfrm>
            <a:off x="457200" y="1765170"/>
            <a:ext cx="1645920" cy="50292"/>
          </a:xfrm>
          <a:prstGeom prst="rect">
            <a:avLst/>
          </a:prstGeom>
          <a:solidFill>
            <a:srgbClr val="AED8E6"/>
          </a:solidFill>
          <a:ln w="12700">
            <a:noFill/>
            <a:prstDash val="solid"/>
          </a:ln>
        </p:spPr>
        <p:txBody>
          <a:bodyPr/>
          <a:lstStyle/>
          <a:p>
            <a:endParaRPr lang="en-US" noProof="0" dirty="0"/>
          </a:p>
        </p:txBody>
      </p:sp>
      <p:sp>
        <p:nvSpPr>
          <p:cNvPr id="6" name="Text 4"/>
          <p:cNvSpPr/>
          <p:nvPr/>
        </p:nvSpPr>
        <p:spPr>
          <a:xfrm>
            <a:off x="457200" y="2881943"/>
            <a:ext cx="3196883" cy="256032"/>
          </a:xfrm>
          <a:prstGeom prst="rect">
            <a:avLst/>
          </a:prstGeom>
          <a:noFill/>
          <a:ln/>
        </p:spPr>
        <p:txBody>
          <a:bodyPr wrap="square" lIns="0" tIns="0" rIns="0" bIns="0" rtlCol="0" anchor="ctr"/>
          <a:lstStyle/>
          <a:p>
            <a:pPr marL="0" indent="0">
              <a:buNone/>
            </a:pPr>
            <a:r>
              <a:rPr lang="en-US" sz="1200" b="1" kern="0" spc="200" noProof="0" dirty="0">
                <a:solidFill>
                  <a:schemeClr val="bg1"/>
                </a:solidFill>
                <a:latin typeface="Cambria" panose="02040503050406030204" pitchFamily="18" charset="0"/>
                <a:ea typeface="Cambria" panose="02040503050406030204" pitchFamily="18" charset="0"/>
                <a:cs typeface="Calibri" pitchFamily="34" charset="-120"/>
              </a:rPr>
              <a:t>BUSINESS OBJECTIVES</a:t>
            </a:r>
            <a:endParaRPr lang="en-US" sz="1200" noProof="0" dirty="0">
              <a:solidFill>
                <a:schemeClr val="bg1"/>
              </a:solidFill>
              <a:latin typeface="Cambria" panose="02040503050406030204" pitchFamily="18" charset="0"/>
              <a:ea typeface="Cambria" panose="02040503050406030204" pitchFamily="18" charset="0"/>
            </a:endParaRPr>
          </a:p>
        </p:txBody>
      </p:sp>
      <p:sp>
        <p:nvSpPr>
          <p:cNvPr id="7" name="Text 5"/>
          <p:cNvSpPr/>
          <p:nvPr/>
        </p:nvSpPr>
        <p:spPr>
          <a:xfrm>
            <a:off x="736092" y="3179158"/>
            <a:ext cx="3308370" cy="1115568"/>
          </a:xfrm>
          <a:prstGeom prst="rect">
            <a:avLst/>
          </a:prstGeom>
          <a:noFill/>
          <a:ln/>
        </p:spPr>
        <p:txBody>
          <a:bodyPr wrap="square" lIns="0" tIns="0" rIns="0" bIns="0" rtlCol="0" anchor="t"/>
          <a:lstStyle/>
          <a:p>
            <a:pPr marL="228600" indent="-228600" algn="l">
              <a:buFont typeface="+mj-lt"/>
              <a:buAutoNum type="arabicPeriod"/>
            </a:pPr>
            <a:r>
              <a:rPr lang="en-US" sz="1200" noProof="0" dirty="0">
                <a:solidFill>
                  <a:schemeClr val="bg1"/>
                </a:solidFill>
                <a:latin typeface="Cambria" panose="02040503050406030204" pitchFamily="18" charset="0"/>
                <a:ea typeface="Cambria" panose="02040503050406030204" pitchFamily="18" charset="0"/>
              </a:rPr>
              <a:t>Quantify each channel marketing contribution, </a:t>
            </a:r>
          </a:p>
          <a:p>
            <a:pPr marL="228600" indent="-228600" algn="l">
              <a:buFont typeface="+mj-lt"/>
              <a:buAutoNum type="arabicPeriod"/>
            </a:pPr>
            <a:r>
              <a:rPr lang="en-US" sz="1200" noProof="0" dirty="0">
                <a:solidFill>
                  <a:schemeClr val="bg1"/>
                </a:solidFill>
                <a:latin typeface="Cambria" panose="02040503050406030204" pitchFamily="18" charset="0"/>
                <a:ea typeface="Cambria" panose="02040503050406030204" pitchFamily="18" charset="0"/>
              </a:rPr>
              <a:t>Estimate ROI and marginal ROI, </a:t>
            </a:r>
          </a:p>
          <a:p>
            <a:pPr marL="228600" indent="-228600" algn="l">
              <a:buFont typeface="+mj-lt"/>
              <a:buAutoNum type="arabicPeriod"/>
            </a:pPr>
            <a:r>
              <a:rPr lang="en-US" sz="1200" noProof="0" dirty="0">
                <a:solidFill>
                  <a:schemeClr val="bg1"/>
                </a:solidFill>
                <a:latin typeface="Cambria" panose="02040503050406030204" pitchFamily="18" charset="0"/>
                <a:ea typeface="Cambria" panose="02040503050406030204" pitchFamily="18" charset="0"/>
              </a:rPr>
              <a:t>Identify the highest-confidence path to incremental revenue.</a:t>
            </a:r>
          </a:p>
          <a:p>
            <a:pPr marL="228600" indent="-228600" algn="l">
              <a:buFont typeface="+mj-lt"/>
              <a:buAutoNum type="arabicPeriod"/>
            </a:pPr>
            <a:endParaRPr lang="en-US" sz="1200" noProof="0" dirty="0">
              <a:solidFill>
                <a:schemeClr val="bg1"/>
              </a:solidFill>
              <a:latin typeface="Cambria" panose="02040503050406030204" pitchFamily="18" charset="0"/>
              <a:ea typeface="Cambria" panose="02040503050406030204" pitchFamily="18" charset="0"/>
            </a:endParaRPr>
          </a:p>
        </p:txBody>
      </p:sp>
      <p:sp>
        <p:nvSpPr>
          <p:cNvPr id="8" name="Shape 6"/>
          <p:cNvSpPr/>
          <p:nvPr/>
        </p:nvSpPr>
        <p:spPr>
          <a:xfrm>
            <a:off x="4670866" y="1962581"/>
            <a:ext cx="4015934" cy="2595261"/>
          </a:xfrm>
          <a:prstGeom prst="roundRect">
            <a:avLst>
              <a:gd name="adj" fmla="val 4000"/>
            </a:avLst>
          </a:prstGeom>
          <a:solidFill>
            <a:srgbClr val="2D4A96"/>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r>
              <a:rPr lang="en-US" b="1" noProof="0" dirty="0">
                <a:solidFill>
                  <a:schemeClr val="accent1">
                    <a:lumMod val="20000"/>
                    <a:lumOff val="80000"/>
                  </a:schemeClr>
                </a:solidFill>
                <a:latin typeface="Cambria" pitchFamily="34" charset="0"/>
                <a:ea typeface="Cambria" pitchFamily="34" charset="-122"/>
                <a:cs typeface="Cambria" pitchFamily="34" charset="-120"/>
              </a:rPr>
              <a:t>Why We Built This Model</a:t>
            </a:r>
            <a:endParaRPr lang="en-US" noProof="0" dirty="0">
              <a:solidFill>
                <a:schemeClr val="accent1">
                  <a:lumMod val="20000"/>
                  <a:lumOff val="80000"/>
                </a:schemeClr>
              </a:solidFill>
            </a:endParaRPr>
          </a:p>
        </p:txBody>
      </p:sp>
      <p:sp>
        <p:nvSpPr>
          <p:cNvPr id="9" name="Text 7"/>
          <p:cNvSpPr/>
          <p:nvPr/>
        </p:nvSpPr>
        <p:spPr>
          <a:xfrm>
            <a:off x="5301952" y="1664264"/>
            <a:ext cx="2721907" cy="249880"/>
          </a:xfrm>
          <a:prstGeom prst="rect">
            <a:avLst/>
          </a:prstGeom>
          <a:noFill/>
          <a:ln/>
        </p:spPr>
        <p:txBody>
          <a:bodyPr wrap="square" lIns="0" tIns="0" rIns="0" bIns="0" rtlCol="0" anchor="ctr"/>
          <a:lstStyle/>
          <a:p>
            <a:pPr marL="0" indent="0" algn="ctr">
              <a:buNone/>
            </a:pPr>
            <a:r>
              <a:rPr lang="en-US" sz="1200" b="1" kern="0" spc="200" noProof="0" dirty="0">
                <a:solidFill>
                  <a:schemeClr val="bg1"/>
                </a:solidFill>
                <a:latin typeface="Cambria" panose="02040503050406030204" pitchFamily="18" charset="0"/>
                <a:ea typeface="Cambria" panose="02040503050406030204" pitchFamily="18" charset="0"/>
                <a:cs typeface="Calibri" pitchFamily="34" charset="-120"/>
              </a:rPr>
              <a:t>BUSINESS CONTEXT</a:t>
            </a:r>
            <a:endParaRPr lang="en-US" sz="1200" noProof="0" dirty="0">
              <a:solidFill>
                <a:schemeClr val="bg1"/>
              </a:solidFill>
              <a:latin typeface="Cambria" panose="02040503050406030204" pitchFamily="18" charset="0"/>
              <a:ea typeface="Cambria" panose="02040503050406030204" pitchFamily="18" charset="0"/>
            </a:endParaRPr>
          </a:p>
        </p:txBody>
      </p:sp>
      <p:sp>
        <p:nvSpPr>
          <p:cNvPr id="10" name="Shape 8"/>
          <p:cNvSpPr/>
          <p:nvPr/>
        </p:nvSpPr>
        <p:spPr>
          <a:xfrm>
            <a:off x="4798612" y="2342828"/>
            <a:ext cx="1825987" cy="1026294"/>
          </a:xfrm>
          <a:prstGeom prst="roundRect">
            <a:avLst>
              <a:gd name="adj" fmla="val 8696"/>
            </a:avLst>
          </a:prstGeom>
          <a:solidFill>
            <a:schemeClr val="bg1"/>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r>
              <a:rPr lang="en-US" sz="1000" b="1" noProof="0" dirty="0">
                <a:solidFill>
                  <a:srgbClr val="1E2761"/>
                </a:solidFill>
                <a:latin typeface="Cambria" panose="02040503050406030204" pitchFamily="18" charset="0"/>
                <a:ea typeface="Cambria" panose="02040503050406030204" pitchFamily="18" charset="0"/>
                <a:cs typeface="Calibri" pitchFamily="34" charset="-120"/>
              </a:rPr>
              <a:t>Quantify Contribution</a:t>
            </a:r>
          </a:p>
          <a:p>
            <a:pPr algn="ctr"/>
            <a:endParaRPr lang="en-US" sz="1000" b="1" noProof="0" dirty="0">
              <a:solidFill>
                <a:srgbClr val="1E293B"/>
              </a:solidFill>
              <a:latin typeface="Cambria" panose="02040503050406030204" pitchFamily="18" charset="0"/>
              <a:ea typeface="Cambria" panose="02040503050406030204" pitchFamily="18" charset="0"/>
              <a:cs typeface="Calibri" pitchFamily="34" charset="-120"/>
            </a:endParaRPr>
          </a:p>
          <a:p>
            <a:pPr algn="ctr"/>
            <a:r>
              <a:rPr lang="en-US" sz="1000" noProof="0" dirty="0">
                <a:solidFill>
                  <a:srgbClr val="1E293B"/>
                </a:solidFill>
                <a:latin typeface="Cambria" panose="02040503050406030204" pitchFamily="18" charset="0"/>
                <a:ea typeface="Cambria" panose="02040503050406030204" pitchFamily="18" charset="0"/>
                <a:cs typeface="Calibri" pitchFamily="34" charset="-120"/>
              </a:rPr>
              <a:t>Marketing budgets are split in different channels, and a causal view is necessary to define the future choices</a:t>
            </a:r>
            <a:endParaRPr lang="en-US" sz="1000" noProof="0" dirty="0">
              <a:latin typeface="Cambria" panose="02040503050406030204" pitchFamily="18" charset="0"/>
              <a:ea typeface="Cambria" panose="02040503050406030204" pitchFamily="18" charset="0"/>
            </a:endParaRPr>
          </a:p>
        </p:txBody>
      </p:sp>
      <p:sp>
        <p:nvSpPr>
          <p:cNvPr id="12" name="Text 10"/>
          <p:cNvSpPr/>
          <p:nvPr/>
        </p:nvSpPr>
        <p:spPr>
          <a:xfrm>
            <a:off x="5874123" y="2902994"/>
            <a:ext cx="1320798" cy="287363"/>
          </a:xfrm>
          <a:prstGeom prst="rect">
            <a:avLst/>
          </a:prstGeom>
          <a:noFill/>
          <a:ln/>
        </p:spPr>
        <p:txBody>
          <a:bodyPr wrap="square" lIns="0" tIns="0" rIns="0" bIns="0" rtlCol="0" anchor="t"/>
          <a:lstStyle/>
          <a:p>
            <a:pPr marL="0" indent="0" algn="ctr">
              <a:buNone/>
            </a:pPr>
            <a:endParaRPr lang="en-US" sz="1100" noProof="0" dirty="0">
              <a:solidFill>
                <a:schemeClr val="accent1">
                  <a:lumMod val="50000"/>
                </a:schemeClr>
              </a:solidFill>
            </a:endParaRPr>
          </a:p>
        </p:txBody>
      </p:sp>
      <p:sp>
        <p:nvSpPr>
          <p:cNvPr id="13" name="Text 11"/>
          <p:cNvSpPr/>
          <p:nvPr/>
        </p:nvSpPr>
        <p:spPr>
          <a:xfrm>
            <a:off x="5874121" y="3143337"/>
            <a:ext cx="1320799" cy="225785"/>
          </a:xfrm>
          <a:prstGeom prst="rect">
            <a:avLst/>
          </a:prstGeom>
          <a:noFill/>
          <a:ln/>
        </p:spPr>
        <p:txBody>
          <a:bodyPr wrap="square" lIns="0" tIns="0" rIns="0" bIns="0" rtlCol="0" anchor="t"/>
          <a:lstStyle/>
          <a:p>
            <a:pPr marL="0" indent="0" algn="ctr">
              <a:buNone/>
            </a:pPr>
            <a:endParaRPr lang="en-US" sz="900" noProof="0" dirty="0">
              <a:solidFill>
                <a:schemeClr val="accent1">
                  <a:lumMod val="50000"/>
                </a:schemeClr>
              </a:solidFill>
            </a:endParaRPr>
          </a:p>
        </p:txBody>
      </p:sp>
      <p:sp>
        <p:nvSpPr>
          <p:cNvPr id="14" name="Shape 12"/>
          <p:cNvSpPr/>
          <p:nvPr/>
        </p:nvSpPr>
        <p:spPr>
          <a:xfrm>
            <a:off x="6698260" y="2351711"/>
            <a:ext cx="1857318" cy="1026294"/>
          </a:xfrm>
          <a:prstGeom prst="roundRect">
            <a:avLst>
              <a:gd name="adj" fmla="val 8696"/>
            </a:avLst>
          </a:prstGeom>
          <a:solidFill>
            <a:schemeClr val="bg1"/>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r>
              <a:rPr lang="en-US" sz="1000" b="1" noProof="0" dirty="0">
                <a:solidFill>
                  <a:srgbClr val="1E2761"/>
                </a:solidFill>
                <a:latin typeface="Cambria" panose="02040503050406030204" pitchFamily="18" charset="0"/>
                <a:ea typeface="Cambria" panose="02040503050406030204" pitchFamily="18" charset="0"/>
              </a:rPr>
              <a:t>Map Saturation</a:t>
            </a:r>
          </a:p>
          <a:p>
            <a:pPr algn="ctr"/>
            <a:endParaRPr lang="en-US" sz="1000" b="1" noProof="0" dirty="0">
              <a:latin typeface="Cambria" panose="02040503050406030204" pitchFamily="18" charset="0"/>
              <a:ea typeface="Cambria" panose="02040503050406030204" pitchFamily="18" charset="0"/>
            </a:endParaRPr>
          </a:p>
          <a:p>
            <a:pPr algn="ctr"/>
            <a:r>
              <a:rPr lang="en-US" sz="1000" noProof="0" dirty="0">
                <a:solidFill>
                  <a:srgbClr val="1E293B"/>
                </a:solidFill>
                <a:latin typeface="Cambria" panose="02040503050406030204" pitchFamily="18" charset="0"/>
                <a:ea typeface="Cambria" panose="02040503050406030204" pitchFamily="18" charset="0"/>
                <a:cs typeface="Calibri" pitchFamily="34" charset="-120"/>
              </a:rPr>
              <a:t>Specific channels could have already hit diminishing returns, must be modified to optimize the budget use.</a:t>
            </a:r>
            <a:endParaRPr lang="en-US" sz="1000" b="1" noProof="0" dirty="0">
              <a:latin typeface="Cambria" panose="02040503050406030204" pitchFamily="18" charset="0"/>
              <a:ea typeface="Cambria" panose="02040503050406030204" pitchFamily="18" charset="0"/>
            </a:endParaRPr>
          </a:p>
        </p:txBody>
      </p:sp>
      <p:sp>
        <p:nvSpPr>
          <p:cNvPr id="15" name="Text 13"/>
          <p:cNvSpPr/>
          <p:nvPr/>
        </p:nvSpPr>
        <p:spPr>
          <a:xfrm>
            <a:off x="7268585" y="2404610"/>
            <a:ext cx="1320796" cy="564462"/>
          </a:xfrm>
          <a:prstGeom prst="rect">
            <a:avLst/>
          </a:prstGeom>
          <a:noFill/>
          <a:ln/>
        </p:spPr>
        <p:txBody>
          <a:bodyPr wrap="square" lIns="0" tIns="0" rIns="0" bIns="0" rtlCol="0" anchor="b"/>
          <a:lstStyle/>
          <a:p>
            <a:pPr marL="0" indent="0" algn="ctr">
              <a:buNone/>
            </a:pPr>
            <a:endParaRPr lang="en-US" sz="2800" noProof="0" dirty="0">
              <a:solidFill>
                <a:schemeClr val="accent1">
                  <a:lumMod val="50000"/>
                </a:schemeClr>
              </a:solidFill>
            </a:endParaRPr>
          </a:p>
        </p:txBody>
      </p:sp>
      <p:sp>
        <p:nvSpPr>
          <p:cNvPr id="16" name="Text 14"/>
          <p:cNvSpPr/>
          <p:nvPr/>
        </p:nvSpPr>
        <p:spPr>
          <a:xfrm>
            <a:off x="7268583" y="2902994"/>
            <a:ext cx="1320798" cy="287363"/>
          </a:xfrm>
          <a:prstGeom prst="rect">
            <a:avLst/>
          </a:prstGeom>
          <a:noFill/>
          <a:ln/>
        </p:spPr>
        <p:txBody>
          <a:bodyPr wrap="square" lIns="0" tIns="0" rIns="0" bIns="0" rtlCol="0" anchor="t"/>
          <a:lstStyle/>
          <a:p>
            <a:pPr marL="0" indent="0" algn="ctr">
              <a:buNone/>
            </a:pPr>
            <a:endParaRPr lang="en-US" sz="1100" noProof="0" dirty="0">
              <a:solidFill>
                <a:schemeClr val="accent1">
                  <a:lumMod val="50000"/>
                </a:schemeClr>
              </a:solidFill>
            </a:endParaRPr>
          </a:p>
        </p:txBody>
      </p:sp>
      <p:sp>
        <p:nvSpPr>
          <p:cNvPr id="17" name="Text 15"/>
          <p:cNvSpPr/>
          <p:nvPr/>
        </p:nvSpPr>
        <p:spPr>
          <a:xfrm>
            <a:off x="7268581" y="3143337"/>
            <a:ext cx="1320799" cy="225785"/>
          </a:xfrm>
          <a:prstGeom prst="rect">
            <a:avLst/>
          </a:prstGeom>
          <a:noFill/>
          <a:ln/>
        </p:spPr>
        <p:txBody>
          <a:bodyPr wrap="square" lIns="0" tIns="0" rIns="0" bIns="0" rtlCol="0" anchor="t"/>
          <a:lstStyle/>
          <a:p>
            <a:pPr marL="0" indent="0" algn="ctr">
              <a:buNone/>
            </a:pPr>
            <a:endParaRPr lang="en-US" sz="900" noProof="0" dirty="0">
              <a:solidFill>
                <a:schemeClr val="accent1">
                  <a:lumMod val="50000"/>
                </a:schemeClr>
              </a:solidFill>
            </a:endParaRPr>
          </a:p>
        </p:txBody>
      </p:sp>
      <p:sp>
        <p:nvSpPr>
          <p:cNvPr id="18" name="Shape 16"/>
          <p:cNvSpPr/>
          <p:nvPr/>
        </p:nvSpPr>
        <p:spPr>
          <a:xfrm>
            <a:off x="4798613" y="3438910"/>
            <a:ext cx="1825984" cy="1026294"/>
          </a:xfrm>
          <a:prstGeom prst="roundRect">
            <a:avLst>
              <a:gd name="adj" fmla="val 8696"/>
            </a:avLst>
          </a:prstGeom>
          <a:solidFill>
            <a:schemeClr val="bg1"/>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r>
              <a:rPr lang="en-US" sz="1000" b="1" noProof="0" dirty="0">
                <a:solidFill>
                  <a:srgbClr val="1E2761"/>
                </a:solidFill>
                <a:latin typeface="Cambria" panose="02040503050406030204" pitchFamily="18" charset="0"/>
                <a:ea typeface="Cambria" panose="02040503050406030204" pitchFamily="18" charset="0"/>
                <a:cs typeface="Calibri" pitchFamily="34" charset="-120"/>
              </a:rPr>
              <a:t>Estimate ROI &amp; </a:t>
            </a:r>
            <a:r>
              <a:rPr lang="en-US" sz="1000" b="1" noProof="0" dirty="0" err="1">
                <a:solidFill>
                  <a:srgbClr val="1E2761"/>
                </a:solidFill>
                <a:latin typeface="Cambria" panose="02040503050406030204" pitchFamily="18" charset="0"/>
                <a:ea typeface="Cambria" panose="02040503050406030204" pitchFamily="18" charset="0"/>
                <a:cs typeface="Calibri" pitchFamily="34" charset="-120"/>
              </a:rPr>
              <a:t>mROI</a:t>
            </a:r>
            <a:endParaRPr lang="en-US" sz="1000" noProof="0" dirty="0">
              <a:solidFill>
                <a:srgbClr val="1E2761"/>
              </a:solidFill>
              <a:latin typeface="Cambria" panose="02040503050406030204" pitchFamily="18" charset="0"/>
              <a:ea typeface="Cambria" panose="02040503050406030204" pitchFamily="18" charset="0"/>
            </a:endParaRPr>
          </a:p>
          <a:p>
            <a:pPr algn="ctr"/>
            <a:endParaRPr lang="en-US" sz="1000" noProof="0" dirty="0">
              <a:latin typeface="Cambria" panose="02040503050406030204" pitchFamily="18" charset="0"/>
              <a:ea typeface="Cambria" panose="02040503050406030204" pitchFamily="18" charset="0"/>
            </a:endParaRPr>
          </a:p>
          <a:p>
            <a:pPr algn="ctr"/>
            <a:r>
              <a:rPr lang="en-US" sz="1000" noProof="0" dirty="0">
                <a:latin typeface="Cambria" panose="02040503050406030204" pitchFamily="18" charset="0"/>
                <a:ea typeface="Cambria" panose="02040503050406030204" pitchFamily="18" charset="0"/>
              </a:rPr>
              <a:t>Average and marginal return by channel must be identified to have a complete view on the actual spending</a:t>
            </a:r>
          </a:p>
        </p:txBody>
      </p:sp>
      <p:sp>
        <p:nvSpPr>
          <p:cNvPr id="19" name="Text 17"/>
          <p:cNvSpPr/>
          <p:nvPr/>
        </p:nvSpPr>
        <p:spPr>
          <a:xfrm>
            <a:off x="5874125" y="3593330"/>
            <a:ext cx="1320796" cy="564462"/>
          </a:xfrm>
          <a:prstGeom prst="rect">
            <a:avLst/>
          </a:prstGeom>
          <a:noFill/>
          <a:ln/>
        </p:spPr>
        <p:txBody>
          <a:bodyPr wrap="square" lIns="0" tIns="0" rIns="0" bIns="0" rtlCol="0" anchor="b"/>
          <a:lstStyle/>
          <a:p>
            <a:pPr marL="0" indent="0" algn="ctr">
              <a:buNone/>
            </a:pPr>
            <a:endParaRPr lang="en-US" sz="2800" noProof="0" dirty="0">
              <a:solidFill>
                <a:schemeClr val="accent1">
                  <a:lumMod val="50000"/>
                </a:schemeClr>
              </a:solidFill>
            </a:endParaRPr>
          </a:p>
        </p:txBody>
      </p:sp>
      <p:sp>
        <p:nvSpPr>
          <p:cNvPr id="20" name="Text 18"/>
          <p:cNvSpPr/>
          <p:nvPr/>
        </p:nvSpPr>
        <p:spPr>
          <a:xfrm>
            <a:off x="5874123" y="4091714"/>
            <a:ext cx="1320798" cy="287363"/>
          </a:xfrm>
          <a:prstGeom prst="rect">
            <a:avLst/>
          </a:prstGeom>
          <a:noFill/>
          <a:ln/>
        </p:spPr>
        <p:txBody>
          <a:bodyPr wrap="square" lIns="0" tIns="0" rIns="0" bIns="0" rtlCol="0" anchor="t"/>
          <a:lstStyle/>
          <a:p>
            <a:pPr marL="0" indent="0" algn="ctr">
              <a:buNone/>
            </a:pPr>
            <a:endParaRPr lang="en-US" sz="1100" noProof="0" dirty="0">
              <a:solidFill>
                <a:schemeClr val="accent1">
                  <a:lumMod val="50000"/>
                </a:schemeClr>
              </a:solidFill>
            </a:endParaRPr>
          </a:p>
        </p:txBody>
      </p:sp>
      <p:sp>
        <p:nvSpPr>
          <p:cNvPr id="21" name="Text 19"/>
          <p:cNvSpPr/>
          <p:nvPr/>
        </p:nvSpPr>
        <p:spPr>
          <a:xfrm>
            <a:off x="5874121" y="4332057"/>
            <a:ext cx="1320799" cy="225785"/>
          </a:xfrm>
          <a:prstGeom prst="rect">
            <a:avLst/>
          </a:prstGeom>
          <a:noFill/>
          <a:ln/>
        </p:spPr>
        <p:txBody>
          <a:bodyPr wrap="square" lIns="0" tIns="0" rIns="0" bIns="0" rtlCol="0" anchor="t"/>
          <a:lstStyle/>
          <a:p>
            <a:pPr marL="0" indent="0" algn="ctr">
              <a:buNone/>
            </a:pPr>
            <a:endParaRPr lang="en-US" sz="900" noProof="0" dirty="0">
              <a:solidFill>
                <a:schemeClr val="accent1">
                  <a:lumMod val="50000"/>
                </a:schemeClr>
              </a:solidFill>
            </a:endParaRPr>
          </a:p>
        </p:txBody>
      </p:sp>
      <p:sp>
        <p:nvSpPr>
          <p:cNvPr id="22" name="Shape 20"/>
          <p:cNvSpPr/>
          <p:nvPr/>
        </p:nvSpPr>
        <p:spPr>
          <a:xfrm>
            <a:off x="6698260" y="3433906"/>
            <a:ext cx="1857318" cy="1031297"/>
          </a:xfrm>
          <a:prstGeom prst="roundRect">
            <a:avLst>
              <a:gd name="adj" fmla="val 8696"/>
            </a:avLst>
          </a:prstGeom>
          <a:solidFill>
            <a:schemeClr val="bg1"/>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r>
              <a:rPr lang="en-US" sz="1000" b="1" noProof="0" dirty="0">
                <a:solidFill>
                  <a:srgbClr val="1E2761"/>
                </a:solidFill>
                <a:latin typeface="Cambria" panose="02040503050406030204" pitchFamily="18" charset="0"/>
                <a:ea typeface="Cambria" panose="02040503050406030204" pitchFamily="18" charset="0"/>
                <a:cs typeface="Calibri" pitchFamily="34" charset="-120"/>
              </a:rPr>
              <a:t>Simulate Allocation</a:t>
            </a:r>
          </a:p>
          <a:p>
            <a:pPr algn="ctr"/>
            <a:endParaRPr lang="en-US" sz="1000" b="1" noProof="0" dirty="0">
              <a:solidFill>
                <a:srgbClr val="1E293B"/>
              </a:solidFill>
              <a:latin typeface="Cambria" panose="02040503050406030204" pitchFamily="18" charset="0"/>
              <a:ea typeface="Cambria" panose="02040503050406030204" pitchFamily="18" charset="0"/>
              <a:cs typeface="Calibri" pitchFamily="34" charset="-120"/>
            </a:endParaRPr>
          </a:p>
          <a:p>
            <a:pPr algn="ctr"/>
            <a:r>
              <a:rPr lang="en-US" sz="1000" noProof="0" dirty="0">
                <a:solidFill>
                  <a:srgbClr val="1E293B"/>
                </a:solidFill>
                <a:latin typeface="Calibri" pitchFamily="34" charset="0"/>
                <a:ea typeface="Calibri" pitchFamily="34" charset="-122"/>
                <a:cs typeface="Calibri" pitchFamily="34" charset="-120"/>
              </a:rPr>
              <a:t>If the company had extra budget to deploy next quarter, where should it go, and how confident can  the answer be?</a:t>
            </a:r>
            <a:endParaRPr lang="en-US" sz="1000" noProof="0" dirty="0">
              <a:latin typeface="Cambria" panose="02040503050406030204" pitchFamily="18" charset="0"/>
              <a:ea typeface="Cambria" panose="02040503050406030204" pitchFamily="18" charset="0"/>
            </a:endParaRPr>
          </a:p>
        </p:txBody>
      </p:sp>
      <p:sp>
        <p:nvSpPr>
          <p:cNvPr id="23" name="Text 21"/>
          <p:cNvSpPr/>
          <p:nvPr/>
        </p:nvSpPr>
        <p:spPr>
          <a:xfrm>
            <a:off x="7268585" y="3593330"/>
            <a:ext cx="1320796" cy="564462"/>
          </a:xfrm>
          <a:prstGeom prst="rect">
            <a:avLst/>
          </a:prstGeom>
          <a:noFill/>
          <a:ln/>
        </p:spPr>
        <p:txBody>
          <a:bodyPr wrap="square" lIns="0" tIns="0" rIns="0" bIns="0" rtlCol="0" anchor="b"/>
          <a:lstStyle/>
          <a:p>
            <a:pPr marL="0" indent="0" algn="ctr">
              <a:buNone/>
            </a:pPr>
            <a:endParaRPr lang="en-US" sz="2800" noProof="0" dirty="0">
              <a:solidFill>
                <a:schemeClr val="accent1">
                  <a:lumMod val="50000"/>
                </a:schemeClr>
              </a:solidFill>
            </a:endParaRPr>
          </a:p>
        </p:txBody>
      </p:sp>
      <p:sp>
        <p:nvSpPr>
          <p:cNvPr id="24" name="Text 22"/>
          <p:cNvSpPr/>
          <p:nvPr/>
        </p:nvSpPr>
        <p:spPr>
          <a:xfrm>
            <a:off x="7268583" y="4091714"/>
            <a:ext cx="1320798" cy="287363"/>
          </a:xfrm>
          <a:prstGeom prst="rect">
            <a:avLst/>
          </a:prstGeom>
          <a:noFill/>
          <a:ln/>
        </p:spPr>
        <p:txBody>
          <a:bodyPr wrap="square" lIns="0" tIns="0" rIns="0" bIns="0" rtlCol="0" anchor="t"/>
          <a:lstStyle/>
          <a:p>
            <a:pPr marL="0" indent="0" algn="ctr">
              <a:buNone/>
            </a:pPr>
            <a:endParaRPr lang="en-US" sz="1100" noProof="0" dirty="0">
              <a:solidFill>
                <a:schemeClr val="accent1">
                  <a:lumMod val="50000"/>
                </a:schemeClr>
              </a:solidFill>
            </a:endParaRPr>
          </a:p>
        </p:txBody>
      </p:sp>
      <p:sp>
        <p:nvSpPr>
          <p:cNvPr id="25" name="Text 23"/>
          <p:cNvSpPr/>
          <p:nvPr/>
        </p:nvSpPr>
        <p:spPr>
          <a:xfrm>
            <a:off x="7268581" y="4332057"/>
            <a:ext cx="1320799" cy="225785"/>
          </a:xfrm>
          <a:prstGeom prst="rect">
            <a:avLst/>
          </a:prstGeom>
          <a:noFill/>
          <a:ln/>
        </p:spPr>
        <p:txBody>
          <a:bodyPr wrap="square" lIns="0" tIns="0" rIns="0" bIns="0" rtlCol="0" anchor="t"/>
          <a:lstStyle/>
          <a:p>
            <a:pPr marL="0" indent="0" algn="ctr">
              <a:buNone/>
            </a:pPr>
            <a:endParaRPr lang="en-US" sz="900" noProof="0" dirty="0">
              <a:solidFill>
                <a:schemeClr val="accent1">
                  <a:lumMod val="50000"/>
                </a:schemeClr>
              </a:solidFill>
            </a:endParaRPr>
          </a:p>
        </p:txBody>
      </p:sp>
      <p:sp>
        <p:nvSpPr>
          <p:cNvPr id="26" name="Text 24"/>
          <p:cNvSpPr/>
          <p:nvPr/>
        </p:nvSpPr>
        <p:spPr>
          <a:xfrm>
            <a:off x="0" y="4864608"/>
            <a:ext cx="9144000" cy="274320"/>
          </a:xfrm>
          <a:prstGeom prst="rect">
            <a:avLst/>
          </a:prstGeom>
          <a:noFill/>
          <a:ln/>
        </p:spPr>
        <p:txBody>
          <a:bodyPr wrap="square" lIns="0" tIns="0" rIns="0" bIns="0" rtlCol="0" anchor="ctr"/>
          <a:lstStyle/>
          <a:p>
            <a:pPr marL="0" indent="0" algn="ctr">
              <a:buNone/>
            </a:pPr>
            <a:r>
              <a:rPr lang="en-US" sz="800" noProof="0" dirty="0">
                <a:solidFill>
                  <a:srgbClr val="8094C8"/>
                </a:solidFill>
                <a:latin typeface="Calibri" pitchFamily="34" charset="0"/>
                <a:ea typeface="Calibri" pitchFamily="34" charset="-122"/>
                <a:cs typeface="Calibri" pitchFamily="34" charset="-120"/>
              </a:rPr>
              <a:t>Università degli Studi di Milano-Bicocca  - Python – Meridian - SHAP</a:t>
            </a:r>
            <a:endParaRPr lang="en-US" sz="800" noProof="0" dirty="0"/>
          </a:p>
        </p:txBody>
      </p:sp>
      <p:sp>
        <p:nvSpPr>
          <p:cNvPr id="28" name="Text 6">
            <a:extLst>
              <a:ext uri="{FF2B5EF4-FFF2-40B4-BE49-F238E27FC236}">
                <a16:creationId xmlns:a16="http://schemas.microsoft.com/office/drawing/2014/main" id="{64B4FB08-DB09-9FFA-E5BA-0517DC1FA8AA}"/>
              </a:ext>
            </a:extLst>
          </p:cNvPr>
          <p:cNvSpPr/>
          <p:nvPr/>
        </p:nvSpPr>
        <p:spPr>
          <a:xfrm>
            <a:off x="457200" y="1896535"/>
            <a:ext cx="4572000" cy="256032"/>
          </a:xfrm>
          <a:prstGeom prst="rect">
            <a:avLst/>
          </a:prstGeom>
          <a:noFill/>
          <a:ln/>
        </p:spPr>
        <p:txBody>
          <a:bodyPr wrap="square" lIns="0" tIns="0" rIns="0" bIns="0" rtlCol="0" anchor="ctr"/>
          <a:lstStyle/>
          <a:p>
            <a:pPr marL="0" indent="0" algn="l">
              <a:buNone/>
            </a:pPr>
            <a:r>
              <a:rPr lang="en-US" sz="1100" noProof="0" dirty="0">
                <a:solidFill>
                  <a:schemeClr val="bg1"/>
                </a:solidFill>
                <a:latin typeface="Cambria" panose="02040503050406030204" pitchFamily="18" charset="0"/>
                <a:ea typeface="Cambria" panose="02040503050406030204" pitchFamily="18" charset="0"/>
              </a:rPr>
              <a:t>Presented to: Professor Luigi Capone</a:t>
            </a:r>
          </a:p>
        </p:txBody>
      </p:sp>
      <p:sp>
        <p:nvSpPr>
          <p:cNvPr id="34" name="Text 6">
            <a:extLst>
              <a:ext uri="{FF2B5EF4-FFF2-40B4-BE49-F238E27FC236}">
                <a16:creationId xmlns:a16="http://schemas.microsoft.com/office/drawing/2014/main" id="{BD39013A-1A69-8B5C-E738-D3122520B8BF}"/>
              </a:ext>
            </a:extLst>
          </p:cNvPr>
          <p:cNvSpPr/>
          <p:nvPr/>
        </p:nvSpPr>
        <p:spPr>
          <a:xfrm>
            <a:off x="457200" y="2116694"/>
            <a:ext cx="4572000" cy="256032"/>
          </a:xfrm>
          <a:prstGeom prst="rect">
            <a:avLst/>
          </a:prstGeom>
          <a:noFill/>
          <a:ln/>
        </p:spPr>
        <p:txBody>
          <a:bodyPr wrap="square" lIns="0" tIns="0" rIns="0" bIns="0" rtlCol="0" anchor="ctr"/>
          <a:lstStyle/>
          <a:p>
            <a:pPr marL="0" indent="0" algn="l">
              <a:buNone/>
            </a:pPr>
            <a:r>
              <a:rPr lang="en-US" sz="1100" noProof="0" dirty="0">
                <a:solidFill>
                  <a:schemeClr val="bg1"/>
                </a:solidFill>
                <a:latin typeface="Cambria" panose="02040503050406030204" pitchFamily="18" charset="0"/>
                <a:ea typeface="Cambria" panose="02040503050406030204" pitchFamily="18" charset="0"/>
              </a:rPr>
              <a:t>Student: Colombini Francesco – ID:944941</a:t>
            </a:r>
          </a:p>
        </p:txBody>
      </p:sp>
      <p:cxnSp>
        <p:nvCxnSpPr>
          <p:cNvPr id="33" name="Connettore diritto 32">
            <a:extLst>
              <a:ext uri="{FF2B5EF4-FFF2-40B4-BE49-F238E27FC236}">
                <a16:creationId xmlns:a16="http://schemas.microsoft.com/office/drawing/2014/main" id="{FD8C8A14-71AB-CABA-052A-807B146450A3}"/>
              </a:ext>
            </a:extLst>
          </p:cNvPr>
          <p:cNvCxnSpPr>
            <a:cxnSpLocks/>
          </p:cNvCxnSpPr>
          <p:nvPr/>
        </p:nvCxnSpPr>
        <p:spPr>
          <a:xfrm flipV="1">
            <a:off x="5806027" y="1878768"/>
            <a:ext cx="1704753"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4572"/>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4" name="Text 1"/>
          <p:cNvSpPr/>
          <p:nvPr/>
        </p:nvSpPr>
        <p:spPr>
          <a:xfrm>
            <a:off x="274320" y="328832"/>
            <a:ext cx="7079567" cy="291905"/>
          </a:xfrm>
          <a:prstGeom prst="rect">
            <a:avLst/>
          </a:prstGeom>
          <a:noFill/>
          <a:ln/>
        </p:spPr>
        <p:txBody>
          <a:bodyPr wrap="square" lIns="0" tIns="0" rIns="0" bIns="0" rtlCol="0" anchor="ctr"/>
          <a:lstStyle/>
          <a:p>
            <a:pPr marL="0" indent="0" algn="l">
              <a:buNone/>
            </a:pPr>
            <a:r>
              <a:rPr lang="en-US" sz="2800" b="1" noProof="0" dirty="0">
                <a:solidFill>
                  <a:srgbClr val="FFFFFF"/>
                </a:solidFill>
                <a:latin typeface="EucrosiaUPC" panose="02020603050405020304" pitchFamily="18" charset="-34"/>
                <a:ea typeface="Cambria" pitchFamily="34" charset="-122"/>
                <a:cs typeface="EucrosiaUPC" panose="02020603050405020304" pitchFamily="18" charset="-34"/>
              </a:rPr>
              <a:t>1. Data Overview and Modelling Scope</a:t>
            </a:r>
          </a:p>
        </p:txBody>
      </p:sp>
      <p:sp>
        <p:nvSpPr>
          <p:cNvPr id="5" name="Text 2"/>
          <p:cNvSpPr/>
          <p:nvPr/>
        </p:nvSpPr>
        <p:spPr>
          <a:xfrm>
            <a:off x="311490" y="1053864"/>
            <a:ext cx="3840480" cy="256032"/>
          </a:xfrm>
          <a:prstGeom prst="rect">
            <a:avLst/>
          </a:prstGeom>
          <a:noFill/>
          <a:ln/>
        </p:spPr>
        <p:txBody>
          <a:bodyPr wrap="square" lIns="0" tIns="0" rIns="0" bIns="0" rtlCol="0" anchor="ctr"/>
          <a:lstStyle/>
          <a:p>
            <a:pPr marL="0" indent="0" algn="l">
              <a:buNone/>
            </a:pPr>
            <a:r>
              <a:rPr lang="en-US" sz="1200" b="1" kern="0" spc="200" noProof="0" dirty="0">
                <a:solidFill>
                  <a:schemeClr val="accent1">
                    <a:lumMod val="75000"/>
                  </a:schemeClr>
                </a:solidFill>
                <a:latin typeface="Cambria" panose="02040503050406030204" pitchFamily="18" charset="0"/>
                <a:ea typeface="Cambria" panose="02040503050406030204" pitchFamily="18" charset="0"/>
                <a:cs typeface="Calibri" pitchFamily="34" charset="-120"/>
              </a:rPr>
              <a:t>METHODOLOGY &amp; RATIONALE</a:t>
            </a:r>
            <a:endParaRPr lang="en-US" sz="1200" noProof="0" dirty="0">
              <a:solidFill>
                <a:schemeClr val="accent1">
                  <a:lumMod val="75000"/>
                </a:schemeClr>
              </a:solidFill>
              <a:latin typeface="Cambria" panose="02040503050406030204" pitchFamily="18" charset="0"/>
              <a:ea typeface="Cambria" panose="02040503050406030204" pitchFamily="18" charset="0"/>
            </a:endParaRPr>
          </a:p>
        </p:txBody>
      </p:sp>
      <p:sp>
        <p:nvSpPr>
          <p:cNvPr id="6" name="Text 3"/>
          <p:cNvSpPr/>
          <p:nvPr/>
        </p:nvSpPr>
        <p:spPr>
          <a:xfrm>
            <a:off x="430565" y="1332198"/>
            <a:ext cx="4178605" cy="3163824"/>
          </a:xfrm>
          <a:prstGeom prst="rect">
            <a:avLst/>
          </a:prstGeom>
          <a:noFill/>
          <a:ln/>
        </p:spPr>
        <p:txBody>
          <a:bodyPr wrap="square" lIns="0" tIns="0" rIns="0" bIns="0" rtlCol="0" anchor="t"/>
          <a:lstStyle/>
          <a:p>
            <a:pPr marL="0" indent="0" algn="l">
              <a:spcAft>
                <a:spcPts val="100"/>
              </a:spcAft>
              <a:buNone/>
            </a:pPr>
            <a:r>
              <a:rPr lang="en-US" sz="1100" b="1" noProof="0" dirty="0">
                <a:solidFill>
                  <a:schemeClr val="accent1">
                    <a:lumMod val="75000"/>
                  </a:schemeClr>
                </a:solidFill>
                <a:latin typeface="Cambria" panose="02040503050406030204" pitchFamily="18" charset="0"/>
                <a:ea typeface="Cambria" panose="02040503050406030204" pitchFamily="18" charset="0"/>
                <a:cs typeface="Calibri" pitchFamily="34" charset="-120"/>
              </a:rPr>
              <a:t>1. Data Ingestion</a:t>
            </a:r>
          </a:p>
          <a:p>
            <a:pPr marL="171450" indent="-171450" algn="l">
              <a:spcAft>
                <a:spcPts val="100"/>
              </a:spcAft>
              <a:buFont typeface="Arial" panose="020B0604020202020204" pitchFamily="34" charset="0"/>
              <a:buChar char="•"/>
            </a:pPr>
            <a:r>
              <a:rPr lang="en-US" sz="1000" noProof="0" dirty="0">
                <a:solidFill>
                  <a:srgbClr val="1A2440"/>
                </a:solidFill>
                <a:latin typeface="Cambria" panose="02040503050406030204" pitchFamily="18" charset="0"/>
                <a:ea typeface="Cambria" panose="02040503050406030204" pitchFamily="18" charset="0"/>
                <a:cs typeface="Calibri" pitchFamily="34" charset="-120"/>
              </a:rPr>
              <a:t>The dataset was extracted from the file conjura_mmm_data.csv, inspected in full before any filtering or modelling.</a:t>
            </a:r>
            <a:endParaRPr lang="en-US" sz="1000" noProof="0" dirty="0">
              <a:latin typeface="Cambria" panose="02040503050406030204" pitchFamily="18" charset="0"/>
              <a:ea typeface="Cambria" panose="02040503050406030204" pitchFamily="18" charset="0"/>
            </a:endParaRPr>
          </a:p>
          <a:p>
            <a:pPr marL="0" indent="0" algn="l">
              <a:spcAft>
                <a:spcPts val="100"/>
              </a:spcAft>
              <a:buNone/>
            </a:pPr>
            <a:endParaRPr lang="en-US" sz="1050" noProof="0" dirty="0">
              <a:latin typeface="Cambria" panose="02040503050406030204" pitchFamily="18" charset="0"/>
              <a:ea typeface="Cambria" panose="02040503050406030204" pitchFamily="18" charset="0"/>
            </a:endParaRPr>
          </a:p>
          <a:p>
            <a:pPr marL="0" indent="0" algn="l">
              <a:spcAft>
                <a:spcPts val="100"/>
              </a:spcAft>
              <a:buNone/>
            </a:pPr>
            <a:r>
              <a:rPr lang="en-US" sz="1100" b="1" noProof="0" dirty="0">
                <a:solidFill>
                  <a:schemeClr val="accent1">
                    <a:lumMod val="75000"/>
                  </a:schemeClr>
                </a:solidFill>
                <a:latin typeface="Cambria" panose="02040503050406030204" pitchFamily="18" charset="0"/>
                <a:ea typeface="Cambria" panose="02040503050406030204" pitchFamily="18" charset="0"/>
              </a:rPr>
              <a:t>2. Data Quality</a:t>
            </a:r>
          </a:p>
          <a:p>
            <a:pPr marL="171450" indent="-171450">
              <a:spcAft>
                <a:spcPts val="100"/>
              </a:spcAft>
              <a:buFont typeface="Arial" panose="020B0604020202020204" pitchFamily="34" charset="0"/>
              <a:buChar char="•"/>
            </a:pPr>
            <a:r>
              <a:rPr lang="en-US" sz="1000" noProof="0" dirty="0">
                <a:solidFill>
                  <a:srgbClr val="1A2440"/>
                </a:solidFill>
                <a:latin typeface="Cambria" panose="02040503050406030204" pitchFamily="18" charset="0"/>
                <a:ea typeface="Cambria" panose="02040503050406030204" pitchFamily="18" charset="0"/>
                <a:cs typeface="Calibri" pitchFamily="34" charset="-120"/>
              </a:rPr>
              <a:t>The dataset contains multiple firms, all with different channels use and spending, for this reason most of the channels are full of missing and a complete analysis over all the dataset don’t give useful information </a:t>
            </a:r>
            <a:endParaRPr lang="en-US" sz="1000" noProof="0" dirty="0">
              <a:latin typeface="Cambria" panose="02040503050406030204" pitchFamily="18" charset="0"/>
              <a:ea typeface="Cambria" panose="02040503050406030204" pitchFamily="18" charset="0"/>
            </a:endParaRPr>
          </a:p>
          <a:p>
            <a:pPr marL="0" indent="0" algn="l">
              <a:spcAft>
                <a:spcPts val="100"/>
              </a:spcAft>
              <a:buNone/>
            </a:pPr>
            <a:endParaRPr lang="en-US" sz="1050" noProof="0" dirty="0">
              <a:latin typeface="Cambria" panose="02040503050406030204" pitchFamily="18" charset="0"/>
              <a:ea typeface="Cambria" panose="02040503050406030204" pitchFamily="18" charset="0"/>
            </a:endParaRPr>
          </a:p>
          <a:p>
            <a:pPr>
              <a:spcAft>
                <a:spcPts val="100"/>
              </a:spcAft>
            </a:pPr>
            <a:r>
              <a:rPr lang="en-US" sz="1100" b="1" noProof="0" dirty="0">
                <a:solidFill>
                  <a:schemeClr val="accent1">
                    <a:lumMod val="75000"/>
                  </a:schemeClr>
                </a:solidFill>
                <a:latin typeface="Cambria" panose="02040503050406030204" pitchFamily="18" charset="0"/>
                <a:ea typeface="Cambria" panose="02040503050406030204" pitchFamily="18" charset="0"/>
                <a:cs typeface="Calibri" pitchFamily="34" charset="-120"/>
              </a:rPr>
              <a:t>3. Data Preparation</a:t>
            </a:r>
          </a:p>
          <a:p>
            <a:pPr marL="171450" indent="-171450">
              <a:spcAft>
                <a:spcPts val="100"/>
              </a:spcAft>
              <a:buFont typeface="Arial" panose="020B0604020202020204" pitchFamily="34" charset="0"/>
              <a:buChar char="•"/>
            </a:pPr>
            <a:r>
              <a:rPr lang="en-US" sz="1000" noProof="0" dirty="0">
                <a:solidFill>
                  <a:srgbClr val="1A2440"/>
                </a:solidFill>
                <a:latin typeface="Cambria" panose="02040503050406030204" pitchFamily="18" charset="0"/>
                <a:ea typeface="Cambria" panose="02040503050406030204" pitchFamily="18" charset="0"/>
                <a:cs typeface="Calibri" pitchFamily="34" charset="-120"/>
              </a:rPr>
              <a:t>The raw territory-level dataset is transformed into a Meridian-ready table by defining NET_REVENUE, as the KPI, so the model targets real economic value rather than raw purchase counts. </a:t>
            </a:r>
          </a:p>
          <a:p>
            <a:pPr marL="171450" indent="-171450">
              <a:spcAft>
                <a:spcPts val="100"/>
              </a:spcAft>
              <a:buFont typeface="Arial" panose="020B0604020202020204" pitchFamily="34" charset="0"/>
              <a:buChar char="•"/>
            </a:pPr>
            <a:r>
              <a:rPr lang="en-US" sz="1000" noProof="0" dirty="0">
                <a:solidFill>
                  <a:srgbClr val="1A2440"/>
                </a:solidFill>
                <a:latin typeface="Cambria" panose="02040503050406030204" pitchFamily="18" charset="0"/>
                <a:ea typeface="Cambria" panose="02040503050406030204" pitchFamily="18" charset="0"/>
                <a:cs typeface="Calibri" pitchFamily="34" charset="-120"/>
              </a:rPr>
              <a:t>A DISCOUNT_RATE control is added to capture promo-driven demand separately from media effects, and any missing media spend is filled with zero, treating gaps as inactivity rather than letting them break estimation. </a:t>
            </a:r>
          </a:p>
          <a:p>
            <a:pPr marL="171450" indent="-171450">
              <a:spcAft>
                <a:spcPts val="100"/>
              </a:spcAft>
              <a:buFont typeface="Arial" panose="020B0604020202020204" pitchFamily="34" charset="0"/>
              <a:buChar char="•"/>
            </a:pPr>
            <a:r>
              <a:rPr lang="en-US" sz="1000" noProof="0" dirty="0">
                <a:solidFill>
                  <a:srgbClr val="1A2440"/>
                </a:solidFill>
                <a:latin typeface="Cambria" panose="02040503050406030204" pitchFamily="18" charset="0"/>
                <a:ea typeface="Cambria" panose="02040503050406030204" pitchFamily="18" charset="0"/>
                <a:cs typeface="Calibri" pitchFamily="34" charset="-120"/>
              </a:rPr>
              <a:t>Trend, day-of-week, and month features are also added so the model can separate genuine marketing impact from seasonality and long-run growth.</a:t>
            </a:r>
          </a:p>
          <a:p>
            <a:pPr marL="171450" indent="-171450">
              <a:spcAft>
                <a:spcPts val="100"/>
              </a:spcAft>
              <a:buFont typeface="Arial" panose="020B0604020202020204" pitchFamily="34" charset="0"/>
              <a:buChar char="•"/>
            </a:pPr>
            <a:endParaRPr lang="en-US" sz="1050" noProof="0" dirty="0">
              <a:solidFill>
                <a:srgbClr val="1A2440"/>
              </a:solidFill>
              <a:latin typeface="Cambria" panose="02040503050406030204" pitchFamily="18" charset="0"/>
              <a:ea typeface="Cambria" panose="02040503050406030204" pitchFamily="18" charset="0"/>
              <a:cs typeface="Calibri" pitchFamily="34" charset="-120"/>
            </a:endParaRPr>
          </a:p>
          <a:p>
            <a:pPr marL="171450" indent="-171450">
              <a:spcAft>
                <a:spcPts val="100"/>
              </a:spcAft>
              <a:buFont typeface="Arial" panose="020B0604020202020204" pitchFamily="34" charset="0"/>
              <a:buChar char="•"/>
            </a:pPr>
            <a:endParaRPr lang="en-US" sz="1050" noProof="0" dirty="0">
              <a:solidFill>
                <a:srgbClr val="1A2440"/>
              </a:solidFill>
              <a:latin typeface="Cambria" panose="02040503050406030204" pitchFamily="18" charset="0"/>
              <a:ea typeface="Cambria" panose="02040503050406030204" pitchFamily="18" charset="0"/>
              <a:cs typeface="Calibri" pitchFamily="34" charset="-120"/>
            </a:endParaRPr>
          </a:p>
          <a:p>
            <a:pPr marL="0" indent="0" algn="l">
              <a:spcAft>
                <a:spcPts val="100"/>
              </a:spcAft>
              <a:buNone/>
            </a:pPr>
            <a:endParaRPr lang="en-US" sz="1050" noProof="0" dirty="0">
              <a:latin typeface="Cambria" panose="02040503050406030204" pitchFamily="18" charset="0"/>
              <a:ea typeface="Cambria" panose="02040503050406030204" pitchFamily="18" charset="0"/>
            </a:endParaRPr>
          </a:p>
        </p:txBody>
      </p:sp>
      <p:sp>
        <p:nvSpPr>
          <p:cNvPr id="7" name="Text 4"/>
          <p:cNvSpPr/>
          <p:nvPr/>
        </p:nvSpPr>
        <p:spPr>
          <a:xfrm>
            <a:off x="5591737" y="1074144"/>
            <a:ext cx="2507909" cy="367427"/>
          </a:xfrm>
          <a:prstGeom prst="rect">
            <a:avLst/>
          </a:prstGeom>
          <a:noFill/>
          <a:ln/>
        </p:spPr>
        <p:txBody>
          <a:bodyPr wrap="square" lIns="0" tIns="0" rIns="0" bIns="0" rtlCol="0" anchor="ctr"/>
          <a:lstStyle/>
          <a:p>
            <a:pPr marL="0" indent="0" algn="ctr">
              <a:buNone/>
            </a:pPr>
            <a:r>
              <a:rPr lang="en-US" sz="1050" b="1" kern="0" spc="200" noProof="0" dirty="0">
                <a:solidFill>
                  <a:srgbClr val="3A5BA0"/>
                </a:solidFill>
                <a:latin typeface="Cambria" panose="02040503050406030204" pitchFamily="18" charset="0"/>
                <a:ea typeface="Cambria" panose="02040503050406030204" pitchFamily="18" charset="0"/>
                <a:cs typeface="Calibri" pitchFamily="34" charset="-120"/>
              </a:rPr>
              <a:t>SPEND CONCENTRATION BY CHANNELS: OVERALL FIRMS</a:t>
            </a:r>
            <a:endParaRPr lang="en-US" sz="1050" noProof="0" dirty="0">
              <a:latin typeface="Cambria" panose="02040503050406030204" pitchFamily="18" charset="0"/>
              <a:ea typeface="Cambria" panose="02040503050406030204" pitchFamily="18" charset="0"/>
            </a:endParaRPr>
          </a:p>
        </p:txBody>
      </p:sp>
      <p:sp>
        <p:nvSpPr>
          <p:cNvPr id="20" name="Text 0">
            <a:extLst>
              <a:ext uri="{FF2B5EF4-FFF2-40B4-BE49-F238E27FC236}">
                <a16:creationId xmlns:a16="http://schemas.microsoft.com/office/drawing/2014/main" id="{E51552D9-27B0-8C23-CFAE-EC47E0A5FA84}"/>
              </a:ext>
            </a:extLst>
          </p:cNvPr>
          <p:cNvSpPr/>
          <p:nvPr/>
        </p:nvSpPr>
        <p:spPr>
          <a:xfrm>
            <a:off x="274320" y="54512"/>
            <a:ext cx="736444"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TASK 1</a:t>
            </a:r>
            <a:endParaRPr lang="en-US" sz="900" noProof="0" dirty="0"/>
          </a:p>
        </p:txBody>
      </p:sp>
      <p:sp>
        <p:nvSpPr>
          <p:cNvPr id="24" name="Shape 1">
            <a:extLst>
              <a:ext uri="{FF2B5EF4-FFF2-40B4-BE49-F238E27FC236}">
                <a16:creationId xmlns:a16="http://schemas.microsoft.com/office/drawing/2014/main" id="{17CC584C-2B41-E842-8A50-BEAD9F83F47A}"/>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26" name="Text 2">
            <a:extLst>
              <a:ext uri="{FF2B5EF4-FFF2-40B4-BE49-F238E27FC236}">
                <a16:creationId xmlns:a16="http://schemas.microsoft.com/office/drawing/2014/main" id="{A05AB368-5484-E0F9-AE81-614AA85FDEF4}"/>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01</a:t>
            </a:r>
            <a:endParaRPr lang="en-US" sz="1300" noProof="0" dirty="0"/>
          </a:p>
        </p:txBody>
      </p:sp>
      <p:pic>
        <p:nvPicPr>
          <p:cNvPr id="9" name="Immagine 8">
            <a:extLst>
              <a:ext uri="{FF2B5EF4-FFF2-40B4-BE49-F238E27FC236}">
                <a16:creationId xmlns:a16="http://schemas.microsoft.com/office/drawing/2014/main" id="{59612FF2-0C9F-CE20-BE21-38E5B34CD251}"/>
              </a:ext>
            </a:extLst>
          </p:cNvPr>
          <p:cNvPicPr>
            <a:picLocks noChangeAspect="1"/>
          </p:cNvPicPr>
          <p:nvPr/>
        </p:nvPicPr>
        <p:blipFill>
          <a:blip r:embed="rId3"/>
          <a:stretch>
            <a:fillRect/>
          </a:stretch>
        </p:blipFill>
        <p:spPr>
          <a:xfrm>
            <a:off x="5006256" y="1532676"/>
            <a:ext cx="3677442" cy="27580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E98F5-1444-0EEA-D16B-7020425E8466}"/>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02AE6308-3F6E-C8E0-DCF2-D10FFB1BC3D0}"/>
              </a:ext>
            </a:extLst>
          </p:cNvPr>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7" name="Text 1">
            <a:extLst>
              <a:ext uri="{FF2B5EF4-FFF2-40B4-BE49-F238E27FC236}">
                <a16:creationId xmlns:a16="http://schemas.microsoft.com/office/drawing/2014/main" id="{51A65A20-E09B-CA9B-2D9D-DC65DD92FFB0}"/>
              </a:ext>
            </a:extLst>
          </p:cNvPr>
          <p:cNvSpPr/>
          <p:nvPr/>
        </p:nvSpPr>
        <p:spPr>
          <a:xfrm>
            <a:off x="274320" y="332019"/>
            <a:ext cx="7079567" cy="291905"/>
          </a:xfrm>
          <a:prstGeom prst="rect">
            <a:avLst/>
          </a:prstGeom>
          <a:noFill/>
          <a:ln/>
        </p:spPr>
        <p:txBody>
          <a:bodyPr wrap="square" lIns="0" tIns="0" rIns="0" bIns="0" rtlCol="0" anchor="ctr"/>
          <a:lstStyle/>
          <a:p>
            <a:r>
              <a:rPr lang="en-US" sz="2800" b="1" noProof="0" dirty="0">
                <a:solidFill>
                  <a:schemeClr val="bg1"/>
                </a:solidFill>
                <a:latin typeface="EucrosiaUPC" panose="02020603050405020304" pitchFamily="18" charset="-34"/>
                <a:cs typeface="EucrosiaUPC" panose="02020603050405020304" pitchFamily="18" charset="-34"/>
              </a:rPr>
              <a:t>2. Data Preparation and Feature Engineering – Single Organization  </a:t>
            </a:r>
            <a:endParaRPr lang="en-US" sz="2800" noProof="0" dirty="0">
              <a:solidFill>
                <a:schemeClr val="bg1"/>
              </a:solidFill>
              <a:latin typeface="EucrosiaUPC" panose="02020603050405020304" pitchFamily="18" charset="-34"/>
              <a:cs typeface="EucrosiaUPC" panose="02020603050405020304" pitchFamily="18" charset="-34"/>
            </a:endParaRPr>
          </a:p>
        </p:txBody>
      </p:sp>
      <p:sp>
        <p:nvSpPr>
          <p:cNvPr id="11" name="Text 0">
            <a:extLst>
              <a:ext uri="{FF2B5EF4-FFF2-40B4-BE49-F238E27FC236}">
                <a16:creationId xmlns:a16="http://schemas.microsoft.com/office/drawing/2014/main" id="{34782766-3374-0291-4DA6-A0F0382EBB6B}"/>
              </a:ext>
            </a:extLst>
          </p:cNvPr>
          <p:cNvSpPr/>
          <p:nvPr/>
        </p:nvSpPr>
        <p:spPr>
          <a:xfrm>
            <a:off x="274320" y="42203"/>
            <a:ext cx="736444"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TASK 2</a:t>
            </a:r>
            <a:endParaRPr lang="en-US" sz="900" noProof="0" dirty="0"/>
          </a:p>
        </p:txBody>
      </p:sp>
      <p:sp>
        <p:nvSpPr>
          <p:cNvPr id="44" name="Shape 1">
            <a:extLst>
              <a:ext uri="{FF2B5EF4-FFF2-40B4-BE49-F238E27FC236}">
                <a16:creationId xmlns:a16="http://schemas.microsoft.com/office/drawing/2014/main" id="{09F3F809-5DF3-5EF5-6DDF-AF729CFFB50E}"/>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46" name="Text 2">
            <a:extLst>
              <a:ext uri="{FF2B5EF4-FFF2-40B4-BE49-F238E27FC236}">
                <a16:creationId xmlns:a16="http://schemas.microsoft.com/office/drawing/2014/main" id="{2557756E-FF2D-25DF-F33D-EB9BD6C7A26A}"/>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02</a:t>
            </a:r>
            <a:endParaRPr lang="en-US" sz="1300" noProof="0" dirty="0"/>
          </a:p>
        </p:txBody>
      </p:sp>
      <p:sp>
        <p:nvSpPr>
          <p:cNvPr id="4" name="Text 0">
            <a:extLst>
              <a:ext uri="{FF2B5EF4-FFF2-40B4-BE49-F238E27FC236}">
                <a16:creationId xmlns:a16="http://schemas.microsoft.com/office/drawing/2014/main" id="{84D01E92-D5B5-49BE-5CC6-AC86EB9E5CCC}"/>
              </a:ext>
            </a:extLst>
          </p:cNvPr>
          <p:cNvSpPr/>
          <p:nvPr/>
        </p:nvSpPr>
        <p:spPr>
          <a:xfrm>
            <a:off x="457200" y="292608"/>
            <a:ext cx="8229600" cy="274320"/>
          </a:xfrm>
          <a:prstGeom prst="rect">
            <a:avLst/>
          </a:prstGeom>
          <a:noFill/>
          <a:ln/>
        </p:spPr>
        <p:txBody>
          <a:bodyPr wrap="square" lIns="0" tIns="0" rIns="0" bIns="0" rtlCol="0" anchor="ctr"/>
          <a:lstStyle/>
          <a:p>
            <a:pPr marL="0" indent="0">
              <a:buNone/>
            </a:pPr>
            <a:endParaRPr lang="en-US" sz="1200" noProof="0" dirty="0"/>
          </a:p>
        </p:txBody>
      </p:sp>
      <p:sp>
        <p:nvSpPr>
          <p:cNvPr id="9" name="Shape 2">
            <a:extLst>
              <a:ext uri="{FF2B5EF4-FFF2-40B4-BE49-F238E27FC236}">
                <a16:creationId xmlns:a16="http://schemas.microsoft.com/office/drawing/2014/main" id="{89E6BE8C-028A-6E74-69AF-40249BA7ADF6}"/>
              </a:ext>
            </a:extLst>
          </p:cNvPr>
          <p:cNvSpPr/>
          <p:nvPr/>
        </p:nvSpPr>
        <p:spPr>
          <a:xfrm>
            <a:off x="457199" y="889517"/>
            <a:ext cx="3237571" cy="745059"/>
          </a:xfrm>
          <a:prstGeom prst="roundRect">
            <a:avLst>
              <a:gd name="adj" fmla="val 4651"/>
            </a:avLst>
          </a:prstGeom>
          <a:solidFill>
            <a:schemeClr val="bg1"/>
          </a:solidFill>
          <a:ln>
            <a:solidFill>
              <a:srgbClr val="1E2761"/>
            </a:solidFill>
          </a:ln>
          <a:effectLst>
            <a:outerShdw blurRad="127000" dist="38100" dir="5400000" algn="bl" rotWithShape="0">
              <a:srgbClr val="0B3D3F">
                <a:alpha val="10000"/>
              </a:srgbClr>
            </a:outerShdw>
          </a:effectLst>
        </p:spPr>
        <p:txBody>
          <a:bodyPr/>
          <a:lstStyle/>
          <a:p>
            <a:endParaRPr lang="en-US" noProof="0" dirty="0"/>
          </a:p>
        </p:txBody>
      </p:sp>
      <p:sp>
        <p:nvSpPr>
          <p:cNvPr id="12" name="Text 3">
            <a:extLst>
              <a:ext uri="{FF2B5EF4-FFF2-40B4-BE49-F238E27FC236}">
                <a16:creationId xmlns:a16="http://schemas.microsoft.com/office/drawing/2014/main" id="{5456E2A7-0AD0-0E49-5402-CDF41E024285}"/>
              </a:ext>
            </a:extLst>
          </p:cNvPr>
          <p:cNvSpPr/>
          <p:nvPr/>
        </p:nvSpPr>
        <p:spPr>
          <a:xfrm>
            <a:off x="548640" y="917470"/>
            <a:ext cx="1353312" cy="365760"/>
          </a:xfrm>
          <a:prstGeom prst="rect">
            <a:avLst/>
          </a:prstGeom>
          <a:noFill/>
          <a:ln/>
        </p:spPr>
        <p:txBody>
          <a:bodyPr wrap="square" lIns="0" tIns="0" rIns="0" bIns="0" rtlCol="0" anchor="ctr"/>
          <a:lstStyle/>
          <a:p>
            <a:pPr marL="0" indent="0">
              <a:buNone/>
            </a:pPr>
            <a:r>
              <a:rPr lang="en-US" sz="2000" b="1" noProof="0" dirty="0">
                <a:solidFill>
                  <a:schemeClr val="accent1">
                    <a:lumMod val="75000"/>
                  </a:schemeClr>
                </a:solidFill>
                <a:latin typeface="Cambria" pitchFamily="34" charset="0"/>
                <a:ea typeface="Cambria" pitchFamily="34" charset="-122"/>
                <a:cs typeface="Cambria" pitchFamily="34" charset="-120"/>
              </a:rPr>
              <a:t>01</a:t>
            </a:r>
            <a:endParaRPr lang="en-US" sz="2000" noProof="0" dirty="0">
              <a:solidFill>
                <a:schemeClr val="accent1">
                  <a:lumMod val="75000"/>
                </a:schemeClr>
              </a:solidFill>
            </a:endParaRPr>
          </a:p>
        </p:txBody>
      </p:sp>
      <p:sp>
        <p:nvSpPr>
          <p:cNvPr id="14" name="Text 4">
            <a:extLst>
              <a:ext uri="{FF2B5EF4-FFF2-40B4-BE49-F238E27FC236}">
                <a16:creationId xmlns:a16="http://schemas.microsoft.com/office/drawing/2014/main" id="{09B88AE3-736D-BF07-D5B9-2F0D10C1E3AA}"/>
              </a:ext>
            </a:extLst>
          </p:cNvPr>
          <p:cNvSpPr/>
          <p:nvPr/>
        </p:nvSpPr>
        <p:spPr>
          <a:xfrm>
            <a:off x="908898" y="1019789"/>
            <a:ext cx="1353312" cy="224028"/>
          </a:xfrm>
          <a:prstGeom prst="rect">
            <a:avLst/>
          </a:prstGeom>
          <a:noFill/>
          <a:ln/>
        </p:spPr>
        <p:txBody>
          <a:bodyPr wrap="square" lIns="0" tIns="0" rIns="0" bIns="0" rtlCol="0" anchor="ctr"/>
          <a:lstStyle/>
          <a:p>
            <a:pPr marL="0" indent="0">
              <a:lnSpc>
                <a:spcPct val="105000"/>
              </a:lnSpc>
              <a:buNone/>
            </a:pPr>
            <a:r>
              <a:rPr lang="en-US" sz="1100" b="1" noProof="0" dirty="0">
                <a:solidFill>
                  <a:srgbClr val="1E293B"/>
                </a:solidFill>
                <a:latin typeface="Cambria" panose="02040503050406030204" pitchFamily="18" charset="0"/>
                <a:ea typeface="Cambria" panose="02040503050406030204" pitchFamily="18" charset="0"/>
                <a:cs typeface="Calibri" pitchFamily="34" charset="-120"/>
              </a:rPr>
              <a:t>Select Organization</a:t>
            </a:r>
            <a:endParaRPr lang="en-US" sz="1100" noProof="0" dirty="0">
              <a:latin typeface="Cambria" panose="02040503050406030204" pitchFamily="18" charset="0"/>
              <a:ea typeface="Cambria" panose="02040503050406030204" pitchFamily="18" charset="0"/>
            </a:endParaRPr>
          </a:p>
        </p:txBody>
      </p:sp>
      <p:sp>
        <p:nvSpPr>
          <p:cNvPr id="16" name="Text 5">
            <a:extLst>
              <a:ext uri="{FF2B5EF4-FFF2-40B4-BE49-F238E27FC236}">
                <a16:creationId xmlns:a16="http://schemas.microsoft.com/office/drawing/2014/main" id="{78202861-A495-17ED-140C-3D97D760DED7}"/>
              </a:ext>
            </a:extLst>
          </p:cNvPr>
          <p:cNvSpPr/>
          <p:nvPr/>
        </p:nvSpPr>
        <p:spPr>
          <a:xfrm>
            <a:off x="566927" y="1193623"/>
            <a:ext cx="3097284" cy="409304"/>
          </a:xfrm>
          <a:prstGeom prst="rect">
            <a:avLst/>
          </a:prstGeom>
          <a:noFill/>
          <a:ln/>
        </p:spPr>
        <p:txBody>
          <a:bodyPr wrap="square" lIns="0" tIns="0" rIns="0" bIns="0" rtlCol="0" anchor="ctr"/>
          <a:lstStyle/>
          <a:p>
            <a:pPr marL="0" indent="0">
              <a:lnSpc>
                <a:spcPct val="115000"/>
              </a:lnSpc>
              <a:buNone/>
            </a:pPr>
            <a:r>
              <a:rPr lang="en-US" sz="1000" noProof="0" dirty="0">
                <a:solidFill>
                  <a:srgbClr val="64748B"/>
                </a:solidFill>
                <a:latin typeface="Cambria" panose="02040503050406030204" pitchFamily="18" charset="0"/>
                <a:ea typeface="Cambria" panose="02040503050406030204" pitchFamily="18" charset="0"/>
                <a:cs typeface="Calibri" pitchFamily="34" charset="-120"/>
              </a:rPr>
              <a:t>Best-fit organization chosen for single-firm analysis with the most reliable and informative marketing history.</a:t>
            </a:r>
            <a:endParaRPr lang="en-US" sz="1000" noProof="0" dirty="0">
              <a:latin typeface="Cambria" panose="02040503050406030204" pitchFamily="18" charset="0"/>
              <a:ea typeface="Cambria" panose="02040503050406030204" pitchFamily="18" charset="0"/>
            </a:endParaRPr>
          </a:p>
        </p:txBody>
      </p:sp>
      <p:sp>
        <p:nvSpPr>
          <p:cNvPr id="22" name="Shape 7">
            <a:extLst>
              <a:ext uri="{FF2B5EF4-FFF2-40B4-BE49-F238E27FC236}">
                <a16:creationId xmlns:a16="http://schemas.microsoft.com/office/drawing/2014/main" id="{398C27EE-9019-1846-132C-B90F773B9198}"/>
              </a:ext>
            </a:extLst>
          </p:cNvPr>
          <p:cNvSpPr/>
          <p:nvPr/>
        </p:nvSpPr>
        <p:spPr>
          <a:xfrm>
            <a:off x="457197" y="1709290"/>
            <a:ext cx="3237571" cy="1085953"/>
          </a:xfrm>
          <a:prstGeom prst="roundRect">
            <a:avLst>
              <a:gd name="adj" fmla="val 4651"/>
            </a:avLst>
          </a:prstGeom>
          <a:solidFill>
            <a:schemeClr val="bg1"/>
          </a:solidFill>
          <a:ln>
            <a:solidFill>
              <a:srgbClr val="1E2761"/>
            </a:solidFill>
          </a:ln>
          <a:effectLst>
            <a:outerShdw blurRad="127000" dist="38100" dir="5400000" algn="bl" rotWithShape="0">
              <a:srgbClr val="0B3D3F">
                <a:alpha val="10000"/>
              </a:srgbClr>
            </a:outerShdw>
          </a:effectLst>
        </p:spPr>
        <p:txBody>
          <a:bodyPr/>
          <a:lstStyle/>
          <a:p>
            <a:endParaRPr lang="en-US" noProof="0" dirty="0"/>
          </a:p>
        </p:txBody>
      </p:sp>
      <p:sp>
        <p:nvSpPr>
          <p:cNvPr id="25" name="Text 8">
            <a:extLst>
              <a:ext uri="{FF2B5EF4-FFF2-40B4-BE49-F238E27FC236}">
                <a16:creationId xmlns:a16="http://schemas.microsoft.com/office/drawing/2014/main" id="{B3B5FF24-0E27-B455-3ECE-27105A70FAEF}"/>
              </a:ext>
            </a:extLst>
          </p:cNvPr>
          <p:cNvSpPr/>
          <p:nvPr/>
        </p:nvSpPr>
        <p:spPr>
          <a:xfrm>
            <a:off x="548638" y="1722376"/>
            <a:ext cx="1353312" cy="365760"/>
          </a:xfrm>
          <a:prstGeom prst="rect">
            <a:avLst/>
          </a:prstGeom>
          <a:noFill/>
          <a:ln/>
        </p:spPr>
        <p:txBody>
          <a:bodyPr wrap="square" lIns="0" tIns="0" rIns="0" bIns="0" rtlCol="0" anchor="ctr"/>
          <a:lstStyle/>
          <a:p>
            <a:pPr marL="0" indent="0">
              <a:buNone/>
            </a:pPr>
            <a:r>
              <a:rPr lang="en-US" sz="2000" b="1" noProof="0" dirty="0">
                <a:solidFill>
                  <a:schemeClr val="accent1">
                    <a:lumMod val="75000"/>
                  </a:schemeClr>
                </a:solidFill>
                <a:latin typeface="Cambria" pitchFamily="34" charset="0"/>
                <a:ea typeface="Cambria" pitchFamily="34" charset="-122"/>
                <a:cs typeface="Cambria" pitchFamily="34" charset="-120"/>
              </a:rPr>
              <a:t>02</a:t>
            </a:r>
            <a:endParaRPr lang="en-US" sz="2000" noProof="0" dirty="0">
              <a:solidFill>
                <a:schemeClr val="accent1">
                  <a:lumMod val="75000"/>
                </a:schemeClr>
              </a:solidFill>
            </a:endParaRPr>
          </a:p>
        </p:txBody>
      </p:sp>
      <p:sp>
        <p:nvSpPr>
          <p:cNvPr id="29" name="Text 9">
            <a:extLst>
              <a:ext uri="{FF2B5EF4-FFF2-40B4-BE49-F238E27FC236}">
                <a16:creationId xmlns:a16="http://schemas.microsoft.com/office/drawing/2014/main" id="{14E004BD-EC03-A6B8-3625-495ABAA9F036}"/>
              </a:ext>
            </a:extLst>
          </p:cNvPr>
          <p:cNvSpPr/>
          <p:nvPr/>
        </p:nvSpPr>
        <p:spPr>
          <a:xfrm>
            <a:off x="923840" y="1821904"/>
            <a:ext cx="1353312" cy="224028"/>
          </a:xfrm>
          <a:prstGeom prst="rect">
            <a:avLst/>
          </a:prstGeom>
          <a:noFill/>
          <a:ln/>
        </p:spPr>
        <p:txBody>
          <a:bodyPr wrap="square" lIns="0" tIns="0" rIns="0" bIns="0" rtlCol="0" anchor="ctr"/>
          <a:lstStyle/>
          <a:p>
            <a:pPr marL="0" indent="0">
              <a:lnSpc>
                <a:spcPct val="105000"/>
              </a:lnSpc>
              <a:buNone/>
            </a:pPr>
            <a:r>
              <a:rPr lang="en-US" sz="1100" b="1" noProof="0" dirty="0">
                <a:solidFill>
                  <a:srgbClr val="1E293B"/>
                </a:solidFill>
                <a:latin typeface="Cambria" panose="02040503050406030204" pitchFamily="18" charset="0"/>
                <a:ea typeface="Cambria" panose="02040503050406030204" pitchFamily="18" charset="0"/>
                <a:cs typeface="Calibri" pitchFamily="34" charset="-120"/>
              </a:rPr>
              <a:t>Clean Channels</a:t>
            </a:r>
            <a:endParaRPr lang="en-US" sz="1100" noProof="0" dirty="0">
              <a:latin typeface="Cambria" panose="02040503050406030204" pitchFamily="18" charset="0"/>
              <a:ea typeface="Cambria" panose="02040503050406030204" pitchFamily="18" charset="0"/>
            </a:endParaRPr>
          </a:p>
        </p:txBody>
      </p:sp>
      <p:sp>
        <p:nvSpPr>
          <p:cNvPr id="33" name="Text 10">
            <a:extLst>
              <a:ext uri="{FF2B5EF4-FFF2-40B4-BE49-F238E27FC236}">
                <a16:creationId xmlns:a16="http://schemas.microsoft.com/office/drawing/2014/main" id="{D040BABE-795A-922B-8820-51617760AB1A}"/>
              </a:ext>
            </a:extLst>
          </p:cNvPr>
          <p:cNvSpPr/>
          <p:nvPr/>
        </p:nvSpPr>
        <p:spPr>
          <a:xfrm>
            <a:off x="566926" y="2043933"/>
            <a:ext cx="3023766" cy="674546"/>
          </a:xfrm>
          <a:prstGeom prst="rect">
            <a:avLst/>
          </a:prstGeom>
          <a:noFill/>
          <a:ln/>
        </p:spPr>
        <p:txBody>
          <a:bodyPr wrap="square" lIns="0" tIns="0" rIns="0" bIns="0" rtlCol="0" anchor="ctr"/>
          <a:lstStyle/>
          <a:p>
            <a:pPr marL="0" indent="0">
              <a:lnSpc>
                <a:spcPct val="115000"/>
              </a:lnSpc>
              <a:buNone/>
            </a:pPr>
            <a:r>
              <a:rPr lang="en-US" sz="1000" noProof="0" dirty="0">
                <a:solidFill>
                  <a:srgbClr val="64748B"/>
                </a:solidFill>
                <a:latin typeface="Cambria" panose="02040503050406030204" pitchFamily="18" charset="0"/>
                <a:ea typeface="Cambria" panose="02040503050406030204" pitchFamily="18" charset="0"/>
                <a:cs typeface="Calibri" pitchFamily="34" charset="-120"/>
              </a:rPr>
              <a:t>Drop not necessary variables and handle missing values, removing channels with too much missing spend data, while the remaining media gaps were filled with zero (inactive channels = zero spending).</a:t>
            </a:r>
            <a:endParaRPr lang="en-US" sz="1000" noProof="0" dirty="0">
              <a:latin typeface="Cambria" panose="02040503050406030204" pitchFamily="18" charset="0"/>
              <a:ea typeface="Cambria" panose="02040503050406030204" pitchFamily="18" charset="0"/>
            </a:endParaRPr>
          </a:p>
        </p:txBody>
      </p:sp>
      <p:sp>
        <p:nvSpPr>
          <p:cNvPr id="39" name="Shape 12">
            <a:extLst>
              <a:ext uri="{FF2B5EF4-FFF2-40B4-BE49-F238E27FC236}">
                <a16:creationId xmlns:a16="http://schemas.microsoft.com/office/drawing/2014/main" id="{30F82BF6-A002-3EB3-6DA0-45B6DFAD3876}"/>
              </a:ext>
            </a:extLst>
          </p:cNvPr>
          <p:cNvSpPr/>
          <p:nvPr/>
        </p:nvSpPr>
        <p:spPr>
          <a:xfrm>
            <a:off x="457200" y="2878120"/>
            <a:ext cx="3237570" cy="1272954"/>
          </a:xfrm>
          <a:prstGeom prst="roundRect">
            <a:avLst>
              <a:gd name="adj" fmla="val 4651"/>
            </a:avLst>
          </a:prstGeom>
          <a:solidFill>
            <a:schemeClr val="bg1"/>
          </a:solidFill>
          <a:ln>
            <a:solidFill>
              <a:srgbClr val="1E2761"/>
            </a:solidFill>
          </a:ln>
          <a:effectLst>
            <a:outerShdw blurRad="127000" dist="38100" dir="5400000" algn="bl" rotWithShape="0">
              <a:srgbClr val="0B3D3F">
                <a:alpha val="10000"/>
              </a:srgbClr>
            </a:outerShdw>
          </a:effectLst>
        </p:spPr>
        <p:txBody>
          <a:bodyPr/>
          <a:lstStyle/>
          <a:p>
            <a:endParaRPr lang="en-US" noProof="0" dirty="0"/>
          </a:p>
        </p:txBody>
      </p:sp>
      <p:sp>
        <p:nvSpPr>
          <p:cNvPr id="41" name="Text 13">
            <a:extLst>
              <a:ext uri="{FF2B5EF4-FFF2-40B4-BE49-F238E27FC236}">
                <a16:creationId xmlns:a16="http://schemas.microsoft.com/office/drawing/2014/main" id="{3B1F8394-3CBB-CDF4-3B08-A9E7BE31BAF5}"/>
              </a:ext>
            </a:extLst>
          </p:cNvPr>
          <p:cNvSpPr/>
          <p:nvPr/>
        </p:nvSpPr>
        <p:spPr>
          <a:xfrm>
            <a:off x="563508" y="2935811"/>
            <a:ext cx="375200" cy="365760"/>
          </a:xfrm>
          <a:prstGeom prst="rect">
            <a:avLst/>
          </a:prstGeom>
          <a:noFill/>
          <a:ln/>
        </p:spPr>
        <p:txBody>
          <a:bodyPr wrap="square" lIns="0" tIns="0" rIns="0" bIns="0" rtlCol="0" anchor="ctr"/>
          <a:lstStyle/>
          <a:p>
            <a:pPr marL="0" indent="0">
              <a:buNone/>
            </a:pPr>
            <a:r>
              <a:rPr lang="en-US" sz="2000" b="1" noProof="0" dirty="0">
                <a:solidFill>
                  <a:schemeClr val="accent1">
                    <a:lumMod val="75000"/>
                  </a:schemeClr>
                </a:solidFill>
                <a:latin typeface="Cambria" pitchFamily="34" charset="0"/>
                <a:ea typeface="Cambria" pitchFamily="34" charset="-122"/>
                <a:cs typeface="Cambria" pitchFamily="34" charset="-120"/>
              </a:rPr>
              <a:t>03</a:t>
            </a:r>
            <a:endParaRPr lang="en-US" sz="2000" noProof="0" dirty="0">
              <a:solidFill>
                <a:schemeClr val="accent1">
                  <a:lumMod val="75000"/>
                </a:schemeClr>
              </a:solidFill>
            </a:endParaRPr>
          </a:p>
        </p:txBody>
      </p:sp>
      <p:sp>
        <p:nvSpPr>
          <p:cNvPr id="43" name="Text 14">
            <a:extLst>
              <a:ext uri="{FF2B5EF4-FFF2-40B4-BE49-F238E27FC236}">
                <a16:creationId xmlns:a16="http://schemas.microsoft.com/office/drawing/2014/main" id="{951E7CE6-F22D-89AF-46E9-48CF83FF887E}"/>
              </a:ext>
            </a:extLst>
          </p:cNvPr>
          <p:cNvSpPr/>
          <p:nvPr/>
        </p:nvSpPr>
        <p:spPr>
          <a:xfrm>
            <a:off x="916379" y="3057327"/>
            <a:ext cx="1202352" cy="194605"/>
          </a:xfrm>
          <a:prstGeom prst="rect">
            <a:avLst/>
          </a:prstGeom>
          <a:noFill/>
          <a:ln/>
        </p:spPr>
        <p:txBody>
          <a:bodyPr wrap="square" lIns="0" tIns="0" rIns="0" bIns="0" rtlCol="0" anchor="ctr"/>
          <a:lstStyle/>
          <a:p>
            <a:pPr marL="0" indent="0">
              <a:lnSpc>
                <a:spcPct val="105000"/>
              </a:lnSpc>
              <a:buNone/>
            </a:pPr>
            <a:r>
              <a:rPr lang="en-US" sz="1100" b="1" noProof="0" dirty="0">
                <a:solidFill>
                  <a:srgbClr val="1E293B"/>
                </a:solidFill>
                <a:latin typeface="Cambria" panose="02040503050406030204" pitchFamily="18" charset="0"/>
                <a:ea typeface="Cambria" panose="02040503050406030204" pitchFamily="18" charset="0"/>
                <a:cs typeface="Calibri" pitchFamily="34" charset="-120"/>
              </a:rPr>
              <a:t>Engineer Features</a:t>
            </a:r>
            <a:endParaRPr lang="en-US" sz="1100" noProof="0" dirty="0">
              <a:latin typeface="Cambria" panose="02040503050406030204" pitchFamily="18" charset="0"/>
              <a:ea typeface="Cambria" panose="02040503050406030204" pitchFamily="18" charset="0"/>
            </a:endParaRPr>
          </a:p>
        </p:txBody>
      </p:sp>
      <p:sp>
        <p:nvSpPr>
          <p:cNvPr id="47" name="Text 15">
            <a:extLst>
              <a:ext uri="{FF2B5EF4-FFF2-40B4-BE49-F238E27FC236}">
                <a16:creationId xmlns:a16="http://schemas.microsoft.com/office/drawing/2014/main" id="{DB5836D2-A772-4558-E2AF-01B707354D6C}"/>
              </a:ext>
            </a:extLst>
          </p:cNvPr>
          <p:cNvSpPr/>
          <p:nvPr/>
        </p:nvSpPr>
        <p:spPr>
          <a:xfrm>
            <a:off x="566928" y="3726356"/>
            <a:ext cx="2785816" cy="1051560"/>
          </a:xfrm>
          <a:prstGeom prst="rect">
            <a:avLst/>
          </a:prstGeom>
          <a:noFill/>
          <a:ln/>
        </p:spPr>
        <p:txBody>
          <a:bodyPr wrap="square" lIns="0" tIns="0" rIns="0" bIns="0" rtlCol="0" anchor="ctr"/>
          <a:lstStyle/>
          <a:p>
            <a:pPr marL="0" indent="0">
              <a:lnSpc>
                <a:spcPct val="115000"/>
              </a:lnSpc>
              <a:buNone/>
            </a:pPr>
            <a:endParaRPr lang="en-US" sz="980" noProof="0" dirty="0"/>
          </a:p>
        </p:txBody>
      </p:sp>
      <p:sp>
        <p:nvSpPr>
          <p:cNvPr id="51" name="Shape 17">
            <a:extLst>
              <a:ext uri="{FF2B5EF4-FFF2-40B4-BE49-F238E27FC236}">
                <a16:creationId xmlns:a16="http://schemas.microsoft.com/office/drawing/2014/main" id="{22CC54D1-73ED-E495-17CA-F45CDBF88E6E}"/>
              </a:ext>
            </a:extLst>
          </p:cNvPr>
          <p:cNvSpPr/>
          <p:nvPr/>
        </p:nvSpPr>
        <p:spPr>
          <a:xfrm>
            <a:off x="457196" y="4215475"/>
            <a:ext cx="3237569" cy="793926"/>
          </a:xfrm>
          <a:prstGeom prst="roundRect">
            <a:avLst>
              <a:gd name="adj" fmla="val 4651"/>
            </a:avLst>
          </a:prstGeom>
          <a:solidFill>
            <a:schemeClr val="bg1"/>
          </a:solidFill>
          <a:ln>
            <a:solidFill>
              <a:srgbClr val="1E2761"/>
            </a:solidFill>
          </a:ln>
          <a:effectLst>
            <a:outerShdw blurRad="127000" dist="38100" dir="5400000" algn="bl" rotWithShape="0">
              <a:srgbClr val="0B3D3F">
                <a:alpha val="10000"/>
              </a:srgbClr>
            </a:outerShdw>
          </a:effectLst>
        </p:spPr>
        <p:txBody>
          <a:bodyPr/>
          <a:lstStyle/>
          <a:p>
            <a:endParaRPr lang="en-US" noProof="0" dirty="0"/>
          </a:p>
        </p:txBody>
      </p:sp>
      <p:sp>
        <p:nvSpPr>
          <p:cNvPr id="53" name="Text 18">
            <a:extLst>
              <a:ext uri="{FF2B5EF4-FFF2-40B4-BE49-F238E27FC236}">
                <a16:creationId xmlns:a16="http://schemas.microsoft.com/office/drawing/2014/main" id="{87E969F3-C097-4F7F-5C05-2F9467800DE3}"/>
              </a:ext>
            </a:extLst>
          </p:cNvPr>
          <p:cNvSpPr/>
          <p:nvPr/>
        </p:nvSpPr>
        <p:spPr>
          <a:xfrm>
            <a:off x="566924" y="4251574"/>
            <a:ext cx="356916" cy="365760"/>
          </a:xfrm>
          <a:prstGeom prst="rect">
            <a:avLst/>
          </a:prstGeom>
          <a:noFill/>
          <a:ln/>
        </p:spPr>
        <p:txBody>
          <a:bodyPr wrap="square" lIns="0" tIns="0" rIns="0" bIns="0" rtlCol="0" anchor="ctr"/>
          <a:lstStyle/>
          <a:p>
            <a:pPr marL="0" indent="0">
              <a:buNone/>
            </a:pPr>
            <a:r>
              <a:rPr lang="en-US" sz="2000" b="1" noProof="0" dirty="0">
                <a:solidFill>
                  <a:schemeClr val="accent1">
                    <a:lumMod val="75000"/>
                  </a:schemeClr>
                </a:solidFill>
                <a:latin typeface="Cambria" pitchFamily="34" charset="0"/>
                <a:ea typeface="Cambria" pitchFamily="34" charset="-122"/>
                <a:cs typeface="Cambria" pitchFamily="34" charset="-120"/>
              </a:rPr>
              <a:t>04</a:t>
            </a:r>
            <a:endParaRPr lang="en-US" sz="2000" noProof="0" dirty="0">
              <a:solidFill>
                <a:schemeClr val="accent1">
                  <a:lumMod val="75000"/>
                </a:schemeClr>
              </a:solidFill>
            </a:endParaRPr>
          </a:p>
        </p:txBody>
      </p:sp>
      <p:sp>
        <p:nvSpPr>
          <p:cNvPr id="55" name="Text 19">
            <a:extLst>
              <a:ext uri="{FF2B5EF4-FFF2-40B4-BE49-F238E27FC236}">
                <a16:creationId xmlns:a16="http://schemas.microsoft.com/office/drawing/2014/main" id="{98A6CF0D-4EAD-52F9-FF62-07A1BEDF8133}"/>
              </a:ext>
            </a:extLst>
          </p:cNvPr>
          <p:cNvSpPr/>
          <p:nvPr/>
        </p:nvSpPr>
        <p:spPr>
          <a:xfrm>
            <a:off x="923840" y="4382559"/>
            <a:ext cx="1581467" cy="178924"/>
          </a:xfrm>
          <a:prstGeom prst="rect">
            <a:avLst/>
          </a:prstGeom>
          <a:noFill/>
          <a:ln/>
        </p:spPr>
        <p:txBody>
          <a:bodyPr wrap="square" lIns="0" tIns="0" rIns="0" bIns="0" rtlCol="0" anchor="ctr"/>
          <a:lstStyle/>
          <a:p>
            <a:pPr marL="0" indent="0">
              <a:lnSpc>
                <a:spcPct val="105000"/>
              </a:lnSpc>
              <a:buNone/>
            </a:pPr>
            <a:r>
              <a:rPr lang="en-US" sz="1100" b="1" noProof="0" dirty="0">
                <a:solidFill>
                  <a:srgbClr val="1E293B"/>
                </a:solidFill>
                <a:latin typeface="Cambria" panose="02040503050406030204" pitchFamily="18" charset="0"/>
                <a:ea typeface="Cambria" panose="02040503050406030204" pitchFamily="18" charset="0"/>
                <a:cs typeface="Calibri" pitchFamily="34" charset="-120"/>
              </a:rPr>
              <a:t>Align Geo-Time Grid</a:t>
            </a:r>
            <a:endParaRPr lang="en-US" sz="1100" noProof="0" dirty="0">
              <a:latin typeface="Cambria" panose="02040503050406030204" pitchFamily="18" charset="0"/>
              <a:ea typeface="Cambria" panose="02040503050406030204" pitchFamily="18" charset="0"/>
            </a:endParaRPr>
          </a:p>
        </p:txBody>
      </p:sp>
      <p:sp>
        <p:nvSpPr>
          <p:cNvPr id="57" name="Text 20">
            <a:extLst>
              <a:ext uri="{FF2B5EF4-FFF2-40B4-BE49-F238E27FC236}">
                <a16:creationId xmlns:a16="http://schemas.microsoft.com/office/drawing/2014/main" id="{23153580-50E0-454C-7B79-1EB6EAFFE370}"/>
              </a:ext>
            </a:extLst>
          </p:cNvPr>
          <p:cNvSpPr/>
          <p:nvPr/>
        </p:nvSpPr>
        <p:spPr>
          <a:xfrm>
            <a:off x="585215" y="4606071"/>
            <a:ext cx="3019191" cy="357053"/>
          </a:xfrm>
          <a:prstGeom prst="rect">
            <a:avLst/>
          </a:prstGeom>
          <a:noFill/>
          <a:ln/>
        </p:spPr>
        <p:txBody>
          <a:bodyPr wrap="square" lIns="0" tIns="0" rIns="0" bIns="0" rtlCol="0" anchor="ctr"/>
          <a:lstStyle/>
          <a:p>
            <a:pPr>
              <a:lnSpc>
                <a:spcPct val="115000"/>
              </a:lnSpc>
            </a:pPr>
            <a:r>
              <a:rPr lang="en-US" sz="1000" noProof="0" dirty="0">
                <a:solidFill>
                  <a:srgbClr val="64748B"/>
                </a:solidFill>
                <a:latin typeface="Cambria" panose="02040503050406030204" pitchFamily="18" charset="0"/>
                <a:ea typeface="Cambria" panose="02040503050406030204" pitchFamily="18" charset="0"/>
                <a:cs typeface="Calibri" pitchFamily="34" charset="-120"/>
              </a:rPr>
              <a:t>Each geo has a complete time grid aligned the dates across geographies to ensure the same time structure.</a:t>
            </a:r>
          </a:p>
        </p:txBody>
      </p:sp>
      <p:sp>
        <p:nvSpPr>
          <p:cNvPr id="61" name="Shape 22">
            <a:extLst>
              <a:ext uri="{FF2B5EF4-FFF2-40B4-BE49-F238E27FC236}">
                <a16:creationId xmlns:a16="http://schemas.microsoft.com/office/drawing/2014/main" id="{BA9C0406-8CE8-2AEE-D152-F3870805A723}"/>
              </a:ext>
            </a:extLst>
          </p:cNvPr>
          <p:cNvSpPr/>
          <p:nvPr/>
        </p:nvSpPr>
        <p:spPr>
          <a:xfrm>
            <a:off x="3786208" y="889516"/>
            <a:ext cx="1175930" cy="1911619"/>
          </a:xfrm>
          <a:prstGeom prst="roundRect">
            <a:avLst>
              <a:gd name="adj" fmla="val 4651"/>
            </a:avLst>
          </a:prstGeom>
          <a:solidFill>
            <a:srgbClr val="002060"/>
          </a:solidFill>
          <a:ln/>
          <a:effectLst>
            <a:outerShdw blurRad="127000" dist="38100" dir="5400000" algn="bl" rotWithShape="0">
              <a:srgbClr val="0B3D3F">
                <a:alpha val="10000"/>
              </a:srgbClr>
            </a:outerShdw>
          </a:effectLst>
        </p:spPr>
        <p:txBody>
          <a:bodyPr/>
          <a:lstStyle/>
          <a:p>
            <a:endParaRPr lang="en-US" noProof="0" dirty="0"/>
          </a:p>
        </p:txBody>
      </p:sp>
      <p:sp>
        <p:nvSpPr>
          <p:cNvPr id="63" name="Text 23">
            <a:extLst>
              <a:ext uri="{FF2B5EF4-FFF2-40B4-BE49-F238E27FC236}">
                <a16:creationId xmlns:a16="http://schemas.microsoft.com/office/drawing/2014/main" id="{5A171EA7-3020-94F9-0763-D802526C5205}"/>
              </a:ext>
            </a:extLst>
          </p:cNvPr>
          <p:cNvSpPr/>
          <p:nvPr/>
        </p:nvSpPr>
        <p:spPr>
          <a:xfrm>
            <a:off x="3895936" y="999245"/>
            <a:ext cx="856779" cy="283985"/>
          </a:xfrm>
          <a:prstGeom prst="rect">
            <a:avLst/>
          </a:prstGeom>
          <a:noFill/>
          <a:ln/>
        </p:spPr>
        <p:txBody>
          <a:bodyPr wrap="square" lIns="0" tIns="0" rIns="0" bIns="0" rtlCol="0" anchor="ctr"/>
          <a:lstStyle/>
          <a:p>
            <a:pPr marL="0" indent="0">
              <a:buNone/>
            </a:pPr>
            <a:r>
              <a:rPr lang="en-US" sz="2000" b="1" noProof="0" dirty="0">
                <a:solidFill>
                  <a:schemeClr val="accent1">
                    <a:lumMod val="20000"/>
                    <a:lumOff val="80000"/>
                  </a:schemeClr>
                </a:solidFill>
                <a:latin typeface="Cambria" pitchFamily="34" charset="0"/>
                <a:ea typeface="Cambria" pitchFamily="34" charset="-122"/>
                <a:cs typeface="Cambria" pitchFamily="34" charset="-120"/>
              </a:rPr>
              <a:t>05</a:t>
            </a:r>
            <a:endParaRPr lang="en-US" sz="2000" noProof="0" dirty="0">
              <a:solidFill>
                <a:schemeClr val="accent1">
                  <a:lumMod val="20000"/>
                  <a:lumOff val="80000"/>
                </a:schemeClr>
              </a:solidFill>
            </a:endParaRPr>
          </a:p>
        </p:txBody>
      </p:sp>
      <p:sp>
        <p:nvSpPr>
          <p:cNvPr id="65" name="Text 24">
            <a:extLst>
              <a:ext uri="{FF2B5EF4-FFF2-40B4-BE49-F238E27FC236}">
                <a16:creationId xmlns:a16="http://schemas.microsoft.com/office/drawing/2014/main" id="{241CC887-AA02-4063-7E36-8832EF138646}"/>
              </a:ext>
            </a:extLst>
          </p:cNvPr>
          <p:cNvSpPr/>
          <p:nvPr/>
        </p:nvSpPr>
        <p:spPr>
          <a:xfrm>
            <a:off x="3903882" y="1276603"/>
            <a:ext cx="936259" cy="395832"/>
          </a:xfrm>
          <a:prstGeom prst="rect">
            <a:avLst/>
          </a:prstGeom>
          <a:noFill/>
          <a:ln/>
        </p:spPr>
        <p:txBody>
          <a:bodyPr wrap="square" lIns="0" tIns="0" rIns="0" bIns="0" rtlCol="0" anchor="ctr"/>
          <a:lstStyle/>
          <a:p>
            <a:pPr marL="0" indent="0">
              <a:lnSpc>
                <a:spcPct val="105000"/>
              </a:lnSpc>
              <a:buNone/>
            </a:pPr>
            <a:r>
              <a:rPr lang="en-US" sz="1100" b="1" noProof="0" dirty="0">
                <a:solidFill>
                  <a:srgbClr val="FFFFFF"/>
                </a:solidFill>
                <a:latin typeface="Cambria" panose="02040503050406030204" pitchFamily="18" charset="0"/>
                <a:ea typeface="Cambria" panose="02040503050406030204" pitchFamily="18" charset="0"/>
                <a:cs typeface="Calibri" pitchFamily="34" charset="-120"/>
              </a:rPr>
              <a:t>Chronological</a:t>
            </a:r>
            <a:r>
              <a:rPr lang="en-US" sz="1200" b="1" noProof="0" dirty="0">
                <a:solidFill>
                  <a:srgbClr val="FFFFFF"/>
                </a:solidFill>
                <a:latin typeface="Cambria" panose="02040503050406030204" pitchFamily="18" charset="0"/>
                <a:ea typeface="Cambria" panose="02040503050406030204" pitchFamily="18" charset="0"/>
                <a:cs typeface="Calibri" pitchFamily="34" charset="-120"/>
              </a:rPr>
              <a:t> Split</a:t>
            </a:r>
            <a:endParaRPr lang="en-US" sz="1200" noProof="0" dirty="0">
              <a:latin typeface="Cambria" panose="02040503050406030204" pitchFamily="18" charset="0"/>
              <a:ea typeface="Cambria" panose="02040503050406030204" pitchFamily="18" charset="0"/>
            </a:endParaRPr>
          </a:p>
        </p:txBody>
      </p:sp>
      <p:sp>
        <p:nvSpPr>
          <p:cNvPr id="67" name="Text 25">
            <a:extLst>
              <a:ext uri="{FF2B5EF4-FFF2-40B4-BE49-F238E27FC236}">
                <a16:creationId xmlns:a16="http://schemas.microsoft.com/office/drawing/2014/main" id="{AC0C0B14-A92D-1023-B65A-71F69F4F12B2}"/>
              </a:ext>
            </a:extLst>
          </p:cNvPr>
          <p:cNvSpPr/>
          <p:nvPr/>
        </p:nvSpPr>
        <p:spPr>
          <a:xfrm>
            <a:off x="3895935" y="1695040"/>
            <a:ext cx="936259" cy="1023439"/>
          </a:xfrm>
          <a:prstGeom prst="rect">
            <a:avLst/>
          </a:prstGeom>
          <a:noFill/>
          <a:ln/>
        </p:spPr>
        <p:txBody>
          <a:bodyPr wrap="square" lIns="0" tIns="0" rIns="0" bIns="0" rtlCol="0" anchor="ctr"/>
          <a:lstStyle/>
          <a:p>
            <a:pPr marL="0" indent="0">
              <a:lnSpc>
                <a:spcPct val="115000"/>
              </a:lnSpc>
              <a:buNone/>
            </a:pPr>
            <a:r>
              <a:rPr lang="en-US" sz="980" noProof="0" dirty="0">
                <a:solidFill>
                  <a:srgbClr val="CADCE0"/>
                </a:solidFill>
                <a:latin typeface="Cambria" panose="02040503050406030204" pitchFamily="18" charset="0"/>
                <a:ea typeface="Cambria" panose="02040503050406030204" pitchFamily="18" charset="0"/>
                <a:cs typeface="Calibri" pitchFamily="34" charset="-120"/>
              </a:rPr>
              <a:t>Train / validation split preserves time </a:t>
            </a:r>
            <a:r>
              <a:rPr lang="en-US" sz="1000" noProof="0" dirty="0">
                <a:solidFill>
                  <a:srgbClr val="CADCE0"/>
                </a:solidFill>
                <a:latin typeface="Cambria" panose="02040503050406030204" pitchFamily="18" charset="0"/>
                <a:ea typeface="Cambria" panose="02040503050406030204" pitchFamily="18" charset="0"/>
                <a:cs typeface="Calibri" pitchFamily="34" charset="-120"/>
              </a:rPr>
              <a:t>ordering</a:t>
            </a:r>
            <a:r>
              <a:rPr lang="en-US" sz="980" noProof="0" dirty="0">
                <a:solidFill>
                  <a:srgbClr val="CADCE0"/>
                </a:solidFill>
                <a:latin typeface="Cambria" panose="02040503050406030204" pitchFamily="18" charset="0"/>
                <a:ea typeface="Cambria" panose="02040503050406030204" pitchFamily="18" charset="0"/>
                <a:cs typeface="Calibri" pitchFamily="34" charset="-120"/>
              </a:rPr>
              <a:t>, essential for MMM</a:t>
            </a:r>
            <a:endParaRPr lang="en-US" sz="980" noProof="0" dirty="0">
              <a:latin typeface="Cambria" panose="02040503050406030204" pitchFamily="18" charset="0"/>
              <a:ea typeface="Cambria" panose="02040503050406030204" pitchFamily="18" charset="0"/>
            </a:endParaRPr>
          </a:p>
        </p:txBody>
      </p:sp>
      <p:sp>
        <p:nvSpPr>
          <p:cNvPr id="69" name="Text 26">
            <a:extLst>
              <a:ext uri="{FF2B5EF4-FFF2-40B4-BE49-F238E27FC236}">
                <a16:creationId xmlns:a16="http://schemas.microsoft.com/office/drawing/2014/main" id="{642A2E25-1528-45A0-69B7-53AF5EE94821}"/>
              </a:ext>
            </a:extLst>
          </p:cNvPr>
          <p:cNvSpPr/>
          <p:nvPr/>
        </p:nvSpPr>
        <p:spPr>
          <a:xfrm>
            <a:off x="7209545" y="2068234"/>
            <a:ext cx="1770160" cy="548640"/>
          </a:xfrm>
          <a:prstGeom prst="rect">
            <a:avLst/>
          </a:prstGeom>
          <a:noFill/>
          <a:ln/>
        </p:spPr>
        <p:txBody>
          <a:bodyPr wrap="square" lIns="0" tIns="0" rIns="0" bIns="0" rtlCol="0" anchor="ctr"/>
          <a:lstStyle/>
          <a:p>
            <a:pPr marL="0" indent="0">
              <a:lnSpc>
                <a:spcPct val="120000"/>
              </a:lnSpc>
              <a:buNone/>
            </a:pPr>
            <a:endParaRPr lang="en-US" sz="1250" noProof="0" dirty="0"/>
          </a:p>
        </p:txBody>
      </p:sp>
      <p:sp>
        <p:nvSpPr>
          <p:cNvPr id="75" name="Text 10">
            <a:extLst>
              <a:ext uri="{FF2B5EF4-FFF2-40B4-BE49-F238E27FC236}">
                <a16:creationId xmlns:a16="http://schemas.microsoft.com/office/drawing/2014/main" id="{D2F1D3A3-D685-6B7D-A199-F1B039B59531}"/>
              </a:ext>
            </a:extLst>
          </p:cNvPr>
          <p:cNvSpPr/>
          <p:nvPr/>
        </p:nvSpPr>
        <p:spPr>
          <a:xfrm>
            <a:off x="585215" y="3251932"/>
            <a:ext cx="3019191" cy="839059"/>
          </a:xfrm>
          <a:prstGeom prst="rect">
            <a:avLst/>
          </a:prstGeom>
          <a:noFill/>
          <a:ln/>
        </p:spPr>
        <p:txBody>
          <a:bodyPr wrap="square" lIns="0" tIns="0" rIns="0" bIns="0" rtlCol="0" anchor="ctr"/>
          <a:lstStyle/>
          <a:p>
            <a:pPr marL="0" indent="0">
              <a:lnSpc>
                <a:spcPct val="115000"/>
              </a:lnSpc>
              <a:buNone/>
            </a:pPr>
            <a:r>
              <a:rPr lang="en-US" sz="1000" noProof="0" dirty="0">
                <a:solidFill>
                  <a:srgbClr val="64748B"/>
                </a:solidFill>
                <a:latin typeface="Cambria" panose="02040503050406030204" pitchFamily="18" charset="0"/>
                <a:ea typeface="Cambria" panose="02040503050406030204" pitchFamily="18" charset="0"/>
                <a:cs typeface="Calibri" pitchFamily="34" charset="-120"/>
              </a:rPr>
              <a:t>Removed identifiers and non-model columns, created the main KPI NET_REVENUE, and added controls such as DISCOUNT_RATE, TREND, DAY_OF_WEEK, and MONTH. </a:t>
            </a:r>
            <a:r>
              <a:rPr lang="en-US" sz="1000" dirty="0">
                <a:solidFill>
                  <a:srgbClr val="64748B"/>
                </a:solidFill>
                <a:latin typeface="Cambria" panose="02040503050406030204" pitchFamily="18" charset="0"/>
                <a:ea typeface="Cambria" panose="02040503050406030204" pitchFamily="18" charset="0"/>
                <a:cs typeface="Calibri" pitchFamily="34" charset="-120"/>
              </a:rPr>
              <a:t>Only features with both _SPEND and _CLICK columns were selected as media variables.</a:t>
            </a:r>
            <a:endParaRPr lang="en-US" sz="1000" noProof="0" dirty="0">
              <a:latin typeface="Cambria" panose="02040503050406030204" pitchFamily="18" charset="0"/>
              <a:ea typeface="Cambria" panose="02040503050406030204" pitchFamily="18" charset="0"/>
            </a:endParaRPr>
          </a:p>
        </p:txBody>
      </p:sp>
      <p:sp>
        <p:nvSpPr>
          <p:cNvPr id="5" name="Shape 22">
            <a:extLst>
              <a:ext uri="{FF2B5EF4-FFF2-40B4-BE49-F238E27FC236}">
                <a16:creationId xmlns:a16="http://schemas.microsoft.com/office/drawing/2014/main" id="{C67D2441-E359-44B3-A672-6C1D256844E5}"/>
              </a:ext>
            </a:extLst>
          </p:cNvPr>
          <p:cNvSpPr/>
          <p:nvPr/>
        </p:nvSpPr>
        <p:spPr>
          <a:xfrm>
            <a:off x="3798180" y="2885324"/>
            <a:ext cx="1175930" cy="2124078"/>
          </a:xfrm>
          <a:prstGeom prst="roundRect">
            <a:avLst>
              <a:gd name="adj" fmla="val 4651"/>
            </a:avLst>
          </a:prstGeom>
          <a:solidFill>
            <a:srgbClr val="002060"/>
          </a:solidFill>
          <a:ln/>
          <a:effectLst>
            <a:outerShdw blurRad="127000" dist="38100" dir="5400000" algn="bl" rotWithShape="0">
              <a:srgbClr val="0B3D3F">
                <a:alpha val="10000"/>
              </a:srgbClr>
            </a:outerShdw>
          </a:effectLst>
        </p:spPr>
        <p:txBody>
          <a:bodyPr/>
          <a:lstStyle/>
          <a:p>
            <a:endParaRPr lang="en-US" noProof="0" dirty="0"/>
          </a:p>
        </p:txBody>
      </p:sp>
      <p:sp>
        <p:nvSpPr>
          <p:cNvPr id="8" name="Text 23">
            <a:extLst>
              <a:ext uri="{FF2B5EF4-FFF2-40B4-BE49-F238E27FC236}">
                <a16:creationId xmlns:a16="http://schemas.microsoft.com/office/drawing/2014/main" id="{DDFA9E32-2039-D953-0892-DD0FD7CC1621}"/>
              </a:ext>
            </a:extLst>
          </p:cNvPr>
          <p:cNvSpPr/>
          <p:nvPr/>
        </p:nvSpPr>
        <p:spPr>
          <a:xfrm>
            <a:off x="3907908" y="2995053"/>
            <a:ext cx="856779" cy="315547"/>
          </a:xfrm>
          <a:prstGeom prst="rect">
            <a:avLst/>
          </a:prstGeom>
          <a:noFill/>
          <a:ln/>
        </p:spPr>
        <p:txBody>
          <a:bodyPr wrap="square" lIns="0" tIns="0" rIns="0" bIns="0" rtlCol="0" anchor="ctr"/>
          <a:lstStyle/>
          <a:p>
            <a:pPr marL="0" indent="0">
              <a:buNone/>
            </a:pPr>
            <a:r>
              <a:rPr lang="en-US" sz="2000" b="1" noProof="0" dirty="0">
                <a:solidFill>
                  <a:schemeClr val="accent1">
                    <a:lumMod val="20000"/>
                    <a:lumOff val="80000"/>
                  </a:schemeClr>
                </a:solidFill>
                <a:latin typeface="Cambria" pitchFamily="34" charset="0"/>
                <a:ea typeface="Cambria" pitchFamily="34" charset="-122"/>
                <a:cs typeface="Cambria" pitchFamily="34" charset="-120"/>
              </a:rPr>
              <a:t>06</a:t>
            </a:r>
            <a:endParaRPr lang="en-US" sz="2000" noProof="0" dirty="0">
              <a:solidFill>
                <a:schemeClr val="accent1">
                  <a:lumMod val="20000"/>
                  <a:lumOff val="80000"/>
                </a:schemeClr>
              </a:solidFill>
            </a:endParaRPr>
          </a:p>
        </p:txBody>
      </p:sp>
      <p:sp>
        <p:nvSpPr>
          <p:cNvPr id="13" name="Text 24">
            <a:extLst>
              <a:ext uri="{FF2B5EF4-FFF2-40B4-BE49-F238E27FC236}">
                <a16:creationId xmlns:a16="http://schemas.microsoft.com/office/drawing/2014/main" id="{BEF432BF-2653-D4B1-5E6C-05206FC349AA}"/>
              </a:ext>
            </a:extLst>
          </p:cNvPr>
          <p:cNvSpPr/>
          <p:nvPr/>
        </p:nvSpPr>
        <p:spPr>
          <a:xfrm>
            <a:off x="3915854" y="3272410"/>
            <a:ext cx="936259" cy="147919"/>
          </a:xfrm>
          <a:prstGeom prst="rect">
            <a:avLst/>
          </a:prstGeom>
          <a:noFill/>
          <a:ln/>
        </p:spPr>
        <p:txBody>
          <a:bodyPr wrap="square" lIns="0" tIns="0" rIns="0" bIns="0" rtlCol="0" anchor="ctr"/>
          <a:lstStyle/>
          <a:p>
            <a:pPr marL="0" indent="0">
              <a:lnSpc>
                <a:spcPct val="105000"/>
              </a:lnSpc>
              <a:buNone/>
            </a:pPr>
            <a:r>
              <a:rPr lang="en-US" sz="1100" b="1" noProof="0" dirty="0">
                <a:solidFill>
                  <a:srgbClr val="FFFFFF"/>
                </a:solidFill>
                <a:latin typeface="Cambria" panose="02040503050406030204" pitchFamily="18" charset="0"/>
                <a:ea typeface="Cambria" panose="02040503050406030204" pitchFamily="18" charset="0"/>
                <a:cs typeface="Calibri" pitchFamily="34" charset="-120"/>
              </a:rPr>
              <a:t>Results</a:t>
            </a:r>
            <a:endParaRPr lang="en-US" sz="1200" noProof="0" dirty="0">
              <a:latin typeface="Cambria" panose="02040503050406030204" pitchFamily="18" charset="0"/>
              <a:ea typeface="Cambria" panose="02040503050406030204" pitchFamily="18" charset="0"/>
            </a:endParaRPr>
          </a:p>
        </p:txBody>
      </p:sp>
      <p:sp>
        <p:nvSpPr>
          <p:cNvPr id="17" name="Text 25">
            <a:extLst>
              <a:ext uri="{FF2B5EF4-FFF2-40B4-BE49-F238E27FC236}">
                <a16:creationId xmlns:a16="http://schemas.microsoft.com/office/drawing/2014/main" id="{162E496D-F0B1-ACC0-5820-4251B349444C}"/>
              </a:ext>
            </a:extLst>
          </p:cNvPr>
          <p:cNvSpPr/>
          <p:nvPr/>
        </p:nvSpPr>
        <p:spPr>
          <a:xfrm>
            <a:off x="3900473" y="3474782"/>
            <a:ext cx="1066203" cy="1458607"/>
          </a:xfrm>
          <a:prstGeom prst="rect">
            <a:avLst/>
          </a:prstGeom>
          <a:noFill/>
          <a:ln/>
        </p:spPr>
        <p:txBody>
          <a:bodyPr wrap="square" lIns="0" tIns="0" rIns="0" bIns="0" rtlCol="0" anchor="ctr"/>
          <a:lstStyle/>
          <a:p>
            <a:pPr>
              <a:lnSpc>
                <a:spcPct val="120000"/>
              </a:lnSpc>
            </a:pPr>
            <a:r>
              <a:rPr lang="en-US" sz="1000" noProof="0" dirty="0">
                <a:solidFill>
                  <a:schemeClr val="accent1">
                    <a:lumMod val="20000"/>
                    <a:lumOff val="80000"/>
                  </a:schemeClr>
                </a:solidFill>
                <a:latin typeface="Cambria" panose="02040503050406030204" pitchFamily="18" charset="0"/>
                <a:ea typeface="Cambria" panose="02040503050406030204" pitchFamily="18" charset="0"/>
                <a:cs typeface="Calibri" pitchFamily="34" charset="-120"/>
              </a:rPr>
              <a:t>All these procedures, allow Meridian to separate </a:t>
            </a:r>
            <a:r>
              <a:rPr lang="en-US" sz="1000" noProof="0" dirty="0" err="1">
                <a:solidFill>
                  <a:schemeClr val="accent1">
                    <a:lumMod val="20000"/>
                    <a:lumOff val="80000"/>
                  </a:schemeClr>
                </a:solidFill>
                <a:latin typeface="Cambria" panose="02040503050406030204" pitchFamily="18" charset="0"/>
                <a:ea typeface="Cambria" panose="02040503050406030204" pitchFamily="18" charset="0"/>
                <a:cs typeface="Calibri" pitchFamily="34" charset="-120"/>
              </a:rPr>
              <a:t>adstock</a:t>
            </a:r>
            <a:r>
              <a:rPr lang="en-US" sz="1000" noProof="0" dirty="0">
                <a:solidFill>
                  <a:schemeClr val="accent1">
                    <a:lumMod val="20000"/>
                    <a:lumOff val="80000"/>
                  </a:schemeClr>
                </a:solidFill>
                <a:latin typeface="Cambria" panose="02040503050406030204" pitchFamily="18" charset="0"/>
                <a:ea typeface="Cambria" panose="02040503050406030204" pitchFamily="18" charset="0"/>
                <a:cs typeface="Calibri" pitchFamily="34" charset="-120"/>
              </a:rPr>
              <a:t>, saturation, and seasonal effects instead of confounding them.</a:t>
            </a:r>
            <a:endParaRPr lang="en-US" sz="1000" noProof="0" dirty="0">
              <a:solidFill>
                <a:schemeClr val="accent1">
                  <a:lumMod val="20000"/>
                  <a:lumOff val="80000"/>
                </a:schemeClr>
              </a:solidFill>
              <a:latin typeface="Cambria" panose="02040503050406030204" pitchFamily="18" charset="0"/>
              <a:ea typeface="Cambria" panose="02040503050406030204" pitchFamily="18" charset="0"/>
            </a:endParaRPr>
          </a:p>
        </p:txBody>
      </p:sp>
      <p:pic>
        <p:nvPicPr>
          <p:cNvPr id="28" name="Immagine 27">
            <a:extLst>
              <a:ext uri="{FF2B5EF4-FFF2-40B4-BE49-F238E27FC236}">
                <a16:creationId xmlns:a16="http://schemas.microsoft.com/office/drawing/2014/main" id="{9D9BDD91-F861-A3C3-B682-EB71563E4B3C}"/>
              </a:ext>
            </a:extLst>
          </p:cNvPr>
          <p:cNvPicPr>
            <a:picLocks noChangeAspect="1"/>
          </p:cNvPicPr>
          <p:nvPr/>
        </p:nvPicPr>
        <p:blipFill>
          <a:blip r:embed="rId2"/>
          <a:stretch>
            <a:fillRect/>
          </a:stretch>
        </p:blipFill>
        <p:spPr>
          <a:xfrm>
            <a:off x="5167883" y="1472333"/>
            <a:ext cx="3733633" cy="2800225"/>
          </a:xfrm>
          <a:prstGeom prst="rect">
            <a:avLst/>
          </a:prstGeom>
        </p:spPr>
      </p:pic>
      <p:sp>
        <p:nvSpPr>
          <p:cNvPr id="31" name="Text 4">
            <a:extLst>
              <a:ext uri="{FF2B5EF4-FFF2-40B4-BE49-F238E27FC236}">
                <a16:creationId xmlns:a16="http://schemas.microsoft.com/office/drawing/2014/main" id="{CED54238-26F1-247B-4C14-BE2C42C2F655}"/>
              </a:ext>
            </a:extLst>
          </p:cNvPr>
          <p:cNvSpPr/>
          <p:nvPr/>
        </p:nvSpPr>
        <p:spPr>
          <a:xfrm>
            <a:off x="5591737" y="1036974"/>
            <a:ext cx="3003623" cy="367427"/>
          </a:xfrm>
          <a:prstGeom prst="rect">
            <a:avLst/>
          </a:prstGeom>
          <a:noFill/>
          <a:ln/>
        </p:spPr>
        <p:txBody>
          <a:bodyPr wrap="square" lIns="0" tIns="0" rIns="0" bIns="0" rtlCol="0" anchor="ctr"/>
          <a:lstStyle/>
          <a:p>
            <a:pPr marL="0" indent="0" algn="ctr">
              <a:buNone/>
            </a:pPr>
            <a:r>
              <a:rPr lang="en-US" sz="1050" b="1" kern="0" spc="200" noProof="0" dirty="0">
                <a:solidFill>
                  <a:srgbClr val="3A5BA0"/>
                </a:solidFill>
                <a:latin typeface="Cambria" panose="02040503050406030204" pitchFamily="18" charset="0"/>
                <a:ea typeface="Cambria" panose="02040503050406030204" pitchFamily="18" charset="0"/>
                <a:cs typeface="Calibri" pitchFamily="34" charset="-120"/>
              </a:rPr>
              <a:t>TOTAL VALUE OF MERCHANDISE BEFORE DISCOUNT (DAILY)</a:t>
            </a:r>
            <a:endParaRPr lang="en-US" sz="1050" noProof="0" dirty="0">
              <a:latin typeface="Cambria" panose="02040503050406030204" pitchFamily="18" charset="0"/>
              <a:ea typeface="Cambria" panose="02040503050406030204" pitchFamily="18" charset="0"/>
            </a:endParaRPr>
          </a:p>
        </p:txBody>
      </p:sp>
      <p:sp>
        <p:nvSpPr>
          <p:cNvPr id="6" name="CasellaDiTesto 5">
            <a:extLst>
              <a:ext uri="{FF2B5EF4-FFF2-40B4-BE49-F238E27FC236}">
                <a16:creationId xmlns:a16="http://schemas.microsoft.com/office/drawing/2014/main" id="{CF9EAC8C-7A4C-2659-FF24-DA238E5BF3C7}"/>
              </a:ext>
            </a:extLst>
          </p:cNvPr>
          <p:cNvSpPr txBox="1"/>
          <p:nvPr/>
        </p:nvSpPr>
        <p:spPr>
          <a:xfrm>
            <a:off x="5288206" y="4242712"/>
            <a:ext cx="3581474" cy="608180"/>
          </a:xfrm>
          <a:prstGeom prst="rect">
            <a:avLst/>
          </a:prstGeom>
          <a:noFill/>
        </p:spPr>
        <p:txBody>
          <a:bodyPr wrap="square">
            <a:spAutoFit/>
          </a:bodyPr>
          <a:lstStyle/>
          <a:p>
            <a:pPr marL="0" indent="0" algn="ctr">
              <a:lnSpc>
                <a:spcPct val="115000"/>
              </a:lnSpc>
              <a:buNone/>
            </a:pPr>
            <a:r>
              <a:rPr lang="en-US" sz="1000" noProof="0" dirty="0">
                <a:solidFill>
                  <a:srgbClr val="64748B"/>
                </a:solidFill>
                <a:latin typeface="Cambria" panose="02040503050406030204" pitchFamily="18" charset="0"/>
                <a:ea typeface="Cambria" panose="02040503050406030204" pitchFamily="18" charset="0"/>
                <a:cs typeface="Calibri" pitchFamily="34" charset="-120"/>
              </a:rPr>
              <a:t>Almost 3 years were considered for tracking the training data (mid 2020- mid 2023) and almost one to the test set (mid 2023-mid 2024)</a:t>
            </a:r>
            <a:endParaRPr lang="en-US" sz="1000" noProof="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11984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F"/>
        </a:solidFill>
        <a:effectLst/>
      </p:bgPr>
    </p:bg>
    <p:spTree>
      <p:nvGrpSpPr>
        <p:cNvPr id="1" name="">
          <a:extLst>
            <a:ext uri="{FF2B5EF4-FFF2-40B4-BE49-F238E27FC236}">
              <a16:creationId xmlns:a16="http://schemas.microsoft.com/office/drawing/2014/main" id="{1865C0A8-470E-0D9F-AE4A-00617E000E9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15383E3-AB16-2260-9933-4CA4AC1F2ED2}"/>
              </a:ext>
            </a:extLst>
          </p:cNvPr>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4" name="Text 1">
            <a:extLst>
              <a:ext uri="{FF2B5EF4-FFF2-40B4-BE49-F238E27FC236}">
                <a16:creationId xmlns:a16="http://schemas.microsoft.com/office/drawing/2014/main" id="{8422F2A0-A096-F478-E471-798E2C9DDA21}"/>
              </a:ext>
            </a:extLst>
          </p:cNvPr>
          <p:cNvSpPr/>
          <p:nvPr/>
        </p:nvSpPr>
        <p:spPr>
          <a:xfrm>
            <a:off x="274319" y="322679"/>
            <a:ext cx="7723163" cy="291552"/>
          </a:xfrm>
          <a:prstGeom prst="rect">
            <a:avLst/>
          </a:prstGeom>
          <a:noFill/>
          <a:ln/>
        </p:spPr>
        <p:txBody>
          <a:bodyPr wrap="square" lIns="0" tIns="0" rIns="0" bIns="0" rtlCol="0" anchor="ctr"/>
          <a:lstStyle/>
          <a:p>
            <a:pPr marL="0" indent="0" algn="l">
              <a:buNone/>
            </a:pPr>
            <a:r>
              <a:rPr lang="en-US" sz="2800" b="1" noProof="0" dirty="0">
                <a:solidFill>
                  <a:srgbClr val="FFFFFF"/>
                </a:solidFill>
                <a:latin typeface="EucrosiaUPC" panose="02020603050405020304" pitchFamily="18" charset="-34"/>
                <a:ea typeface="Cambria" pitchFamily="34" charset="-122"/>
                <a:cs typeface="EucrosiaUPC" panose="02020603050405020304" pitchFamily="18" charset="-34"/>
              </a:rPr>
              <a:t>3. MERIDIAN Framework</a:t>
            </a:r>
            <a:endParaRPr lang="en-US" sz="2800" noProof="0" dirty="0">
              <a:latin typeface="EucrosiaUPC" panose="02020603050405020304" pitchFamily="18" charset="-34"/>
              <a:cs typeface="EucrosiaUPC" panose="02020603050405020304" pitchFamily="18" charset="-34"/>
            </a:endParaRPr>
          </a:p>
        </p:txBody>
      </p:sp>
      <p:sp>
        <p:nvSpPr>
          <p:cNvPr id="23" name="Text 0">
            <a:extLst>
              <a:ext uri="{FF2B5EF4-FFF2-40B4-BE49-F238E27FC236}">
                <a16:creationId xmlns:a16="http://schemas.microsoft.com/office/drawing/2014/main" id="{9C56C65A-8D5D-D808-A949-8E131E51D5F2}"/>
              </a:ext>
            </a:extLst>
          </p:cNvPr>
          <p:cNvSpPr/>
          <p:nvPr/>
        </p:nvSpPr>
        <p:spPr>
          <a:xfrm>
            <a:off x="274319" y="42203"/>
            <a:ext cx="1055077"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TASK 3</a:t>
            </a:r>
            <a:endParaRPr lang="en-US" sz="900" noProof="0" dirty="0"/>
          </a:p>
        </p:txBody>
      </p:sp>
      <p:sp>
        <p:nvSpPr>
          <p:cNvPr id="29" name="Shape 1">
            <a:extLst>
              <a:ext uri="{FF2B5EF4-FFF2-40B4-BE49-F238E27FC236}">
                <a16:creationId xmlns:a16="http://schemas.microsoft.com/office/drawing/2014/main" id="{264C4C2C-7619-5DB9-632F-903829899764}"/>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31" name="Text 2">
            <a:extLst>
              <a:ext uri="{FF2B5EF4-FFF2-40B4-BE49-F238E27FC236}">
                <a16:creationId xmlns:a16="http://schemas.microsoft.com/office/drawing/2014/main" id="{72B3813B-1392-99EA-DE95-0C13F0778301}"/>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03</a:t>
            </a:r>
            <a:endParaRPr lang="en-US" sz="1300" noProof="0" dirty="0"/>
          </a:p>
        </p:txBody>
      </p:sp>
      <p:sp>
        <p:nvSpPr>
          <p:cNvPr id="277" name="Text 2">
            <a:extLst>
              <a:ext uri="{FF2B5EF4-FFF2-40B4-BE49-F238E27FC236}">
                <a16:creationId xmlns:a16="http://schemas.microsoft.com/office/drawing/2014/main" id="{FDFDD313-C133-3D34-0F98-1455F53AA73D}"/>
              </a:ext>
            </a:extLst>
          </p:cNvPr>
          <p:cNvSpPr/>
          <p:nvPr/>
        </p:nvSpPr>
        <p:spPr>
          <a:xfrm>
            <a:off x="457200" y="896560"/>
            <a:ext cx="8229600" cy="219456"/>
          </a:xfrm>
          <a:prstGeom prst="rect">
            <a:avLst/>
          </a:prstGeom>
          <a:noFill/>
          <a:ln/>
        </p:spPr>
        <p:txBody>
          <a:bodyPr wrap="square" lIns="0" tIns="0" rIns="0" bIns="0" rtlCol="0" anchor="ctr"/>
          <a:lstStyle/>
          <a:p>
            <a:pPr marL="0" indent="0">
              <a:buNone/>
            </a:pPr>
            <a:r>
              <a:rPr lang="en-US" sz="1150" i="1" noProof="0" dirty="0">
                <a:solidFill>
                  <a:srgbClr val="64748B"/>
                </a:solidFill>
                <a:latin typeface="Cambria" panose="02040503050406030204" pitchFamily="18" charset="0"/>
                <a:ea typeface="Cambria" panose="02040503050406030204" pitchFamily="18" charset="0"/>
                <a:cs typeface="Calibri" pitchFamily="34" charset="-120"/>
              </a:rPr>
              <a:t>From prepared data to a trained causal MMM, in seven steps</a:t>
            </a:r>
            <a:endParaRPr lang="en-US" sz="1150" noProof="0" dirty="0">
              <a:latin typeface="Cambria" panose="02040503050406030204" pitchFamily="18" charset="0"/>
              <a:ea typeface="Cambria" panose="02040503050406030204" pitchFamily="18" charset="0"/>
            </a:endParaRPr>
          </a:p>
        </p:txBody>
      </p:sp>
      <p:sp>
        <p:nvSpPr>
          <p:cNvPr id="279" name="Shape 3">
            <a:extLst>
              <a:ext uri="{FF2B5EF4-FFF2-40B4-BE49-F238E27FC236}">
                <a16:creationId xmlns:a16="http://schemas.microsoft.com/office/drawing/2014/main" id="{2F923989-028E-92A1-D78C-4A6B779D6FFB}"/>
              </a:ext>
            </a:extLst>
          </p:cNvPr>
          <p:cNvSpPr/>
          <p:nvPr/>
        </p:nvSpPr>
        <p:spPr>
          <a:xfrm>
            <a:off x="621792" y="1372048"/>
            <a:ext cx="7900416" cy="0"/>
          </a:xfrm>
          <a:prstGeom prst="line">
            <a:avLst/>
          </a:prstGeom>
          <a:noFill/>
          <a:ln w="19050">
            <a:solidFill>
              <a:srgbClr val="D7E6E5"/>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281" name="Shape 4">
            <a:extLst>
              <a:ext uri="{FF2B5EF4-FFF2-40B4-BE49-F238E27FC236}">
                <a16:creationId xmlns:a16="http://schemas.microsoft.com/office/drawing/2014/main" id="{46A16497-9F10-9C74-FEE0-AAFAE3FD5FDC}"/>
              </a:ext>
            </a:extLst>
          </p:cNvPr>
          <p:cNvSpPr/>
          <p:nvPr/>
        </p:nvSpPr>
        <p:spPr>
          <a:xfrm>
            <a:off x="457200" y="1207456"/>
            <a:ext cx="329184" cy="329184"/>
          </a:xfrm>
          <a:prstGeom prst="ellipse">
            <a:avLst/>
          </a:prstGeom>
          <a:solidFill>
            <a:srgbClr val="1E2761"/>
          </a:solidFill>
          <a:ln w="19050">
            <a:solidFill>
              <a:srgbClr val="FFFFFF"/>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283" name="Text 5">
            <a:extLst>
              <a:ext uri="{FF2B5EF4-FFF2-40B4-BE49-F238E27FC236}">
                <a16:creationId xmlns:a16="http://schemas.microsoft.com/office/drawing/2014/main" id="{F58200EC-FBD8-7EBF-0B43-C5FE811B9D7A}"/>
              </a:ext>
            </a:extLst>
          </p:cNvPr>
          <p:cNvSpPr/>
          <p:nvPr/>
        </p:nvSpPr>
        <p:spPr>
          <a:xfrm>
            <a:off x="457200" y="1207456"/>
            <a:ext cx="329184" cy="329184"/>
          </a:xfrm>
          <a:prstGeom prst="rect">
            <a:avLst/>
          </a:prstGeom>
          <a:noFill/>
          <a:ln/>
        </p:spPr>
        <p:txBody>
          <a:bodyPr wrap="square" lIns="0" tIns="0" rIns="0" bIns="0" rtlCol="0" anchor="ct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cs typeface="Calibri" pitchFamily="34" charset="-120"/>
              </a:rPr>
              <a:t>1</a:t>
            </a:r>
            <a:endParaRPr lang="en-US" sz="1100" noProof="0" dirty="0">
              <a:latin typeface="Cambria" panose="02040503050406030204" pitchFamily="18" charset="0"/>
              <a:ea typeface="Cambria" panose="02040503050406030204" pitchFamily="18" charset="0"/>
            </a:endParaRPr>
          </a:p>
        </p:txBody>
      </p:sp>
      <p:sp>
        <p:nvSpPr>
          <p:cNvPr id="285" name="Shape 7">
            <a:extLst>
              <a:ext uri="{FF2B5EF4-FFF2-40B4-BE49-F238E27FC236}">
                <a16:creationId xmlns:a16="http://schemas.microsoft.com/office/drawing/2014/main" id="{9A9558ED-3562-7EB5-53B7-F4A45A4F3D54}"/>
              </a:ext>
            </a:extLst>
          </p:cNvPr>
          <p:cNvSpPr/>
          <p:nvPr/>
        </p:nvSpPr>
        <p:spPr>
          <a:xfrm>
            <a:off x="1773936" y="1207456"/>
            <a:ext cx="329184" cy="329184"/>
          </a:xfrm>
          <a:prstGeom prst="ellipse">
            <a:avLst/>
          </a:prstGeom>
          <a:solidFill>
            <a:srgbClr val="1E2761"/>
          </a:solidFill>
          <a:ln w="19050">
            <a:solidFill>
              <a:srgbClr val="FFFFFF"/>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287" name="Text 8">
            <a:extLst>
              <a:ext uri="{FF2B5EF4-FFF2-40B4-BE49-F238E27FC236}">
                <a16:creationId xmlns:a16="http://schemas.microsoft.com/office/drawing/2014/main" id="{684DB1CE-B6EA-7DD3-E39E-BF7F351BC411}"/>
              </a:ext>
            </a:extLst>
          </p:cNvPr>
          <p:cNvSpPr/>
          <p:nvPr/>
        </p:nvSpPr>
        <p:spPr>
          <a:xfrm>
            <a:off x="1773936" y="1207456"/>
            <a:ext cx="329184" cy="329184"/>
          </a:xfrm>
          <a:prstGeom prst="rect">
            <a:avLst/>
          </a:prstGeom>
          <a:noFill/>
          <a:ln/>
        </p:spPr>
        <p:txBody>
          <a:bodyPr wrap="square" lIns="0" tIns="0" rIns="0" bIns="0" rtlCol="0" anchor="ct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cs typeface="Calibri" pitchFamily="34" charset="-120"/>
              </a:rPr>
              <a:t>2</a:t>
            </a:r>
            <a:endParaRPr lang="en-US" sz="1100" noProof="0" dirty="0">
              <a:latin typeface="Cambria" panose="02040503050406030204" pitchFamily="18" charset="0"/>
              <a:ea typeface="Cambria" panose="02040503050406030204" pitchFamily="18" charset="0"/>
            </a:endParaRPr>
          </a:p>
        </p:txBody>
      </p:sp>
      <p:sp>
        <p:nvSpPr>
          <p:cNvPr id="289" name="Text 9">
            <a:extLst>
              <a:ext uri="{FF2B5EF4-FFF2-40B4-BE49-F238E27FC236}">
                <a16:creationId xmlns:a16="http://schemas.microsoft.com/office/drawing/2014/main" id="{C84FDFE8-D056-02D3-78F6-819FDE6740AA}"/>
              </a:ext>
            </a:extLst>
          </p:cNvPr>
          <p:cNvSpPr/>
          <p:nvPr/>
        </p:nvSpPr>
        <p:spPr>
          <a:xfrm>
            <a:off x="1316736" y="1582360"/>
            <a:ext cx="1243584" cy="219456"/>
          </a:xfrm>
          <a:prstGeom prst="rect">
            <a:avLst/>
          </a:prstGeom>
          <a:noFill/>
          <a:ln/>
        </p:spPr>
        <p:txBody>
          <a:bodyPr wrap="square" lIns="0" tIns="0" rIns="0" bIns="0" rtlCol="0" anchor="ctr"/>
          <a:lstStyle/>
          <a:p>
            <a:pPr marL="0" indent="0" algn="ctr">
              <a:lnSpc>
                <a:spcPct val="100000"/>
              </a:lnSpc>
              <a:buNone/>
            </a:pPr>
            <a:r>
              <a:rPr lang="en-US" sz="900" noProof="0" dirty="0">
                <a:solidFill>
                  <a:srgbClr val="1E293B"/>
                </a:solidFill>
                <a:latin typeface="Cambria" panose="02040503050406030204" pitchFamily="18" charset="0"/>
                <a:ea typeface="Cambria" panose="02040503050406030204" pitchFamily="18" charset="0"/>
                <a:cs typeface="Calibri" pitchFamily="34" charset="-120"/>
              </a:rPr>
              <a:t>Build Holdout</a:t>
            </a:r>
            <a:endParaRPr lang="en-US" sz="900" noProof="0" dirty="0">
              <a:latin typeface="Cambria" panose="02040503050406030204" pitchFamily="18" charset="0"/>
              <a:ea typeface="Cambria" panose="02040503050406030204" pitchFamily="18" charset="0"/>
            </a:endParaRPr>
          </a:p>
        </p:txBody>
      </p:sp>
      <p:sp>
        <p:nvSpPr>
          <p:cNvPr id="291" name="Shape 10">
            <a:extLst>
              <a:ext uri="{FF2B5EF4-FFF2-40B4-BE49-F238E27FC236}">
                <a16:creationId xmlns:a16="http://schemas.microsoft.com/office/drawing/2014/main" id="{D7E4E8A8-0649-B3A6-E826-3D140F169CE1}"/>
              </a:ext>
            </a:extLst>
          </p:cNvPr>
          <p:cNvSpPr/>
          <p:nvPr/>
        </p:nvSpPr>
        <p:spPr>
          <a:xfrm>
            <a:off x="3090672" y="1207456"/>
            <a:ext cx="329184" cy="329184"/>
          </a:xfrm>
          <a:prstGeom prst="ellipse">
            <a:avLst/>
          </a:prstGeom>
          <a:solidFill>
            <a:srgbClr val="1E2761"/>
          </a:solidFill>
          <a:ln w="19050">
            <a:solidFill>
              <a:srgbClr val="FFFFFF"/>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293" name="Text 11">
            <a:extLst>
              <a:ext uri="{FF2B5EF4-FFF2-40B4-BE49-F238E27FC236}">
                <a16:creationId xmlns:a16="http://schemas.microsoft.com/office/drawing/2014/main" id="{5187B465-B58A-AB08-912F-DEF2C6C51430}"/>
              </a:ext>
            </a:extLst>
          </p:cNvPr>
          <p:cNvSpPr/>
          <p:nvPr/>
        </p:nvSpPr>
        <p:spPr>
          <a:xfrm>
            <a:off x="3090672" y="1207456"/>
            <a:ext cx="329184" cy="329184"/>
          </a:xfrm>
          <a:prstGeom prst="rect">
            <a:avLst/>
          </a:prstGeom>
          <a:noFill/>
          <a:ln/>
        </p:spPr>
        <p:txBody>
          <a:bodyPr wrap="square" lIns="0" tIns="0" rIns="0" bIns="0" rtlCol="0" anchor="ct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cs typeface="Calibri" pitchFamily="34" charset="-120"/>
              </a:rPr>
              <a:t>3</a:t>
            </a:r>
            <a:endParaRPr lang="en-US" sz="1100" noProof="0" dirty="0">
              <a:latin typeface="Cambria" panose="02040503050406030204" pitchFamily="18" charset="0"/>
              <a:ea typeface="Cambria" panose="02040503050406030204" pitchFamily="18" charset="0"/>
            </a:endParaRPr>
          </a:p>
        </p:txBody>
      </p:sp>
      <p:sp>
        <p:nvSpPr>
          <p:cNvPr id="295" name="Text 12">
            <a:extLst>
              <a:ext uri="{FF2B5EF4-FFF2-40B4-BE49-F238E27FC236}">
                <a16:creationId xmlns:a16="http://schemas.microsoft.com/office/drawing/2014/main" id="{095DB9BF-28B9-0A87-6D42-9C7CA0EE07C0}"/>
              </a:ext>
            </a:extLst>
          </p:cNvPr>
          <p:cNvSpPr/>
          <p:nvPr/>
        </p:nvSpPr>
        <p:spPr>
          <a:xfrm>
            <a:off x="2633472" y="1582360"/>
            <a:ext cx="1243584" cy="219456"/>
          </a:xfrm>
          <a:prstGeom prst="rect">
            <a:avLst/>
          </a:prstGeom>
          <a:noFill/>
          <a:ln/>
        </p:spPr>
        <p:txBody>
          <a:bodyPr wrap="square" lIns="0" tIns="0" rIns="0" bIns="0" rtlCol="0" anchor="ctr"/>
          <a:lstStyle/>
          <a:p>
            <a:pPr marL="0" indent="0" algn="ctr">
              <a:lnSpc>
                <a:spcPct val="100000"/>
              </a:lnSpc>
              <a:buNone/>
            </a:pPr>
            <a:r>
              <a:rPr lang="en-US" sz="900" noProof="0" dirty="0">
                <a:solidFill>
                  <a:srgbClr val="1E293B"/>
                </a:solidFill>
                <a:latin typeface="Cambria" panose="02040503050406030204" pitchFamily="18" charset="0"/>
                <a:ea typeface="Cambria" panose="02040503050406030204" pitchFamily="18" charset="0"/>
                <a:cs typeface="Calibri" pitchFamily="34" charset="-120"/>
              </a:rPr>
              <a:t>ROI Prior</a:t>
            </a:r>
            <a:endParaRPr lang="en-US" sz="900" noProof="0" dirty="0">
              <a:latin typeface="Cambria" panose="02040503050406030204" pitchFamily="18" charset="0"/>
              <a:ea typeface="Cambria" panose="02040503050406030204" pitchFamily="18" charset="0"/>
            </a:endParaRPr>
          </a:p>
        </p:txBody>
      </p:sp>
      <p:sp>
        <p:nvSpPr>
          <p:cNvPr id="297" name="Shape 13">
            <a:extLst>
              <a:ext uri="{FF2B5EF4-FFF2-40B4-BE49-F238E27FC236}">
                <a16:creationId xmlns:a16="http://schemas.microsoft.com/office/drawing/2014/main" id="{5733F794-6758-0E94-E9A6-BC9B595D4621}"/>
              </a:ext>
            </a:extLst>
          </p:cNvPr>
          <p:cNvSpPr/>
          <p:nvPr/>
        </p:nvSpPr>
        <p:spPr>
          <a:xfrm>
            <a:off x="4407408" y="1207456"/>
            <a:ext cx="329184" cy="329184"/>
          </a:xfrm>
          <a:prstGeom prst="ellipse">
            <a:avLst/>
          </a:prstGeom>
          <a:solidFill>
            <a:srgbClr val="AED8E6"/>
          </a:solidFill>
          <a:ln w="19050">
            <a:solidFill>
              <a:srgbClr val="0070C0"/>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299" name="Text 14">
            <a:extLst>
              <a:ext uri="{FF2B5EF4-FFF2-40B4-BE49-F238E27FC236}">
                <a16:creationId xmlns:a16="http://schemas.microsoft.com/office/drawing/2014/main" id="{301C45AC-3600-4531-68B5-5FC2102363E7}"/>
              </a:ext>
            </a:extLst>
          </p:cNvPr>
          <p:cNvSpPr/>
          <p:nvPr/>
        </p:nvSpPr>
        <p:spPr>
          <a:xfrm>
            <a:off x="4407408" y="1207456"/>
            <a:ext cx="329184" cy="329184"/>
          </a:xfrm>
          <a:prstGeom prst="rect">
            <a:avLst/>
          </a:prstGeom>
          <a:noFill/>
          <a:ln/>
        </p:spPr>
        <p:txBody>
          <a:bodyPr wrap="square" lIns="0" tIns="0" rIns="0" bIns="0" rtlCol="0" anchor="ctr"/>
          <a:lstStyle/>
          <a:p>
            <a:pPr marL="0" indent="0" algn="ctr">
              <a:buNone/>
            </a:pPr>
            <a:r>
              <a:rPr lang="en-US" sz="1100" b="1" noProof="0" dirty="0">
                <a:solidFill>
                  <a:srgbClr val="0B3D3F"/>
                </a:solidFill>
                <a:latin typeface="Cambria" panose="02040503050406030204" pitchFamily="18" charset="0"/>
                <a:ea typeface="Cambria" panose="02040503050406030204" pitchFamily="18" charset="0"/>
                <a:cs typeface="Calibri" pitchFamily="34" charset="-120"/>
              </a:rPr>
              <a:t>4</a:t>
            </a:r>
            <a:endParaRPr lang="en-US" sz="1100" noProof="0" dirty="0">
              <a:latin typeface="Cambria" panose="02040503050406030204" pitchFamily="18" charset="0"/>
              <a:ea typeface="Cambria" panose="02040503050406030204" pitchFamily="18" charset="0"/>
            </a:endParaRPr>
          </a:p>
        </p:txBody>
      </p:sp>
      <p:sp>
        <p:nvSpPr>
          <p:cNvPr id="301" name="Text 15">
            <a:extLst>
              <a:ext uri="{FF2B5EF4-FFF2-40B4-BE49-F238E27FC236}">
                <a16:creationId xmlns:a16="http://schemas.microsoft.com/office/drawing/2014/main" id="{2BE0EB5B-62C6-4CE4-7D87-B762F7AC63CD}"/>
              </a:ext>
            </a:extLst>
          </p:cNvPr>
          <p:cNvSpPr/>
          <p:nvPr/>
        </p:nvSpPr>
        <p:spPr>
          <a:xfrm>
            <a:off x="3950208" y="1582360"/>
            <a:ext cx="1243584" cy="219456"/>
          </a:xfrm>
          <a:prstGeom prst="rect">
            <a:avLst/>
          </a:prstGeom>
          <a:noFill/>
          <a:ln/>
        </p:spPr>
        <p:txBody>
          <a:bodyPr wrap="square" lIns="0" tIns="0" rIns="0" bIns="0" rtlCol="0" anchor="ctr"/>
          <a:lstStyle/>
          <a:p>
            <a:pPr marL="0" indent="0" algn="ctr">
              <a:lnSpc>
                <a:spcPct val="100000"/>
              </a:lnSpc>
              <a:buNone/>
            </a:pPr>
            <a:r>
              <a:rPr lang="en-US" sz="900" b="1" noProof="0" dirty="0">
                <a:solidFill>
                  <a:srgbClr val="1E2761"/>
                </a:solidFill>
                <a:latin typeface="Cambria" panose="02040503050406030204" pitchFamily="18" charset="0"/>
                <a:ea typeface="Cambria" panose="02040503050406030204" pitchFamily="18" charset="0"/>
                <a:cs typeface="Calibri" pitchFamily="34" charset="-120"/>
              </a:rPr>
              <a:t>Train Model</a:t>
            </a:r>
            <a:endParaRPr lang="en-US" sz="900" noProof="0" dirty="0">
              <a:solidFill>
                <a:srgbClr val="1E2761"/>
              </a:solidFill>
              <a:latin typeface="Cambria" panose="02040503050406030204" pitchFamily="18" charset="0"/>
              <a:ea typeface="Cambria" panose="02040503050406030204" pitchFamily="18" charset="0"/>
            </a:endParaRPr>
          </a:p>
        </p:txBody>
      </p:sp>
      <p:sp>
        <p:nvSpPr>
          <p:cNvPr id="303" name="Shape 16">
            <a:extLst>
              <a:ext uri="{FF2B5EF4-FFF2-40B4-BE49-F238E27FC236}">
                <a16:creationId xmlns:a16="http://schemas.microsoft.com/office/drawing/2014/main" id="{E9452334-FA59-FB48-42CC-1CD1A6AB4B49}"/>
              </a:ext>
            </a:extLst>
          </p:cNvPr>
          <p:cNvSpPr/>
          <p:nvPr/>
        </p:nvSpPr>
        <p:spPr>
          <a:xfrm>
            <a:off x="5724144" y="1207456"/>
            <a:ext cx="329184" cy="329184"/>
          </a:xfrm>
          <a:prstGeom prst="ellipse">
            <a:avLst/>
          </a:prstGeom>
          <a:solidFill>
            <a:srgbClr val="0070C0"/>
          </a:solidFill>
          <a:ln w="19050">
            <a:solidFill>
              <a:srgbClr val="FFFFFF"/>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305" name="Text 17">
            <a:extLst>
              <a:ext uri="{FF2B5EF4-FFF2-40B4-BE49-F238E27FC236}">
                <a16:creationId xmlns:a16="http://schemas.microsoft.com/office/drawing/2014/main" id="{7F614B5A-EB8C-3EF6-D7D5-7377E23914B5}"/>
              </a:ext>
            </a:extLst>
          </p:cNvPr>
          <p:cNvSpPr/>
          <p:nvPr/>
        </p:nvSpPr>
        <p:spPr>
          <a:xfrm>
            <a:off x="5724144" y="1207456"/>
            <a:ext cx="329184" cy="329184"/>
          </a:xfrm>
          <a:prstGeom prst="rect">
            <a:avLst/>
          </a:prstGeom>
          <a:noFill/>
          <a:ln/>
        </p:spPr>
        <p:txBody>
          <a:bodyPr wrap="square" lIns="0" tIns="0" rIns="0" bIns="0" rtlCol="0" anchor="ct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cs typeface="Calibri" pitchFamily="34" charset="-120"/>
              </a:rPr>
              <a:t>5</a:t>
            </a:r>
            <a:endParaRPr lang="en-US" sz="1100" noProof="0" dirty="0">
              <a:latin typeface="Cambria" panose="02040503050406030204" pitchFamily="18" charset="0"/>
              <a:ea typeface="Cambria" panose="02040503050406030204" pitchFamily="18" charset="0"/>
            </a:endParaRPr>
          </a:p>
        </p:txBody>
      </p:sp>
      <p:sp>
        <p:nvSpPr>
          <p:cNvPr id="307" name="Text 18">
            <a:extLst>
              <a:ext uri="{FF2B5EF4-FFF2-40B4-BE49-F238E27FC236}">
                <a16:creationId xmlns:a16="http://schemas.microsoft.com/office/drawing/2014/main" id="{F98BFEB4-ACEF-A314-3A4E-081B9FDE6CF9}"/>
              </a:ext>
            </a:extLst>
          </p:cNvPr>
          <p:cNvSpPr/>
          <p:nvPr/>
        </p:nvSpPr>
        <p:spPr>
          <a:xfrm>
            <a:off x="5266944" y="1582360"/>
            <a:ext cx="1243584" cy="219456"/>
          </a:xfrm>
          <a:prstGeom prst="rect">
            <a:avLst/>
          </a:prstGeom>
          <a:noFill/>
          <a:ln/>
        </p:spPr>
        <p:txBody>
          <a:bodyPr wrap="square" lIns="0" tIns="0" rIns="0" bIns="0" rtlCol="0" anchor="ctr"/>
          <a:lstStyle/>
          <a:p>
            <a:pPr marL="0" indent="0" algn="ctr">
              <a:lnSpc>
                <a:spcPct val="100000"/>
              </a:lnSpc>
              <a:buNone/>
            </a:pPr>
            <a:r>
              <a:rPr lang="en-US" sz="900" noProof="0" dirty="0">
                <a:solidFill>
                  <a:srgbClr val="1E293B"/>
                </a:solidFill>
                <a:latin typeface="Cambria" panose="02040503050406030204" pitchFamily="18" charset="0"/>
                <a:ea typeface="Cambria" panose="02040503050406030204" pitchFamily="18" charset="0"/>
                <a:cs typeface="Calibri" pitchFamily="34" charset="-120"/>
              </a:rPr>
              <a:t>Evaluate Fit</a:t>
            </a:r>
            <a:endParaRPr lang="en-US" sz="900" noProof="0" dirty="0">
              <a:latin typeface="Cambria" panose="02040503050406030204" pitchFamily="18" charset="0"/>
              <a:ea typeface="Cambria" panose="02040503050406030204" pitchFamily="18" charset="0"/>
            </a:endParaRPr>
          </a:p>
        </p:txBody>
      </p:sp>
      <p:sp>
        <p:nvSpPr>
          <p:cNvPr id="309" name="Shape 19">
            <a:extLst>
              <a:ext uri="{FF2B5EF4-FFF2-40B4-BE49-F238E27FC236}">
                <a16:creationId xmlns:a16="http://schemas.microsoft.com/office/drawing/2014/main" id="{DA805038-3E72-E391-DDA7-8B0521B169A1}"/>
              </a:ext>
            </a:extLst>
          </p:cNvPr>
          <p:cNvSpPr/>
          <p:nvPr/>
        </p:nvSpPr>
        <p:spPr>
          <a:xfrm>
            <a:off x="7040880" y="1207456"/>
            <a:ext cx="329184" cy="329184"/>
          </a:xfrm>
          <a:prstGeom prst="ellipse">
            <a:avLst/>
          </a:prstGeom>
          <a:solidFill>
            <a:srgbClr val="0070C0"/>
          </a:solidFill>
          <a:ln w="19050">
            <a:solidFill>
              <a:srgbClr val="FFFFFF"/>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311" name="Text 20">
            <a:extLst>
              <a:ext uri="{FF2B5EF4-FFF2-40B4-BE49-F238E27FC236}">
                <a16:creationId xmlns:a16="http://schemas.microsoft.com/office/drawing/2014/main" id="{62273C9C-33AA-5FB2-5201-5E78817B5F55}"/>
              </a:ext>
            </a:extLst>
          </p:cNvPr>
          <p:cNvSpPr/>
          <p:nvPr/>
        </p:nvSpPr>
        <p:spPr>
          <a:xfrm>
            <a:off x="7040880" y="1207456"/>
            <a:ext cx="329184" cy="329184"/>
          </a:xfrm>
          <a:prstGeom prst="rect">
            <a:avLst/>
          </a:prstGeom>
          <a:noFill/>
          <a:ln/>
        </p:spPr>
        <p:txBody>
          <a:bodyPr wrap="square" lIns="0" tIns="0" rIns="0" bIns="0" rtlCol="0" anchor="ct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cs typeface="Calibri" pitchFamily="34" charset="-120"/>
              </a:rPr>
              <a:t>6</a:t>
            </a:r>
            <a:endParaRPr lang="en-US" sz="1100" noProof="0" dirty="0">
              <a:latin typeface="Cambria" panose="02040503050406030204" pitchFamily="18" charset="0"/>
              <a:ea typeface="Cambria" panose="02040503050406030204" pitchFamily="18" charset="0"/>
            </a:endParaRPr>
          </a:p>
        </p:txBody>
      </p:sp>
      <p:sp>
        <p:nvSpPr>
          <p:cNvPr id="313" name="Text 21">
            <a:extLst>
              <a:ext uri="{FF2B5EF4-FFF2-40B4-BE49-F238E27FC236}">
                <a16:creationId xmlns:a16="http://schemas.microsoft.com/office/drawing/2014/main" id="{47E4245D-5EB3-97B9-A026-3BD23A11A2D3}"/>
              </a:ext>
            </a:extLst>
          </p:cNvPr>
          <p:cNvSpPr/>
          <p:nvPr/>
        </p:nvSpPr>
        <p:spPr>
          <a:xfrm>
            <a:off x="6583680" y="1582360"/>
            <a:ext cx="1243584" cy="219456"/>
          </a:xfrm>
          <a:prstGeom prst="rect">
            <a:avLst/>
          </a:prstGeom>
          <a:noFill/>
          <a:ln/>
        </p:spPr>
        <p:txBody>
          <a:bodyPr wrap="square" lIns="0" tIns="0" rIns="0" bIns="0" rtlCol="0" anchor="ctr"/>
          <a:lstStyle/>
          <a:p>
            <a:pPr marL="0" indent="0" algn="ctr">
              <a:lnSpc>
                <a:spcPct val="100000"/>
              </a:lnSpc>
              <a:buNone/>
            </a:pPr>
            <a:r>
              <a:rPr lang="en-US" sz="900" noProof="0" dirty="0">
                <a:solidFill>
                  <a:srgbClr val="1E293B"/>
                </a:solidFill>
                <a:latin typeface="Cambria" panose="02040503050406030204" pitchFamily="18" charset="0"/>
                <a:ea typeface="Cambria" panose="02040503050406030204" pitchFamily="18" charset="0"/>
                <a:cs typeface="Calibri" pitchFamily="34" charset="-120"/>
              </a:rPr>
              <a:t>Save / Reload</a:t>
            </a:r>
            <a:endParaRPr lang="en-US" sz="900" noProof="0" dirty="0">
              <a:latin typeface="Cambria" panose="02040503050406030204" pitchFamily="18" charset="0"/>
              <a:ea typeface="Cambria" panose="02040503050406030204" pitchFamily="18" charset="0"/>
            </a:endParaRPr>
          </a:p>
        </p:txBody>
      </p:sp>
      <p:sp>
        <p:nvSpPr>
          <p:cNvPr id="315" name="Shape 22">
            <a:extLst>
              <a:ext uri="{FF2B5EF4-FFF2-40B4-BE49-F238E27FC236}">
                <a16:creationId xmlns:a16="http://schemas.microsoft.com/office/drawing/2014/main" id="{6F0DD83A-A7E5-EFCE-5915-EE30C6ABA043}"/>
              </a:ext>
            </a:extLst>
          </p:cNvPr>
          <p:cNvSpPr/>
          <p:nvPr/>
        </p:nvSpPr>
        <p:spPr>
          <a:xfrm>
            <a:off x="8357616" y="1207456"/>
            <a:ext cx="329184" cy="329184"/>
          </a:xfrm>
          <a:prstGeom prst="ellipse">
            <a:avLst/>
          </a:prstGeom>
          <a:solidFill>
            <a:srgbClr val="0070C0"/>
          </a:solidFill>
          <a:ln w="19050">
            <a:solidFill>
              <a:srgbClr val="FFFFFF"/>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317" name="Text 23">
            <a:extLst>
              <a:ext uri="{FF2B5EF4-FFF2-40B4-BE49-F238E27FC236}">
                <a16:creationId xmlns:a16="http://schemas.microsoft.com/office/drawing/2014/main" id="{9CCD91CD-DF8F-218B-D9D6-969F83013FCA}"/>
              </a:ext>
            </a:extLst>
          </p:cNvPr>
          <p:cNvSpPr/>
          <p:nvPr/>
        </p:nvSpPr>
        <p:spPr>
          <a:xfrm>
            <a:off x="8357616" y="1207456"/>
            <a:ext cx="329184" cy="329184"/>
          </a:xfrm>
          <a:prstGeom prst="rect">
            <a:avLst/>
          </a:prstGeom>
          <a:noFill/>
          <a:ln/>
        </p:spPr>
        <p:txBody>
          <a:bodyPr wrap="square" lIns="0" tIns="0" rIns="0" bIns="0" rtlCol="0" anchor="ct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cs typeface="Calibri" pitchFamily="34" charset="-120"/>
              </a:rPr>
              <a:t>7</a:t>
            </a:r>
            <a:endParaRPr lang="en-US" sz="1100" noProof="0" dirty="0">
              <a:latin typeface="Cambria" panose="02040503050406030204" pitchFamily="18" charset="0"/>
              <a:ea typeface="Cambria" panose="02040503050406030204" pitchFamily="18" charset="0"/>
            </a:endParaRPr>
          </a:p>
        </p:txBody>
      </p:sp>
      <p:sp>
        <p:nvSpPr>
          <p:cNvPr id="319" name="Text 24">
            <a:extLst>
              <a:ext uri="{FF2B5EF4-FFF2-40B4-BE49-F238E27FC236}">
                <a16:creationId xmlns:a16="http://schemas.microsoft.com/office/drawing/2014/main" id="{AF48A894-F099-2E43-A9BD-8F776D8D7649}"/>
              </a:ext>
            </a:extLst>
          </p:cNvPr>
          <p:cNvSpPr/>
          <p:nvPr/>
        </p:nvSpPr>
        <p:spPr>
          <a:xfrm>
            <a:off x="7900416" y="1600648"/>
            <a:ext cx="1243584" cy="219456"/>
          </a:xfrm>
          <a:prstGeom prst="rect">
            <a:avLst/>
          </a:prstGeom>
          <a:noFill/>
          <a:ln/>
        </p:spPr>
        <p:txBody>
          <a:bodyPr wrap="square" lIns="0" tIns="0" rIns="0" bIns="0" rtlCol="0" anchor="ctr"/>
          <a:lstStyle/>
          <a:p>
            <a:pPr marL="0" indent="0" algn="ctr">
              <a:lnSpc>
                <a:spcPct val="100000"/>
              </a:lnSpc>
              <a:buNone/>
            </a:pPr>
            <a:r>
              <a:rPr lang="en-US" sz="900" noProof="0" dirty="0">
                <a:solidFill>
                  <a:srgbClr val="1E293B"/>
                </a:solidFill>
                <a:latin typeface="Cambria" panose="02040503050406030204" pitchFamily="18" charset="0"/>
                <a:ea typeface="Cambria" panose="02040503050406030204" pitchFamily="18" charset="0"/>
                <a:cs typeface="Calibri" pitchFamily="34" charset="-120"/>
              </a:rPr>
              <a:t>Interpret</a:t>
            </a:r>
            <a:endParaRPr lang="en-US" sz="900" noProof="0" dirty="0">
              <a:latin typeface="Cambria" panose="02040503050406030204" pitchFamily="18" charset="0"/>
              <a:ea typeface="Cambria" panose="02040503050406030204" pitchFamily="18" charset="0"/>
            </a:endParaRPr>
          </a:p>
        </p:txBody>
      </p:sp>
      <p:sp>
        <p:nvSpPr>
          <p:cNvPr id="321" name="Shape 25">
            <a:extLst>
              <a:ext uri="{FF2B5EF4-FFF2-40B4-BE49-F238E27FC236}">
                <a16:creationId xmlns:a16="http://schemas.microsoft.com/office/drawing/2014/main" id="{CE461966-70EE-3425-932A-F5A8840FD561}"/>
              </a:ext>
            </a:extLst>
          </p:cNvPr>
          <p:cNvSpPr/>
          <p:nvPr/>
        </p:nvSpPr>
        <p:spPr>
          <a:xfrm>
            <a:off x="457200" y="1938976"/>
            <a:ext cx="3977640" cy="1972311"/>
          </a:xfrm>
          <a:prstGeom prst="roundRect">
            <a:avLst>
              <a:gd name="adj" fmla="val 3644"/>
            </a:avLst>
          </a:prstGeom>
          <a:solidFill>
            <a:srgbClr val="1E2761"/>
          </a:solidFill>
          <a:ln/>
        </p:spPr>
        <p:txBody>
          <a:bodyPr/>
          <a:lstStyle/>
          <a:p>
            <a:endParaRPr lang="en-US" noProof="0" dirty="0">
              <a:latin typeface="Cambria" panose="02040503050406030204" pitchFamily="18" charset="0"/>
              <a:ea typeface="Cambria" panose="02040503050406030204" pitchFamily="18" charset="0"/>
            </a:endParaRPr>
          </a:p>
        </p:txBody>
      </p:sp>
      <p:sp>
        <p:nvSpPr>
          <p:cNvPr id="323" name="Text 26">
            <a:extLst>
              <a:ext uri="{FF2B5EF4-FFF2-40B4-BE49-F238E27FC236}">
                <a16:creationId xmlns:a16="http://schemas.microsoft.com/office/drawing/2014/main" id="{FB500787-8FF8-6C8E-1201-B1409D3C8526}"/>
              </a:ext>
            </a:extLst>
          </p:cNvPr>
          <p:cNvSpPr/>
          <p:nvPr/>
        </p:nvSpPr>
        <p:spPr>
          <a:xfrm>
            <a:off x="658368" y="2006032"/>
            <a:ext cx="3566160" cy="237744"/>
          </a:xfrm>
          <a:prstGeom prst="rect">
            <a:avLst/>
          </a:prstGeom>
          <a:noFill/>
          <a:ln/>
        </p:spPr>
        <p:txBody>
          <a:bodyPr wrap="square" lIns="0" tIns="0" rIns="0" bIns="0" rtlCol="0" anchor="ctr"/>
          <a:lstStyle/>
          <a:p>
            <a:pPr marL="0" indent="0">
              <a:buNone/>
            </a:pPr>
            <a:r>
              <a:rPr lang="en-US" sz="1000" b="1" kern="0" spc="100" noProof="0" dirty="0">
                <a:solidFill>
                  <a:srgbClr val="AED8E6"/>
                </a:solidFill>
                <a:latin typeface="Cambria" panose="02040503050406030204" pitchFamily="18" charset="0"/>
                <a:ea typeface="Cambria" panose="02040503050406030204" pitchFamily="18" charset="0"/>
                <a:cs typeface="Calibri" pitchFamily="34" charset="-120"/>
              </a:rPr>
              <a:t>CORE TRAINING CONFIGURATION</a:t>
            </a:r>
            <a:endParaRPr lang="en-US" sz="1000" noProof="0" dirty="0">
              <a:solidFill>
                <a:srgbClr val="AED8E6"/>
              </a:solidFill>
              <a:latin typeface="Cambria" panose="02040503050406030204" pitchFamily="18" charset="0"/>
              <a:ea typeface="Cambria" panose="02040503050406030204" pitchFamily="18" charset="0"/>
            </a:endParaRPr>
          </a:p>
        </p:txBody>
      </p:sp>
      <p:sp>
        <p:nvSpPr>
          <p:cNvPr id="325" name="Text 27">
            <a:extLst>
              <a:ext uri="{FF2B5EF4-FFF2-40B4-BE49-F238E27FC236}">
                <a16:creationId xmlns:a16="http://schemas.microsoft.com/office/drawing/2014/main" id="{97DD26E1-6381-756D-7B4E-C3AF70AB244E}"/>
              </a:ext>
            </a:extLst>
          </p:cNvPr>
          <p:cNvSpPr/>
          <p:nvPr/>
        </p:nvSpPr>
        <p:spPr>
          <a:xfrm>
            <a:off x="621792" y="2237680"/>
            <a:ext cx="3566160" cy="1670302"/>
          </a:xfrm>
          <a:prstGeom prst="rect">
            <a:avLst/>
          </a:prstGeom>
          <a:noFill/>
          <a:ln/>
        </p:spPr>
        <p:txBody>
          <a:bodyPr wrap="square" lIns="0" tIns="0" rIns="0" bIns="0" rtlCol="0" anchor="t"/>
          <a:lstStyle/>
          <a:p>
            <a:pPr marL="228600" indent="-228600">
              <a:spcAft>
                <a:spcPts val="700"/>
              </a:spcAft>
              <a:buFont typeface="Arial" panose="020B0604020202020204" pitchFamily="34" charset="0"/>
              <a:buChar char="•"/>
            </a:pPr>
            <a:r>
              <a:rPr lang="en-US" sz="1000" b="1" noProof="0" dirty="0">
                <a:solidFill>
                  <a:srgbClr val="FFFFFF"/>
                </a:solidFill>
                <a:latin typeface="Cambria" panose="02040503050406030204" pitchFamily="18" charset="0"/>
                <a:ea typeface="Cambria" panose="02040503050406030204" pitchFamily="18" charset="0"/>
                <a:cs typeface="Calibri" pitchFamily="34" charset="-120"/>
              </a:rPr>
              <a:t>Target variable </a:t>
            </a:r>
            <a:r>
              <a:rPr lang="en-US" sz="1000" noProof="0" dirty="0">
                <a:solidFill>
                  <a:srgbClr val="FFFFFF"/>
                </a:solidFill>
                <a:latin typeface="Cambria" panose="02040503050406030204" pitchFamily="18" charset="0"/>
                <a:ea typeface="Cambria" panose="02040503050406030204" pitchFamily="18" charset="0"/>
                <a:cs typeface="Calibri" pitchFamily="34" charset="-120"/>
              </a:rPr>
              <a:t>selection: NET_REVENUE</a:t>
            </a:r>
          </a:p>
          <a:p>
            <a:pPr marL="228600" indent="-228600">
              <a:spcAft>
                <a:spcPts val="700"/>
              </a:spcAft>
              <a:buFont typeface="Arial" panose="020B0604020202020204" pitchFamily="34" charset="0"/>
              <a:buChar char="•"/>
            </a:pPr>
            <a:r>
              <a:rPr lang="en-US" sz="1000" b="1" noProof="0" dirty="0">
                <a:solidFill>
                  <a:srgbClr val="FFFFFF"/>
                </a:solidFill>
                <a:latin typeface="Cambria" panose="02040503050406030204" pitchFamily="18" charset="0"/>
                <a:ea typeface="Cambria" panose="02040503050406030204" pitchFamily="18" charset="0"/>
                <a:cs typeface="Calibri" pitchFamily="34" charset="-120"/>
              </a:rPr>
              <a:t>Carryover:  </a:t>
            </a:r>
            <a:r>
              <a:rPr lang="en-US" sz="1000" noProof="0" dirty="0" err="1">
                <a:solidFill>
                  <a:srgbClr val="CADCE0"/>
                </a:solidFill>
                <a:latin typeface="Cambria" panose="02040503050406030204" pitchFamily="18" charset="0"/>
                <a:ea typeface="Cambria" panose="02040503050406030204" pitchFamily="18" charset="0"/>
                <a:cs typeface="Calibri" pitchFamily="34" charset="-120"/>
              </a:rPr>
              <a:t>max_lag</a:t>
            </a:r>
            <a:r>
              <a:rPr lang="en-US" sz="1000" noProof="0" dirty="0">
                <a:solidFill>
                  <a:srgbClr val="CADCE0"/>
                </a:solidFill>
                <a:latin typeface="Cambria" panose="02040503050406030204" pitchFamily="18" charset="0"/>
                <a:ea typeface="Cambria" panose="02040503050406030204" pitchFamily="18" charset="0"/>
                <a:cs typeface="Calibri" pitchFamily="34" charset="-120"/>
              </a:rPr>
              <a:t> = 8 (</a:t>
            </a:r>
            <a:r>
              <a:rPr lang="en-US" sz="1000" noProof="0" dirty="0" err="1">
                <a:solidFill>
                  <a:srgbClr val="CADCE0"/>
                </a:solidFill>
                <a:latin typeface="Cambria" panose="02040503050406030204" pitchFamily="18" charset="0"/>
                <a:ea typeface="Cambria" panose="02040503050406030204" pitchFamily="18" charset="0"/>
                <a:cs typeface="Calibri" pitchFamily="34" charset="-120"/>
              </a:rPr>
              <a:t>adstock</a:t>
            </a:r>
            <a:r>
              <a:rPr lang="en-US" sz="1000" noProof="0" dirty="0">
                <a:solidFill>
                  <a:srgbClr val="CADCE0"/>
                </a:solidFill>
                <a:latin typeface="Cambria" panose="02040503050406030204" pitchFamily="18" charset="0"/>
                <a:ea typeface="Cambria" panose="02040503050406030204" pitchFamily="18" charset="0"/>
                <a:cs typeface="Calibri" pitchFamily="34" charset="-120"/>
              </a:rPr>
              <a:t> captures delayed media effects)</a:t>
            </a:r>
            <a:endParaRPr lang="en-US" sz="1000" noProof="0" dirty="0">
              <a:latin typeface="Cambria" panose="02040503050406030204" pitchFamily="18" charset="0"/>
              <a:ea typeface="Cambria" panose="02040503050406030204" pitchFamily="18" charset="0"/>
            </a:endParaRPr>
          </a:p>
          <a:p>
            <a:pPr marL="228600" indent="-228600">
              <a:spcAft>
                <a:spcPts val="700"/>
              </a:spcAft>
              <a:buFont typeface="Arial" panose="020B0604020202020204" pitchFamily="34" charset="0"/>
              <a:buChar char="•"/>
            </a:pPr>
            <a:r>
              <a:rPr lang="en-US" sz="1000" b="1" noProof="0" dirty="0">
                <a:solidFill>
                  <a:srgbClr val="FFFFFF"/>
                </a:solidFill>
                <a:latin typeface="Cambria" panose="02040503050406030204" pitchFamily="18" charset="0"/>
                <a:ea typeface="Cambria" panose="02040503050406030204" pitchFamily="18" charset="0"/>
                <a:cs typeface="Calibri" pitchFamily="34" charset="-120"/>
              </a:rPr>
              <a:t>Saturation:  </a:t>
            </a:r>
            <a:r>
              <a:rPr lang="en-US" sz="1000" noProof="0" dirty="0">
                <a:solidFill>
                  <a:srgbClr val="CADCE0"/>
                </a:solidFill>
                <a:latin typeface="Cambria" panose="02040503050406030204" pitchFamily="18" charset="0"/>
                <a:ea typeface="Cambria" panose="02040503050406030204" pitchFamily="18" charset="0"/>
                <a:cs typeface="Calibri" pitchFamily="34" charset="-120"/>
              </a:rPr>
              <a:t>Hill-type curves model diminishing returns per channel</a:t>
            </a:r>
            <a:endParaRPr lang="en-US" sz="1000" noProof="0" dirty="0">
              <a:latin typeface="Cambria" panose="02040503050406030204" pitchFamily="18" charset="0"/>
              <a:ea typeface="Cambria" panose="02040503050406030204" pitchFamily="18" charset="0"/>
            </a:endParaRPr>
          </a:p>
          <a:p>
            <a:pPr marL="228600" indent="-228600">
              <a:spcAft>
                <a:spcPts val="700"/>
              </a:spcAft>
              <a:buFont typeface="Arial" panose="020B0604020202020204" pitchFamily="34" charset="0"/>
              <a:buChar char="•"/>
            </a:pPr>
            <a:r>
              <a:rPr lang="en-US" sz="1000" b="1" noProof="0" dirty="0">
                <a:solidFill>
                  <a:srgbClr val="FFFFFF"/>
                </a:solidFill>
                <a:latin typeface="Cambria" panose="02040503050406030204" pitchFamily="18" charset="0"/>
                <a:ea typeface="Cambria" panose="02040503050406030204" pitchFamily="18" charset="0"/>
                <a:cs typeface="Calibri" pitchFamily="34" charset="-120"/>
              </a:rPr>
              <a:t>Time flexibility:  </a:t>
            </a:r>
            <a:r>
              <a:rPr lang="en-US" sz="1000" noProof="0" dirty="0">
                <a:solidFill>
                  <a:srgbClr val="CADCE0"/>
                </a:solidFill>
                <a:latin typeface="Cambria" panose="02040503050406030204" pitchFamily="18" charset="0"/>
                <a:ea typeface="Cambria" panose="02040503050406030204" pitchFamily="18" charset="0"/>
                <a:cs typeface="Calibri" pitchFamily="34" charset="-120"/>
              </a:rPr>
              <a:t>knots = 50 spline knots for long-run trend</a:t>
            </a:r>
            <a:endParaRPr lang="en-US" sz="1000" noProof="0" dirty="0">
              <a:latin typeface="Cambria" panose="02040503050406030204" pitchFamily="18" charset="0"/>
              <a:ea typeface="Cambria" panose="02040503050406030204" pitchFamily="18" charset="0"/>
            </a:endParaRPr>
          </a:p>
          <a:p>
            <a:pPr marL="228600" indent="-228600">
              <a:spcAft>
                <a:spcPts val="700"/>
              </a:spcAft>
              <a:buFont typeface="Arial" panose="020B0604020202020204" pitchFamily="34" charset="0"/>
              <a:buChar char="•"/>
            </a:pPr>
            <a:r>
              <a:rPr lang="en-US" sz="1000" b="1" noProof="0" dirty="0">
                <a:solidFill>
                  <a:srgbClr val="FFFFFF"/>
                </a:solidFill>
                <a:latin typeface="Cambria" panose="02040503050406030204" pitchFamily="18" charset="0"/>
                <a:ea typeface="Cambria" panose="02040503050406030204" pitchFamily="18" charset="0"/>
                <a:cs typeface="Calibri" pitchFamily="34" charset="-120"/>
              </a:rPr>
              <a:t>ROI prior:  </a:t>
            </a:r>
            <a:r>
              <a:rPr lang="en-US" sz="1000" noProof="0" dirty="0">
                <a:solidFill>
                  <a:srgbClr val="CADCE0"/>
                </a:solidFill>
                <a:latin typeface="Cambria" panose="02040503050406030204" pitchFamily="18" charset="0"/>
                <a:ea typeface="Cambria" panose="02040503050406030204" pitchFamily="18" charset="0"/>
                <a:cs typeface="Calibri" pitchFamily="34" charset="-120"/>
              </a:rPr>
              <a:t>positive </a:t>
            </a:r>
            <a:r>
              <a:rPr lang="en-US" sz="1000" noProof="0" dirty="0" err="1">
                <a:solidFill>
                  <a:srgbClr val="CADCE0"/>
                </a:solidFill>
                <a:latin typeface="Cambria" panose="02040503050406030204" pitchFamily="18" charset="0"/>
                <a:ea typeface="Cambria" panose="02040503050406030204" pitchFamily="18" charset="0"/>
                <a:cs typeface="Calibri" pitchFamily="34" charset="-120"/>
              </a:rPr>
              <a:t>LogNormal</a:t>
            </a:r>
            <a:r>
              <a:rPr lang="en-US" sz="1000" noProof="0" dirty="0">
                <a:solidFill>
                  <a:srgbClr val="CADCE0"/>
                </a:solidFill>
                <a:latin typeface="Cambria" panose="02040503050406030204" pitchFamily="18" charset="0"/>
                <a:ea typeface="Cambria" panose="02040503050406030204" pitchFamily="18" charset="0"/>
                <a:cs typeface="Calibri" pitchFamily="34" charset="-120"/>
              </a:rPr>
              <a:t>, anchored to empirical training-period ROI</a:t>
            </a:r>
            <a:endParaRPr lang="en-US" sz="1000" noProof="0" dirty="0">
              <a:latin typeface="Cambria" panose="02040503050406030204" pitchFamily="18" charset="0"/>
              <a:ea typeface="Cambria" panose="02040503050406030204" pitchFamily="18" charset="0"/>
            </a:endParaRPr>
          </a:p>
        </p:txBody>
      </p:sp>
      <p:sp>
        <p:nvSpPr>
          <p:cNvPr id="327" name="Shape 28">
            <a:extLst>
              <a:ext uri="{FF2B5EF4-FFF2-40B4-BE49-F238E27FC236}">
                <a16:creationId xmlns:a16="http://schemas.microsoft.com/office/drawing/2014/main" id="{D8EA459D-7448-49EE-6759-E08153DDFD3C}"/>
              </a:ext>
            </a:extLst>
          </p:cNvPr>
          <p:cNvSpPr/>
          <p:nvPr/>
        </p:nvSpPr>
        <p:spPr>
          <a:xfrm>
            <a:off x="4709160" y="1938976"/>
            <a:ext cx="3977640" cy="1967252"/>
          </a:xfrm>
          <a:prstGeom prst="roundRect">
            <a:avLst>
              <a:gd name="adj" fmla="val 3644"/>
            </a:avLst>
          </a:prstGeom>
          <a:solidFill>
            <a:srgbClr val="CADCFC"/>
          </a:solidFill>
          <a:ln w="12700">
            <a:solidFill>
              <a:srgbClr val="1E2761"/>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329" name="Text 29">
            <a:extLst>
              <a:ext uri="{FF2B5EF4-FFF2-40B4-BE49-F238E27FC236}">
                <a16:creationId xmlns:a16="http://schemas.microsoft.com/office/drawing/2014/main" id="{A73C8A61-366E-5A76-939D-1D23E333EE0A}"/>
              </a:ext>
            </a:extLst>
          </p:cNvPr>
          <p:cNvSpPr/>
          <p:nvPr/>
        </p:nvSpPr>
        <p:spPr>
          <a:xfrm>
            <a:off x="4910328" y="2006032"/>
            <a:ext cx="3566160" cy="237744"/>
          </a:xfrm>
          <a:prstGeom prst="rect">
            <a:avLst/>
          </a:prstGeom>
          <a:noFill/>
          <a:ln/>
        </p:spPr>
        <p:txBody>
          <a:bodyPr wrap="square" lIns="0" tIns="0" rIns="0" bIns="0" rtlCol="0" anchor="ctr"/>
          <a:lstStyle/>
          <a:p>
            <a:pPr marL="0" indent="0">
              <a:buNone/>
            </a:pPr>
            <a:r>
              <a:rPr lang="en-US" sz="1000" b="1" kern="0" spc="100" noProof="0" dirty="0">
                <a:solidFill>
                  <a:srgbClr val="1E2761"/>
                </a:solidFill>
                <a:latin typeface="Cambria" panose="02040503050406030204" pitchFamily="18" charset="0"/>
                <a:ea typeface="Cambria" panose="02040503050406030204" pitchFamily="18" charset="0"/>
                <a:cs typeface="Calibri" pitchFamily="34" charset="-120"/>
              </a:rPr>
              <a:t>REPRODUCIBILITY &amp; VALIDATION</a:t>
            </a:r>
            <a:endParaRPr lang="en-US" sz="1000" noProof="0" dirty="0">
              <a:solidFill>
                <a:srgbClr val="1E2761"/>
              </a:solidFill>
              <a:latin typeface="Cambria" panose="02040503050406030204" pitchFamily="18" charset="0"/>
              <a:ea typeface="Cambria" panose="02040503050406030204" pitchFamily="18" charset="0"/>
            </a:endParaRPr>
          </a:p>
        </p:txBody>
      </p:sp>
      <p:sp>
        <p:nvSpPr>
          <p:cNvPr id="331" name="Text 30">
            <a:extLst>
              <a:ext uri="{FF2B5EF4-FFF2-40B4-BE49-F238E27FC236}">
                <a16:creationId xmlns:a16="http://schemas.microsoft.com/office/drawing/2014/main" id="{B428B95D-65C9-7E47-CF82-3C7A3F493555}"/>
              </a:ext>
            </a:extLst>
          </p:cNvPr>
          <p:cNvSpPr/>
          <p:nvPr/>
        </p:nvSpPr>
        <p:spPr>
          <a:xfrm>
            <a:off x="4910328" y="2237680"/>
            <a:ext cx="3566160" cy="1670302"/>
          </a:xfrm>
          <a:prstGeom prst="rect">
            <a:avLst/>
          </a:prstGeom>
          <a:noFill/>
          <a:ln/>
        </p:spPr>
        <p:txBody>
          <a:bodyPr wrap="square" lIns="0" tIns="0" rIns="0" bIns="0" rtlCol="0" anchor="t"/>
          <a:lstStyle/>
          <a:p>
            <a:pPr marL="171450" indent="-171450">
              <a:spcAft>
                <a:spcPts val="700"/>
              </a:spcAft>
              <a:buFont typeface="Arial" panose="020B0604020202020204" pitchFamily="34" charset="0"/>
              <a:buChar char="•"/>
            </a:pPr>
            <a:r>
              <a:rPr lang="en-US" sz="1050" b="1" noProof="0" dirty="0">
                <a:solidFill>
                  <a:srgbClr val="1E293B"/>
                </a:solidFill>
                <a:latin typeface="Cambria" panose="02040503050406030204" pitchFamily="18" charset="0"/>
                <a:ea typeface="Cambria" panose="02040503050406030204" pitchFamily="18" charset="0"/>
                <a:cs typeface="Calibri" pitchFamily="34" charset="-120"/>
              </a:rPr>
              <a:t>Holdout mask: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final periods per geo are marked, not split, the full-time panel stays intact</a:t>
            </a:r>
            <a:endParaRPr lang="en-US" sz="1050" noProof="0" dirty="0">
              <a:latin typeface="Cambria" panose="02040503050406030204" pitchFamily="18" charset="0"/>
              <a:ea typeface="Cambria" panose="02040503050406030204" pitchFamily="18" charset="0"/>
            </a:endParaRPr>
          </a:p>
          <a:p>
            <a:pPr marL="171450" indent="-171450">
              <a:spcAft>
                <a:spcPts val="700"/>
              </a:spcAft>
              <a:buFont typeface="Arial" panose="020B0604020202020204" pitchFamily="34" charset="0"/>
              <a:buChar char="•"/>
            </a:pPr>
            <a:r>
              <a:rPr lang="en-US" sz="1050" b="1" noProof="0" dirty="0">
                <a:solidFill>
                  <a:srgbClr val="1E293B"/>
                </a:solidFill>
                <a:latin typeface="Cambria" panose="02040503050406030204" pitchFamily="18" charset="0"/>
                <a:ea typeface="Cambria" panose="02040503050406030204" pitchFamily="18" charset="0"/>
                <a:cs typeface="Calibri" pitchFamily="34" charset="-120"/>
              </a:rPr>
              <a:t>Fit evaluation: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R², MAPE, and </a:t>
            </a:r>
            <a:r>
              <a:rPr lang="en-US" sz="1050" noProof="0" dirty="0" err="1">
                <a:solidFill>
                  <a:srgbClr val="1E293B"/>
                </a:solidFill>
                <a:latin typeface="Cambria" panose="02040503050406030204" pitchFamily="18" charset="0"/>
                <a:ea typeface="Cambria" panose="02040503050406030204" pitchFamily="18" charset="0"/>
                <a:cs typeface="Calibri" pitchFamily="34" charset="-120"/>
              </a:rPr>
              <a:t>wMAPE</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 vs. observed revenue</a:t>
            </a:r>
          </a:p>
          <a:p>
            <a:pPr marL="171450" indent="-171450">
              <a:spcAft>
                <a:spcPts val="700"/>
              </a:spcAft>
              <a:buFont typeface="Arial" panose="020B0604020202020204" pitchFamily="34" charset="0"/>
              <a:buChar char="•"/>
            </a:pPr>
            <a:r>
              <a:rPr lang="en-US" sz="1050" b="1" noProof="0" dirty="0">
                <a:solidFill>
                  <a:srgbClr val="1E293B"/>
                </a:solidFill>
                <a:latin typeface="Cambria" panose="02040503050406030204" pitchFamily="18" charset="0"/>
                <a:ea typeface="Cambria" panose="02040503050406030204" pitchFamily="18" charset="0"/>
                <a:cs typeface="Calibri" pitchFamily="34" charset="-120"/>
              </a:rPr>
              <a:t>Reproducibility: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model saved and reloaded, no retraining on every run</a:t>
            </a:r>
            <a:endParaRPr lang="en-US" sz="1050" noProof="0" dirty="0">
              <a:latin typeface="Cambria" panose="02040503050406030204" pitchFamily="18" charset="0"/>
              <a:ea typeface="Cambria" panose="02040503050406030204" pitchFamily="18" charset="0"/>
            </a:endParaRPr>
          </a:p>
          <a:p>
            <a:pPr marL="171450" indent="-171450">
              <a:spcAft>
                <a:spcPts val="700"/>
              </a:spcAft>
              <a:buFont typeface="Arial" panose="020B0604020202020204" pitchFamily="34" charset="0"/>
              <a:buChar char="•"/>
            </a:pPr>
            <a:r>
              <a:rPr lang="en-US" sz="1050" b="1" noProof="0" dirty="0">
                <a:solidFill>
                  <a:srgbClr val="1E293B"/>
                </a:solidFill>
                <a:latin typeface="Cambria" panose="02040503050406030204" pitchFamily="18" charset="0"/>
                <a:ea typeface="Cambria" panose="02040503050406030204" pitchFamily="18" charset="0"/>
                <a:cs typeface="Calibri" pitchFamily="34" charset="-120"/>
              </a:rPr>
              <a:t>Interpretation: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fit plot (expected vs. actual) and per-channel response curves</a:t>
            </a:r>
            <a:endParaRPr lang="en-US" sz="1050" noProof="0" dirty="0">
              <a:latin typeface="Cambria" panose="02040503050406030204" pitchFamily="18" charset="0"/>
              <a:ea typeface="Cambria" panose="02040503050406030204" pitchFamily="18" charset="0"/>
            </a:endParaRPr>
          </a:p>
        </p:txBody>
      </p:sp>
      <p:sp>
        <p:nvSpPr>
          <p:cNvPr id="339" name="Text 6">
            <a:extLst>
              <a:ext uri="{FF2B5EF4-FFF2-40B4-BE49-F238E27FC236}">
                <a16:creationId xmlns:a16="http://schemas.microsoft.com/office/drawing/2014/main" id="{CDDD313A-C9BE-4847-56CD-C85438F78283}"/>
              </a:ext>
            </a:extLst>
          </p:cNvPr>
          <p:cNvSpPr/>
          <p:nvPr/>
        </p:nvSpPr>
        <p:spPr>
          <a:xfrm>
            <a:off x="228600" y="1564518"/>
            <a:ext cx="786384" cy="228600"/>
          </a:xfrm>
          <a:prstGeom prst="rect">
            <a:avLst/>
          </a:prstGeom>
          <a:noFill/>
          <a:ln/>
        </p:spPr>
        <p:txBody>
          <a:bodyPr wrap="square" lIns="0" tIns="0" rIns="0" bIns="0" rtlCol="0" anchor="ctr"/>
          <a:lstStyle/>
          <a:p>
            <a:pPr marL="0" indent="0" algn="ctr">
              <a:lnSpc>
                <a:spcPct val="100000"/>
              </a:lnSpc>
              <a:buNone/>
            </a:pPr>
            <a:r>
              <a:rPr lang="en-US" sz="900" noProof="0" dirty="0">
                <a:solidFill>
                  <a:srgbClr val="1E293B"/>
                </a:solidFill>
                <a:latin typeface="Cambria" panose="02040503050406030204" pitchFamily="18" charset="0"/>
                <a:ea typeface="Cambria" panose="02040503050406030204" pitchFamily="18" charset="0"/>
                <a:cs typeface="Calibri" pitchFamily="34" charset="-120"/>
              </a:rPr>
              <a:t>Map Inputs</a:t>
            </a:r>
            <a:endParaRPr lang="en-US" sz="900" noProof="0" dirty="0">
              <a:latin typeface="Cambria" panose="02040503050406030204" pitchFamily="18" charset="0"/>
              <a:ea typeface="Cambria" panose="02040503050406030204" pitchFamily="18" charset="0"/>
            </a:endParaRPr>
          </a:p>
        </p:txBody>
      </p:sp>
      <p:sp>
        <p:nvSpPr>
          <p:cNvPr id="5" name="Shape 7">
            <a:extLst>
              <a:ext uri="{FF2B5EF4-FFF2-40B4-BE49-F238E27FC236}">
                <a16:creationId xmlns:a16="http://schemas.microsoft.com/office/drawing/2014/main" id="{84BED140-A85E-569E-F869-FF2029C7E9C3}"/>
              </a:ext>
            </a:extLst>
          </p:cNvPr>
          <p:cNvSpPr/>
          <p:nvPr/>
        </p:nvSpPr>
        <p:spPr>
          <a:xfrm>
            <a:off x="457200" y="4294143"/>
            <a:ext cx="2359152" cy="622174"/>
          </a:xfrm>
          <a:prstGeom prst="roundRect">
            <a:avLst>
              <a:gd name="adj" fmla="val 10204"/>
            </a:avLst>
          </a:prstGeom>
          <a:solidFill>
            <a:srgbClr val="AED8E6"/>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US" noProof="0" dirty="0">
              <a:latin typeface="Cambria" panose="02040503050406030204" pitchFamily="18" charset="0"/>
              <a:ea typeface="Cambria" panose="02040503050406030204" pitchFamily="18" charset="0"/>
            </a:endParaRPr>
          </a:p>
        </p:txBody>
      </p:sp>
      <p:sp>
        <p:nvSpPr>
          <p:cNvPr id="7" name="Text 8">
            <a:extLst>
              <a:ext uri="{FF2B5EF4-FFF2-40B4-BE49-F238E27FC236}">
                <a16:creationId xmlns:a16="http://schemas.microsoft.com/office/drawing/2014/main" id="{7FF241ED-CF6F-090A-FE09-EE5B8884A312}"/>
              </a:ext>
            </a:extLst>
          </p:cNvPr>
          <p:cNvSpPr/>
          <p:nvPr/>
        </p:nvSpPr>
        <p:spPr>
          <a:xfrm>
            <a:off x="457200" y="4356332"/>
            <a:ext cx="2359152" cy="169025"/>
          </a:xfrm>
          <a:prstGeom prst="rect">
            <a:avLst/>
          </a:prstGeom>
          <a:noFill/>
          <a:ln/>
        </p:spPr>
        <p:txBody>
          <a:bodyPr wrap="square" lIns="0" tIns="0" rIns="0" bIns="0" rtlCol="0" anchor="ctr"/>
          <a:lstStyle/>
          <a:p>
            <a:pPr marL="0" indent="0" algn="ctr">
              <a:buNone/>
            </a:pPr>
            <a:r>
              <a:rPr lang="en-US" sz="1000" b="1" kern="0" spc="150" noProof="0" dirty="0">
                <a:latin typeface="Cambria" panose="02040503050406030204" pitchFamily="18" charset="0"/>
                <a:ea typeface="Cambria" panose="02040503050406030204" pitchFamily="18" charset="0"/>
                <a:cs typeface="Calibri" pitchFamily="34" charset="-120"/>
              </a:rPr>
              <a:t>MEDIA VARIABLES</a:t>
            </a:r>
            <a:endParaRPr lang="en-US" sz="1000" noProof="0" dirty="0">
              <a:latin typeface="Cambria" panose="02040503050406030204" pitchFamily="18" charset="0"/>
              <a:ea typeface="Cambria" panose="02040503050406030204" pitchFamily="18" charset="0"/>
            </a:endParaRPr>
          </a:p>
        </p:txBody>
      </p:sp>
      <p:sp>
        <p:nvSpPr>
          <p:cNvPr id="11" name="Text 10">
            <a:extLst>
              <a:ext uri="{FF2B5EF4-FFF2-40B4-BE49-F238E27FC236}">
                <a16:creationId xmlns:a16="http://schemas.microsoft.com/office/drawing/2014/main" id="{3B28DB86-D7A7-248B-3E20-500FD4B89208}"/>
              </a:ext>
            </a:extLst>
          </p:cNvPr>
          <p:cNvSpPr/>
          <p:nvPr/>
        </p:nvSpPr>
        <p:spPr>
          <a:xfrm>
            <a:off x="457200" y="4525574"/>
            <a:ext cx="2359152" cy="345811"/>
          </a:xfrm>
          <a:prstGeom prst="rect">
            <a:avLst/>
          </a:prstGeom>
          <a:noFill/>
          <a:ln/>
        </p:spPr>
        <p:txBody>
          <a:bodyPr wrap="square" lIns="0" tIns="0" rIns="0" bIns="0" rtlCol="0" anchor="ctr"/>
          <a:lstStyle/>
          <a:p>
            <a:pPr marL="0" indent="0" algn="ctr">
              <a:buNone/>
            </a:pPr>
            <a:r>
              <a:rPr lang="en-US" sz="900" noProof="0" dirty="0">
                <a:solidFill>
                  <a:srgbClr val="1E2761"/>
                </a:solidFill>
                <a:latin typeface="Cambria" panose="02040503050406030204" pitchFamily="18" charset="0"/>
                <a:ea typeface="Cambria" panose="02040503050406030204" pitchFamily="18" charset="0"/>
                <a:cs typeface="Calibri" pitchFamily="34" charset="-120"/>
              </a:rPr>
              <a:t>META_FACEBOOK, META_INSTAGRAM</a:t>
            </a:r>
            <a:br>
              <a:rPr lang="en-US" sz="900" noProof="0" dirty="0">
                <a:solidFill>
                  <a:srgbClr val="1E2761"/>
                </a:solidFill>
                <a:latin typeface="Cambria" panose="02040503050406030204" pitchFamily="18" charset="0"/>
                <a:ea typeface="Cambria" panose="02040503050406030204" pitchFamily="18" charset="0"/>
                <a:cs typeface="Calibri" pitchFamily="34" charset="-120"/>
              </a:rPr>
            </a:br>
            <a:r>
              <a:rPr lang="en-US" sz="900" noProof="0" dirty="0">
                <a:solidFill>
                  <a:srgbClr val="1E2761"/>
                </a:solidFill>
                <a:latin typeface="Cambria" panose="02040503050406030204" pitchFamily="18" charset="0"/>
                <a:ea typeface="Cambria" panose="02040503050406030204" pitchFamily="18" charset="0"/>
                <a:cs typeface="Calibri" pitchFamily="34" charset="-120"/>
              </a:rPr>
              <a:t>META_OTHER, GOOGLE DISPLAY</a:t>
            </a:r>
            <a:endParaRPr lang="en-US" sz="900" noProof="0" dirty="0">
              <a:solidFill>
                <a:srgbClr val="1E2761"/>
              </a:solidFill>
              <a:latin typeface="Cambria" panose="02040503050406030204" pitchFamily="18" charset="0"/>
              <a:ea typeface="Cambria" panose="02040503050406030204" pitchFamily="18" charset="0"/>
            </a:endParaRPr>
          </a:p>
        </p:txBody>
      </p:sp>
      <p:sp>
        <p:nvSpPr>
          <p:cNvPr id="13" name="Shape 11">
            <a:extLst>
              <a:ext uri="{FF2B5EF4-FFF2-40B4-BE49-F238E27FC236}">
                <a16:creationId xmlns:a16="http://schemas.microsoft.com/office/drawing/2014/main" id="{8BDC182C-C2B7-B103-6108-B6BCA5738813}"/>
              </a:ext>
            </a:extLst>
          </p:cNvPr>
          <p:cNvSpPr/>
          <p:nvPr/>
        </p:nvSpPr>
        <p:spPr>
          <a:xfrm>
            <a:off x="3419856" y="4294141"/>
            <a:ext cx="2359152" cy="628462"/>
          </a:xfrm>
          <a:prstGeom prst="roundRect">
            <a:avLst>
              <a:gd name="adj" fmla="val 10204"/>
            </a:avLst>
          </a:prstGeom>
          <a:solidFill>
            <a:srgbClr val="AED8E6"/>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US" noProof="0" dirty="0">
              <a:latin typeface="Cambria" panose="02040503050406030204" pitchFamily="18" charset="0"/>
              <a:ea typeface="Cambria" panose="02040503050406030204" pitchFamily="18" charset="0"/>
            </a:endParaRPr>
          </a:p>
        </p:txBody>
      </p:sp>
      <p:sp>
        <p:nvSpPr>
          <p:cNvPr id="15" name="Text 12">
            <a:extLst>
              <a:ext uri="{FF2B5EF4-FFF2-40B4-BE49-F238E27FC236}">
                <a16:creationId xmlns:a16="http://schemas.microsoft.com/office/drawing/2014/main" id="{1E05D6A4-48F4-7643-5B54-11DF7DD50F29}"/>
              </a:ext>
            </a:extLst>
          </p:cNvPr>
          <p:cNvSpPr/>
          <p:nvPr/>
        </p:nvSpPr>
        <p:spPr>
          <a:xfrm>
            <a:off x="3419856" y="4357992"/>
            <a:ext cx="2359152" cy="169025"/>
          </a:xfrm>
          <a:prstGeom prst="rect">
            <a:avLst/>
          </a:prstGeom>
          <a:noFill/>
          <a:ln/>
        </p:spPr>
        <p:txBody>
          <a:bodyPr wrap="square" lIns="0" tIns="0" rIns="0" bIns="0" rtlCol="0" anchor="ctr"/>
          <a:lstStyle/>
          <a:p>
            <a:pPr marL="0" indent="0" algn="ctr">
              <a:buNone/>
            </a:pPr>
            <a:r>
              <a:rPr lang="en-US" sz="1000" b="1" kern="0" spc="150" noProof="0" dirty="0">
                <a:latin typeface="Cambria" panose="02040503050406030204" pitchFamily="18" charset="0"/>
                <a:ea typeface="Cambria" panose="02040503050406030204" pitchFamily="18" charset="0"/>
                <a:cs typeface="Calibri" pitchFamily="34" charset="-120"/>
              </a:rPr>
              <a:t>CONTROL VARIABLES</a:t>
            </a:r>
            <a:endParaRPr lang="en-US" sz="1000" noProof="0" dirty="0">
              <a:latin typeface="Cambria" panose="02040503050406030204" pitchFamily="18" charset="0"/>
              <a:ea typeface="Cambria" panose="02040503050406030204" pitchFamily="18" charset="0"/>
            </a:endParaRPr>
          </a:p>
        </p:txBody>
      </p:sp>
      <p:sp>
        <p:nvSpPr>
          <p:cNvPr id="17" name="Text 13">
            <a:extLst>
              <a:ext uri="{FF2B5EF4-FFF2-40B4-BE49-F238E27FC236}">
                <a16:creationId xmlns:a16="http://schemas.microsoft.com/office/drawing/2014/main" id="{BF05F66A-8A24-62D5-F9B6-5A98D04E40F8}"/>
              </a:ext>
            </a:extLst>
          </p:cNvPr>
          <p:cNvSpPr/>
          <p:nvPr/>
        </p:nvSpPr>
        <p:spPr>
          <a:xfrm>
            <a:off x="3419856" y="4486807"/>
            <a:ext cx="2359152" cy="245855"/>
          </a:xfrm>
          <a:prstGeom prst="rect">
            <a:avLst/>
          </a:prstGeom>
          <a:noFill/>
          <a:ln/>
        </p:spPr>
        <p:txBody>
          <a:bodyPr wrap="square" lIns="0" tIns="0" rIns="0" bIns="0" rtlCol="0" anchor="ctr"/>
          <a:lstStyle/>
          <a:p>
            <a:pPr algn="ctr"/>
            <a:r>
              <a:rPr lang="en-US" sz="900" noProof="0" dirty="0">
                <a:solidFill>
                  <a:srgbClr val="1E2761"/>
                </a:solidFill>
                <a:latin typeface="Cambria" panose="02040503050406030204" pitchFamily="18" charset="0"/>
                <a:ea typeface="Cambria" panose="02040503050406030204" pitchFamily="18" charset="0"/>
                <a:cs typeface="Calibri" pitchFamily="34" charset="-120"/>
              </a:rPr>
              <a:t>DISCOUNT_RATE (for seasonality)</a:t>
            </a:r>
          </a:p>
        </p:txBody>
      </p:sp>
      <p:sp>
        <p:nvSpPr>
          <p:cNvPr id="21" name="Shape 15">
            <a:extLst>
              <a:ext uri="{FF2B5EF4-FFF2-40B4-BE49-F238E27FC236}">
                <a16:creationId xmlns:a16="http://schemas.microsoft.com/office/drawing/2014/main" id="{226ADCCE-0A86-C85E-FFB0-E5BBC8714CC5}"/>
              </a:ext>
            </a:extLst>
          </p:cNvPr>
          <p:cNvSpPr/>
          <p:nvPr/>
        </p:nvSpPr>
        <p:spPr>
          <a:xfrm>
            <a:off x="6327648" y="4294142"/>
            <a:ext cx="2359152" cy="615887"/>
          </a:xfrm>
          <a:prstGeom prst="roundRect">
            <a:avLst>
              <a:gd name="adj" fmla="val 10204"/>
            </a:avLst>
          </a:prstGeom>
          <a:solidFill>
            <a:srgbClr val="AED8E6"/>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US" noProof="0" dirty="0">
              <a:latin typeface="Cambria" panose="02040503050406030204" pitchFamily="18" charset="0"/>
              <a:ea typeface="Cambria" panose="02040503050406030204" pitchFamily="18" charset="0"/>
            </a:endParaRPr>
          </a:p>
        </p:txBody>
      </p:sp>
      <p:sp>
        <p:nvSpPr>
          <p:cNvPr id="24" name="Text 16">
            <a:extLst>
              <a:ext uri="{FF2B5EF4-FFF2-40B4-BE49-F238E27FC236}">
                <a16:creationId xmlns:a16="http://schemas.microsoft.com/office/drawing/2014/main" id="{B40ED16F-2F62-44EC-908B-1B2466723173}"/>
              </a:ext>
            </a:extLst>
          </p:cNvPr>
          <p:cNvSpPr/>
          <p:nvPr/>
        </p:nvSpPr>
        <p:spPr>
          <a:xfrm>
            <a:off x="6327648" y="4353272"/>
            <a:ext cx="2359152" cy="169025"/>
          </a:xfrm>
          <a:prstGeom prst="rect">
            <a:avLst/>
          </a:prstGeom>
          <a:noFill/>
          <a:ln/>
        </p:spPr>
        <p:txBody>
          <a:bodyPr wrap="square" lIns="0" tIns="0" rIns="0" bIns="0" rtlCol="0" anchor="ctr"/>
          <a:lstStyle/>
          <a:p>
            <a:pPr marL="0" indent="0" algn="ctr">
              <a:buNone/>
            </a:pPr>
            <a:r>
              <a:rPr lang="en-US" sz="1000" b="1" kern="0" spc="150" noProof="0" dirty="0">
                <a:latin typeface="Cambria" panose="02040503050406030204" pitchFamily="18" charset="0"/>
                <a:ea typeface="Cambria" panose="02040503050406030204" pitchFamily="18" charset="0"/>
                <a:cs typeface="Calibri" pitchFamily="34" charset="-120"/>
              </a:rPr>
              <a:t>TIME VARIABLES</a:t>
            </a:r>
            <a:endParaRPr lang="en-US" sz="1000" noProof="0" dirty="0">
              <a:latin typeface="Cambria" panose="02040503050406030204" pitchFamily="18" charset="0"/>
              <a:ea typeface="Cambria" panose="02040503050406030204" pitchFamily="18" charset="0"/>
            </a:endParaRPr>
          </a:p>
        </p:txBody>
      </p:sp>
      <p:sp>
        <p:nvSpPr>
          <p:cNvPr id="26" name="Text 17">
            <a:extLst>
              <a:ext uri="{FF2B5EF4-FFF2-40B4-BE49-F238E27FC236}">
                <a16:creationId xmlns:a16="http://schemas.microsoft.com/office/drawing/2014/main" id="{A9E5038E-CC2F-01E8-60E6-3C2CAFD05EF4}"/>
              </a:ext>
            </a:extLst>
          </p:cNvPr>
          <p:cNvSpPr/>
          <p:nvPr/>
        </p:nvSpPr>
        <p:spPr>
          <a:xfrm>
            <a:off x="6483096" y="4541885"/>
            <a:ext cx="2039112" cy="320318"/>
          </a:xfrm>
          <a:prstGeom prst="rect">
            <a:avLst/>
          </a:prstGeom>
          <a:noFill/>
          <a:ln/>
        </p:spPr>
        <p:txBody>
          <a:bodyPr wrap="square" lIns="0" tIns="0" rIns="0" bIns="0" rtlCol="0" anchor="ctr"/>
          <a:lstStyle/>
          <a:p>
            <a:pPr algn="ctr"/>
            <a:r>
              <a:rPr lang="en-US" sz="900" dirty="0">
                <a:solidFill>
                  <a:srgbClr val="1E2761"/>
                </a:solidFill>
                <a:latin typeface="Cambria" panose="02040503050406030204" pitchFamily="18" charset="0"/>
                <a:ea typeface="Cambria" panose="02040503050406030204" pitchFamily="18" charset="0"/>
                <a:cs typeface="Calibri" pitchFamily="34" charset="-120"/>
              </a:rPr>
              <a:t>INTERNAL KNOT (DECIDED BY MERIDIAN ITSELF)</a:t>
            </a:r>
          </a:p>
        </p:txBody>
      </p:sp>
      <p:sp>
        <p:nvSpPr>
          <p:cNvPr id="28" name="Text 18">
            <a:extLst>
              <a:ext uri="{FF2B5EF4-FFF2-40B4-BE49-F238E27FC236}">
                <a16:creationId xmlns:a16="http://schemas.microsoft.com/office/drawing/2014/main" id="{C22B1DF0-B072-BFB4-B556-12AF185384C3}"/>
              </a:ext>
            </a:extLst>
          </p:cNvPr>
          <p:cNvSpPr/>
          <p:nvPr/>
        </p:nvSpPr>
        <p:spPr>
          <a:xfrm>
            <a:off x="6327648" y="4727492"/>
            <a:ext cx="2359152" cy="131052"/>
          </a:xfrm>
          <a:prstGeom prst="rect">
            <a:avLst/>
          </a:prstGeom>
          <a:noFill/>
          <a:ln/>
        </p:spPr>
        <p:txBody>
          <a:bodyPr wrap="square" lIns="0" tIns="0" rIns="0" bIns="0" rtlCol="0" anchor="ctr"/>
          <a:lstStyle/>
          <a:p>
            <a:pPr algn="ctr"/>
            <a:endParaRPr lang="en-US" sz="900" noProof="0" dirty="0">
              <a:solidFill>
                <a:srgbClr val="8094C8"/>
              </a:solidFill>
              <a:latin typeface="Cambria" panose="02040503050406030204" pitchFamily="18" charset="0"/>
              <a:ea typeface="Cambria" panose="02040503050406030204" pitchFamily="18" charset="0"/>
              <a:cs typeface="Calibri" pitchFamily="34" charset="-120"/>
            </a:endParaRPr>
          </a:p>
        </p:txBody>
      </p:sp>
      <p:sp>
        <p:nvSpPr>
          <p:cNvPr id="32" name="Text 5">
            <a:extLst>
              <a:ext uri="{FF2B5EF4-FFF2-40B4-BE49-F238E27FC236}">
                <a16:creationId xmlns:a16="http://schemas.microsoft.com/office/drawing/2014/main" id="{A2FC7489-C1F9-505F-ED1F-EBD6FC599B26}"/>
              </a:ext>
            </a:extLst>
          </p:cNvPr>
          <p:cNvSpPr/>
          <p:nvPr/>
        </p:nvSpPr>
        <p:spPr>
          <a:xfrm>
            <a:off x="2807774" y="4004593"/>
            <a:ext cx="3519874" cy="236387"/>
          </a:xfrm>
          <a:prstGeom prst="rect">
            <a:avLst/>
          </a:prstGeom>
          <a:noFill/>
          <a:ln/>
        </p:spPr>
        <p:txBody>
          <a:bodyPr wrap="square" lIns="0" tIns="0" rIns="0" bIns="0" rtlCol="0" anchor="ctr"/>
          <a:lstStyle/>
          <a:p>
            <a:pPr marL="0" indent="0" algn="ctr">
              <a:buNone/>
            </a:pPr>
            <a:r>
              <a:rPr lang="en-US" sz="1200" b="1" kern="0" spc="200" noProof="0" dirty="0">
                <a:solidFill>
                  <a:srgbClr val="3A5BA0"/>
                </a:solidFill>
                <a:latin typeface="Cambria" panose="02040503050406030204" pitchFamily="18" charset="0"/>
                <a:ea typeface="Cambria" panose="02040503050406030204" pitchFamily="18" charset="0"/>
                <a:cs typeface="Calibri" pitchFamily="34" charset="-120"/>
              </a:rPr>
              <a:t>SPECIFIC ORGANIZATION CHOICES</a:t>
            </a:r>
            <a:endParaRPr lang="en-US" sz="1200" noProof="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90512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4" name="Text 1"/>
          <p:cNvSpPr/>
          <p:nvPr/>
        </p:nvSpPr>
        <p:spPr>
          <a:xfrm>
            <a:off x="274319" y="322679"/>
            <a:ext cx="7723163" cy="291552"/>
          </a:xfrm>
          <a:prstGeom prst="rect">
            <a:avLst/>
          </a:prstGeom>
          <a:noFill/>
          <a:ln/>
        </p:spPr>
        <p:txBody>
          <a:bodyPr wrap="square" lIns="0" tIns="0" rIns="0" bIns="0" rtlCol="0" anchor="ctr"/>
          <a:lstStyle/>
          <a:p>
            <a:pPr marL="0" indent="0" algn="l">
              <a:buNone/>
            </a:pPr>
            <a:r>
              <a:rPr lang="en-US" sz="2800" b="1" noProof="0" dirty="0">
                <a:solidFill>
                  <a:srgbClr val="FFFFFF"/>
                </a:solidFill>
                <a:latin typeface="EucrosiaUPC" panose="02020603050405020304" pitchFamily="18" charset="-34"/>
                <a:ea typeface="Cambria" pitchFamily="34" charset="-122"/>
                <a:cs typeface="EucrosiaUPC" panose="02020603050405020304" pitchFamily="18" charset="-34"/>
              </a:rPr>
              <a:t>3. MERIDIAN Framework</a:t>
            </a:r>
            <a:endParaRPr lang="en-US" sz="2800" noProof="0" dirty="0">
              <a:latin typeface="EucrosiaUPC" panose="02020603050405020304" pitchFamily="18" charset="-34"/>
              <a:cs typeface="EucrosiaUPC" panose="02020603050405020304" pitchFamily="18" charset="-34"/>
            </a:endParaRPr>
          </a:p>
        </p:txBody>
      </p:sp>
      <p:sp>
        <p:nvSpPr>
          <p:cNvPr id="5" name="Text 2"/>
          <p:cNvSpPr/>
          <p:nvPr/>
        </p:nvSpPr>
        <p:spPr>
          <a:xfrm>
            <a:off x="274320" y="896112"/>
            <a:ext cx="3840480" cy="256032"/>
          </a:xfrm>
          <a:prstGeom prst="rect">
            <a:avLst/>
          </a:prstGeom>
          <a:noFill/>
          <a:ln/>
        </p:spPr>
        <p:txBody>
          <a:bodyPr wrap="square" lIns="0" tIns="0" rIns="0" bIns="0" rtlCol="0" anchor="ctr"/>
          <a:lstStyle/>
          <a:p>
            <a:pPr marL="0" indent="0" algn="l">
              <a:buNone/>
            </a:pPr>
            <a:r>
              <a:rPr lang="en-US" sz="1200" b="1" kern="0" spc="200" noProof="0" dirty="0">
                <a:solidFill>
                  <a:srgbClr val="3A5BA0"/>
                </a:solidFill>
                <a:latin typeface="Cambria" panose="02040503050406030204" pitchFamily="18" charset="0"/>
                <a:ea typeface="Cambria" panose="02040503050406030204" pitchFamily="18" charset="0"/>
                <a:cs typeface="Calibri" pitchFamily="34" charset="-120"/>
              </a:rPr>
              <a:t>MERIDIAN RESPONSE CURVES RESULTS</a:t>
            </a:r>
            <a:endParaRPr lang="en-US" sz="1200" noProof="0" dirty="0">
              <a:latin typeface="Cambria" panose="02040503050406030204" pitchFamily="18" charset="0"/>
              <a:ea typeface="Cambria" panose="02040503050406030204" pitchFamily="18" charset="0"/>
            </a:endParaRPr>
          </a:p>
        </p:txBody>
      </p:sp>
      <p:sp>
        <p:nvSpPr>
          <p:cNvPr id="7" name="Shape 4"/>
          <p:cNvSpPr/>
          <p:nvPr/>
        </p:nvSpPr>
        <p:spPr>
          <a:xfrm>
            <a:off x="5584854" y="936910"/>
            <a:ext cx="18288" cy="4005072"/>
          </a:xfrm>
          <a:prstGeom prst="rect">
            <a:avLst/>
          </a:prstGeom>
          <a:solidFill>
            <a:srgbClr val="D4DCF0"/>
          </a:solidFill>
          <a:ln w="12700">
            <a:solidFill>
              <a:srgbClr val="D4DCF0"/>
            </a:solidFill>
            <a:prstDash val="solid"/>
          </a:ln>
        </p:spPr>
        <p:txBody>
          <a:bodyPr/>
          <a:lstStyle/>
          <a:p>
            <a:endParaRPr lang="en-US" noProof="0" dirty="0">
              <a:latin typeface="Cambria" panose="02040503050406030204" pitchFamily="18" charset="0"/>
              <a:ea typeface="Cambria" panose="02040503050406030204" pitchFamily="18" charset="0"/>
            </a:endParaRPr>
          </a:p>
        </p:txBody>
      </p:sp>
      <p:sp>
        <p:nvSpPr>
          <p:cNvPr id="8" name="Text 5"/>
          <p:cNvSpPr/>
          <p:nvPr/>
        </p:nvSpPr>
        <p:spPr>
          <a:xfrm>
            <a:off x="5845672" y="893533"/>
            <a:ext cx="2833507" cy="459482"/>
          </a:xfrm>
          <a:prstGeom prst="rect">
            <a:avLst/>
          </a:prstGeom>
          <a:noFill/>
          <a:ln/>
        </p:spPr>
        <p:txBody>
          <a:bodyPr wrap="square" lIns="0" tIns="0" rIns="0" bIns="0" rtlCol="0" anchor="ctr"/>
          <a:lstStyle/>
          <a:p>
            <a:pPr marL="0" indent="0" algn="ctr">
              <a:buNone/>
            </a:pPr>
            <a:r>
              <a:rPr lang="en-US" sz="1200" b="1" kern="0" spc="200" noProof="0" dirty="0">
                <a:solidFill>
                  <a:srgbClr val="3A5BA0"/>
                </a:solidFill>
                <a:latin typeface="Cambria" panose="02040503050406030204" pitchFamily="18" charset="0"/>
                <a:ea typeface="Cambria" panose="02040503050406030204" pitchFamily="18" charset="0"/>
                <a:cs typeface="Calibri" pitchFamily="34" charset="-120"/>
              </a:rPr>
              <a:t>MODEL PERFORMANCE &amp; VALIDATION</a:t>
            </a:r>
            <a:endParaRPr lang="en-US" sz="1200" noProof="0" dirty="0">
              <a:latin typeface="Cambria" panose="02040503050406030204" pitchFamily="18" charset="0"/>
              <a:ea typeface="Cambria" panose="02040503050406030204" pitchFamily="18" charset="0"/>
            </a:endParaRPr>
          </a:p>
        </p:txBody>
      </p:sp>
      <p:sp>
        <p:nvSpPr>
          <p:cNvPr id="23" name="Text 0">
            <a:extLst>
              <a:ext uri="{FF2B5EF4-FFF2-40B4-BE49-F238E27FC236}">
                <a16:creationId xmlns:a16="http://schemas.microsoft.com/office/drawing/2014/main" id="{4FB8C9A4-F598-CF13-52CF-590CC7DEB99C}"/>
              </a:ext>
            </a:extLst>
          </p:cNvPr>
          <p:cNvSpPr/>
          <p:nvPr/>
        </p:nvSpPr>
        <p:spPr>
          <a:xfrm>
            <a:off x="274319" y="42203"/>
            <a:ext cx="1055077"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TASK 3</a:t>
            </a:r>
            <a:endParaRPr lang="en-US" sz="900" noProof="0" dirty="0"/>
          </a:p>
        </p:txBody>
      </p:sp>
      <p:sp>
        <p:nvSpPr>
          <p:cNvPr id="29" name="Shape 1">
            <a:extLst>
              <a:ext uri="{FF2B5EF4-FFF2-40B4-BE49-F238E27FC236}">
                <a16:creationId xmlns:a16="http://schemas.microsoft.com/office/drawing/2014/main" id="{06104A24-10C5-EEB4-6E51-3851104329FA}"/>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31" name="Text 2">
            <a:extLst>
              <a:ext uri="{FF2B5EF4-FFF2-40B4-BE49-F238E27FC236}">
                <a16:creationId xmlns:a16="http://schemas.microsoft.com/office/drawing/2014/main" id="{094F1FBE-764F-8920-0CFD-EAA8F2414D78}"/>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04</a:t>
            </a:r>
            <a:endParaRPr lang="en-US" sz="1300" noProof="0" dirty="0"/>
          </a:p>
        </p:txBody>
      </p:sp>
      <p:sp>
        <p:nvSpPr>
          <p:cNvPr id="221" name="Text 20">
            <a:extLst>
              <a:ext uri="{FF2B5EF4-FFF2-40B4-BE49-F238E27FC236}">
                <a16:creationId xmlns:a16="http://schemas.microsoft.com/office/drawing/2014/main" id="{B3C7AC9E-7E58-451D-02BA-33087E4FCC55}"/>
              </a:ext>
            </a:extLst>
          </p:cNvPr>
          <p:cNvSpPr/>
          <p:nvPr/>
        </p:nvSpPr>
        <p:spPr>
          <a:xfrm>
            <a:off x="5936475" y="2795239"/>
            <a:ext cx="2597674" cy="1918010"/>
          </a:xfrm>
          <a:prstGeom prst="rect">
            <a:avLst/>
          </a:prstGeom>
          <a:noFill/>
          <a:ln/>
        </p:spPr>
        <p:txBody>
          <a:bodyPr wrap="square" lIns="0" tIns="0" rIns="0" bIns="0" rtlCol="0" anchor="ctr"/>
          <a:lstStyle/>
          <a:p>
            <a:pPr marL="0" indent="0">
              <a:buNone/>
            </a:pPr>
            <a:r>
              <a:rPr lang="en-US" sz="1200" noProof="0" dirty="0">
                <a:solidFill>
                  <a:srgbClr val="1E293B"/>
                </a:solidFill>
                <a:latin typeface="Cambria" panose="02040503050406030204" pitchFamily="18" charset="0"/>
                <a:ea typeface="Cambria" panose="02040503050406030204" pitchFamily="18" charset="0"/>
                <a:cs typeface="Calibri" pitchFamily="34" charset="-120"/>
              </a:rPr>
              <a:t>An R² near 0.77 at both geo and national level is solid enough to trust the ROI and scenario results that follow. </a:t>
            </a:r>
            <a:r>
              <a:rPr lang="en-US" sz="1200" noProof="0" dirty="0" err="1">
                <a:solidFill>
                  <a:srgbClr val="1E293B"/>
                </a:solidFill>
                <a:latin typeface="Cambria" panose="02040503050406030204" pitchFamily="18" charset="0"/>
                <a:ea typeface="Cambria" panose="02040503050406030204" pitchFamily="18" charset="0"/>
                <a:cs typeface="Calibri" pitchFamily="34" charset="-120"/>
              </a:rPr>
              <a:t>wMAPE</a:t>
            </a:r>
            <a:r>
              <a:rPr lang="en-US" sz="1200" noProof="0" dirty="0">
                <a:solidFill>
                  <a:srgbClr val="1E293B"/>
                </a:solidFill>
                <a:latin typeface="Cambria" panose="02040503050406030204" pitchFamily="18" charset="0"/>
                <a:ea typeface="Cambria" panose="02040503050406030204" pitchFamily="18" charset="0"/>
                <a:cs typeface="Calibri" pitchFamily="34" charset="-120"/>
              </a:rPr>
              <a:t> below 18% indicates the error is low relative to the size of the periods that matter most. Also, the curves suggest diminishing returns across all channels and the best relative efficiency appears to be Meta Facebook and Meta Instagram</a:t>
            </a:r>
            <a:endParaRPr lang="en-US" sz="1200" noProof="0" dirty="0">
              <a:latin typeface="Cambria" panose="02040503050406030204" pitchFamily="18" charset="0"/>
              <a:ea typeface="Cambria" panose="02040503050406030204" pitchFamily="18" charset="0"/>
            </a:endParaRPr>
          </a:p>
        </p:txBody>
      </p:sp>
      <p:graphicFrame>
        <p:nvGraphicFramePr>
          <p:cNvPr id="226" name="Table 0">
            <a:extLst>
              <a:ext uri="{FF2B5EF4-FFF2-40B4-BE49-F238E27FC236}">
                <a16:creationId xmlns:a16="http://schemas.microsoft.com/office/drawing/2014/main" id="{53799DE6-8779-E45C-35A6-840BF3A77E38}"/>
              </a:ext>
            </a:extLst>
          </p:cNvPr>
          <p:cNvGraphicFramePr>
            <a:graphicFrameLocks noGrp="1"/>
          </p:cNvGraphicFramePr>
          <p:nvPr>
            <p:extLst>
              <p:ext uri="{D42A27DB-BD31-4B8C-83A1-F6EECF244321}">
                <p14:modId xmlns:p14="http://schemas.microsoft.com/office/powerpoint/2010/main" val="4173046746"/>
              </p:ext>
            </p:extLst>
          </p:nvPr>
        </p:nvGraphicFramePr>
        <p:xfrm>
          <a:off x="5918187" y="1407276"/>
          <a:ext cx="2688476" cy="1221486"/>
        </p:xfrm>
        <a:graphic>
          <a:graphicData uri="http://schemas.openxmlformats.org/drawingml/2006/table">
            <a:tbl>
              <a:tblPr/>
              <a:tblGrid>
                <a:gridCol w="982364">
                  <a:extLst>
                    <a:ext uri="{9D8B030D-6E8A-4147-A177-3AD203B41FA5}">
                      <a16:colId xmlns:a16="http://schemas.microsoft.com/office/drawing/2014/main" val="20000"/>
                    </a:ext>
                  </a:extLst>
                </a:gridCol>
                <a:gridCol w="877715">
                  <a:extLst>
                    <a:ext uri="{9D8B030D-6E8A-4147-A177-3AD203B41FA5}">
                      <a16:colId xmlns:a16="http://schemas.microsoft.com/office/drawing/2014/main" val="20001"/>
                    </a:ext>
                  </a:extLst>
                </a:gridCol>
                <a:gridCol w="828397">
                  <a:extLst>
                    <a:ext uri="{9D8B030D-6E8A-4147-A177-3AD203B41FA5}">
                      <a16:colId xmlns:a16="http://schemas.microsoft.com/office/drawing/2014/main" val="20002"/>
                    </a:ext>
                  </a:extLst>
                </a:gridCol>
              </a:tblGrid>
              <a:tr h="0">
                <a:tc>
                  <a:txBody>
                    <a:bodyPr/>
                    <a:lstStyle/>
                    <a:p>
                      <a:pPr marL="0" indent="0" algn="ctr">
                        <a:buNone/>
                      </a:pPr>
                      <a:r>
                        <a:rPr lang="en-US" sz="1250" b="1" noProof="0" dirty="0">
                          <a:solidFill>
                            <a:srgbClr val="FFFFFF"/>
                          </a:solidFill>
                          <a:latin typeface="Cambria" panose="02040503050406030204" pitchFamily="18" charset="0"/>
                          <a:ea typeface="Cambria" panose="02040503050406030204" pitchFamily="18" charset="0"/>
                        </a:rPr>
                        <a:t>Metrics</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marL="0" indent="0" algn="ctr">
                        <a:buNone/>
                      </a:pPr>
                      <a:r>
                        <a:rPr lang="en-US" sz="1250" b="1" noProof="0" dirty="0">
                          <a:solidFill>
                            <a:srgbClr val="FFFFFF"/>
                          </a:solidFill>
                          <a:latin typeface="Cambria" panose="02040503050406030204" pitchFamily="18" charset="0"/>
                          <a:ea typeface="Cambria" panose="02040503050406030204" pitchFamily="18" charset="0"/>
                        </a:rPr>
                        <a:t>National</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marL="0" indent="0" algn="ctr">
                        <a:buNone/>
                      </a:pPr>
                      <a:r>
                        <a:rPr lang="en-US" sz="1250" b="1" noProof="0" dirty="0">
                          <a:solidFill>
                            <a:srgbClr val="FFFFFF"/>
                          </a:solidFill>
                          <a:latin typeface="Cambria" panose="02040503050406030204" pitchFamily="18" charset="0"/>
                          <a:ea typeface="Cambria" panose="02040503050406030204" pitchFamily="18" charset="0"/>
                        </a:rPr>
                        <a:t>GEO</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13182">
                <a:tc>
                  <a:txBody>
                    <a:bodyPr/>
                    <a:lstStyle/>
                    <a:p>
                      <a:pPr marL="0" indent="0" algn="l">
                        <a:buNone/>
                      </a:pPr>
                      <a:r>
                        <a:rPr lang="en-US" sz="1250" noProof="0" dirty="0">
                          <a:solidFill>
                            <a:srgbClr val="1E293B"/>
                          </a:solidFill>
                          <a:latin typeface="Cambria" panose="02040503050406030204" pitchFamily="18" charset="0"/>
                          <a:ea typeface="Cambria" panose="02040503050406030204" pitchFamily="18" charset="0"/>
                          <a:cs typeface="Calibri" pitchFamily="34" charset="-120"/>
                        </a:rPr>
                        <a:t>R²</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250" noProof="0" dirty="0">
                          <a:solidFill>
                            <a:srgbClr val="1E293B"/>
                          </a:solidFill>
                          <a:latin typeface="Cambria" panose="02040503050406030204" pitchFamily="18" charset="0"/>
                          <a:ea typeface="Cambria" panose="02040503050406030204" pitchFamily="18" charset="0"/>
                        </a:rPr>
                        <a:t>0.772</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250" noProof="0" dirty="0">
                          <a:solidFill>
                            <a:srgbClr val="1E293B"/>
                          </a:solidFill>
                          <a:latin typeface="Cambria" panose="02040503050406030204" pitchFamily="18" charset="0"/>
                          <a:ea typeface="Cambria" panose="02040503050406030204" pitchFamily="18" charset="0"/>
                        </a:rPr>
                        <a:t>0.778</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3182">
                <a:tc>
                  <a:txBody>
                    <a:bodyPr/>
                    <a:lstStyle/>
                    <a:p>
                      <a:pPr marL="0" indent="0" algn="l">
                        <a:buNone/>
                      </a:pPr>
                      <a:r>
                        <a:rPr lang="en-US" sz="1250" noProof="0" dirty="0">
                          <a:solidFill>
                            <a:srgbClr val="1E293B"/>
                          </a:solidFill>
                          <a:latin typeface="Cambria" panose="02040503050406030204" pitchFamily="18" charset="0"/>
                          <a:ea typeface="Cambria" panose="02040503050406030204" pitchFamily="18" charset="0"/>
                          <a:cs typeface="Calibri" pitchFamily="34" charset="-120"/>
                        </a:rPr>
                        <a:t>MAPE</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250" noProof="0" dirty="0">
                          <a:solidFill>
                            <a:srgbClr val="1E293B"/>
                          </a:solidFill>
                          <a:latin typeface="Cambria" panose="02040503050406030204" pitchFamily="18" charset="0"/>
                          <a:ea typeface="Cambria" panose="02040503050406030204" pitchFamily="18" charset="0"/>
                        </a:rPr>
                        <a:t>16.5%</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250" noProof="0" dirty="0">
                          <a:solidFill>
                            <a:srgbClr val="1E293B"/>
                          </a:solidFill>
                          <a:latin typeface="Cambria" panose="02040503050406030204" pitchFamily="18" charset="0"/>
                          <a:ea typeface="Cambria" panose="02040503050406030204" pitchFamily="18" charset="0"/>
                        </a:rPr>
                        <a:t>21,8%</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3182">
                <a:tc>
                  <a:txBody>
                    <a:bodyPr/>
                    <a:lstStyle/>
                    <a:p>
                      <a:pPr marL="0" indent="0" algn="l">
                        <a:buNone/>
                      </a:pPr>
                      <a:r>
                        <a:rPr lang="en-US" sz="1250" noProof="0" dirty="0" err="1">
                          <a:solidFill>
                            <a:srgbClr val="1E293B"/>
                          </a:solidFill>
                          <a:latin typeface="Cambria" panose="02040503050406030204" pitchFamily="18" charset="0"/>
                          <a:ea typeface="Cambria" panose="02040503050406030204" pitchFamily="18" charset="0"/>
                          <a:cs typeface="Calibri" pitchFamily="34" charset="-120"/>
                        </a:rPr>
                        <a:t>wMAPE</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250" noProof="0" dirty="0">
                          <a:latin typeface="Cambria" panose="02040503050406030204" pitchFamily="18" charset="0"/>
                          <a:ea typeface="Cambria" panose="02040503050406030204" pitchFamily="18" charset="0"/>
                        </a:rPr>
                        <a:t>15.1%</a:t>
                      </a: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250" noProof="0" dirty="0">
                          <a:solidFill>
                            <a:srgbClr val="1E293B"/>
                          </a:solidFill>
                          <a:latin typeface="Cambria" panose="02040503050406030204" pitchFamily="18" charset="0"/>
                          <a:ea typeface="Cambria" panose="02040503050406030204" pitchFamily="18" charset="0"/>
                        </a:rPr>
                        <a:t>17,9%</a:t>
                      </a:r>
                      <a:endParaRPr lang="en-US" sz="125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pic>
        <p:nvPicPr>
          <p:cNvPr id="213" name="Immagine 212">
            <a:extLst>
              <a:ext uri="{FF2B5EF4-FFF2-40B4-BE49-F238E27FC236}">
                <a16:creationId xmlns:a16="http://schemas.microsoft.com/office/drawing/2014/main" id="{CC6B5C38-582A-9D3B-03F9-AFDF537620AA}"/>
              </a:ext>
            </a:extLst>
          </p:cNvPr>
          <p:cNvPicPr>
            <a:picLocks noChangeAspect="1"/>
          </p:cNvPicPr>
          <p:nvPr/>
        </p:nvPicPr>
        <p:blipFill>
          <a:blip r:embed="rId3"/>
          <a:stretch>
            <a:fillRect/>
          </a:stretch>
        </p:blipFill>
        <p:spPr>
          <a:xfrm>
            <a:off x="292063" y="1226412"/>
            <a:ext cx="5032610" cy="35619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F"/>
        </a:solidFill>
        <a:effectLst/>
      </p:bgPr>
    </p:bg>
    <p:spTree>
      <p:nvGrpSpPr>
        <p:cNvPr id="1" name="">
          <a:extLst>
            <a:ext uri="{FF2B5EF4-FFF2-40B4-BE49-F238E27FC236}">
              <a16:creationId xmlns:a16="http://schemas.microsoft.com/office/drawing/2014/main" id="{93FE3017-07F6-303C-EE3D-F3492ACEB6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4A5DAB1-0F2A-E9C9-2D81-A93B3A0D96C7}"/>
              </a:ext>
            </a:extLst>
          </p:cNvPr>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4" name="Text 1">
            <a:extLst>
              <a:ext uri="{FF2B5EF4-FFF2-40B4-BE49-F238E27FC236}">
                <a16:creationId xmlns:a16="http://schemas.microsoft.com/office/drawing/2014/main" id="{871247ED-2EDA-3593-55D8-4DFFF61A5C59}"/>
              </a:ext>
            </a:extLst>
          </p:cNvPr>
          <p:cNvSpPr/>
          <p:nvPr/>
        </p:nvSpPr>
        <p:spPr>
          <a:xfrm>
            <a:off x="274319" y="322679"/>
            <a:ext cx="7723163" cy="291552"/>
          </a:xfrm>
          <a:prstGeom prst="rect">
            <a:avLst/>
          </a:prstGeom>
          <a:noFill/>
          <a:ln/>
        </p:spPr>
        <p:txBody>
          <a:bodyPr wrap="square" lIns="0" tIns="0" rIns="0" bIns="0" rtlCol="0" anchor="ctr"/>
          <a:lstStyle/>
          <a:p>
            <a:pPr marL="0" indent="0" algn="l">
              <a:buNone/>
            </a:pPr>
            <a:r>
              <a:rPr lang="en-US" sz="2800" b="1" noProof="0" dirty="0">
                <a:solidFill>
                  <a:srgbClr val="FFFFFF"/>
                </a:solidFill>
                <a:latin typeface="EucrosiaUPC" panose="02020603050405020304" pitchFamily="18" charset="-34"/>
                <a:ea typeface="Cambria" pitchFamily="34" charset="-122"/>
                <a:cs typeface="EucrosiaUPC" panose="02020603050405020304" pitchFamily="18" charset="-34"/>
              </a:rPr>
              <a:t>3. MERIDIAN Framework</a:t>
            </a:r>
            <a:endParaRPr lang="en-US" sz="2800" noProof="0" dirty="0">
              <a:latin typeface="EucrosiaUPC" panose="02020603050405020304" pitchFamily="18" charset="-34"/>
              <a:cs typeface="EucrosiaUPC" panose="02020603050405020304" pitchFamily="18" charset="-34"/>
            </a:endParaRPr>
          </a:p>
        </p:txBody>
      </p:sp>
      <p:sp>
        <p:nvSpPr>
          <p:cNvPr id="5" name="Text 2">
            <a:extLst>
              <a:ext uri="{FF2B5EF4-FFF2-40B4-BE49-F238E27FC236}">
                <a16:creationId xmlns:a16="http://schemas.microsoft.com/office/drawing/2014/main" id="{E40BF5D7-4327-7DC3-6CA0-4ADB973DB088}"/>
              </a:ext>
            </a:extLst>
          </p:cNvPr>
          <p:cNvSpPr/>
          <p:nvPr/>
        </p:nvSpPr>
        <p:spPr>
          <a:xfrm>
            <a:off x="400204" y="896112"/>
            <a:ext cx="3714595" cy="256032"/>
          </a:xfrm>
          <a:prstGeom prst="rect">
            <a:avLst/>
          </a:prstGeom>
          <a:noFill/>
          <a:ln/>
        </p:spPr>
        <p:txBody>
          <a:bodyPr wrap="square" lIns="0" tIns="0" rIns="0" bIns="0" rtlCol="0" anchor="ctr"/>
          <a:lstStyle/>
          <a:p>
            <a:pPr marL="0" indent="0" algn="l">
              <a:buNone/>
            </a:pPr>
            <a:r>
              <a:rPr lang="en-US" sz="1200" b="1" kern="0" spc="200" noProof="0" dirty="0">
                <a:solidFill>
                  <a:srgbClr val="3A5BA0"/>
                </a:solidFill>
                <a:latin typeface="Cambria" panose="02040503050406030204" pitchFamily="18" charset="0"/>
                <a:ea typeface="Cambria" panose="02040503050406030204" pitchFamily="18" charset="0"/>
                <a:cs typeface="Calibri" pitchFamily="34" charset="-120"/>
              </a:rPr>
              <a:t>MODEL FIT RESULTS</a:t>
            </a:r>
            <a:endParaRPr lang="en-US" sz="1200" noProof="0" dirty="0">
              <a:latin typeface="Cambria" panose="02040503050406030204" pitchFamily="18" charset="0"/>
              <a:ea typeface="Cambria" panose="02040503050406030204" pitchFamily="18" charset="0"/>
            </a:endParaRPr>
          </a:p>
        </p:txBody>
      </p:sp>
      <p:sp>
        <p:nvSpPr>
          <p:cNvPr id="23" name="Text 0">
            <a:extLst>
              <a:ext uri="{FF2B5EF4-FFF2-40B4-BE49-F238E27FC236}">
                <a16:creationId xmlns:a16="http://schemas.microsoft.com/office/drawing/2014/main" id="{E4B32EAB-1CE2-66E8-3469-129AE36867A8}"/>
              </a:ext>
            </a:extLst>
          </p:cNvPr>
          <p:cNvSpPr/>
          <p:nvPr/>
        </p:nvSpPr>
        <p:spPr>
          <a:xfrm>
            <a:off x="274319" y="42203"/>
            <a:ext cx="1055077"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TASK 3</a:t>
            </a:r>
            <a:endParaRPr lang="en-US" sz="900" noProof="0" dirty="0"/>
          </a:p>
        </p:txBody>
      </p:sp>
      <p:sp>
        <p:nvSpPr>
          <p:cNvPr id="29" name="Shape 1">
            <a:extLst>
              <a:ext uri="{FF2B5EF4-FFF2-40B4-BE49-F238E27FC236}">
                <a16:creationId xmlns:a16="http://schemas.microsoft.com/office/drawing/2014/main" id="{32E976D1-B44E-0F3F-12BF-C33B35A11E78}"/>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31" name="Text 2">
            <a:extLst>
              <a:ext uri="{FF2B5EF4-FFF2-40B4-BE49-F238E27FC236}">
                <a16:creationId xmlns:a16="http://schemas.microsoft.com/office/drawing/2014/main" id="{B290C512-9B79-570B-7BFC-1824A3963A4C}"/>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05</a:t>
            </a:r>
            <a:endParaRPr lang="en-US" sz="1300" noProof="0" dirty="0"/>
          </a:p>
        </p:txBody>
      </p:sp>
      <p:sp>
        <p:nvSpPr>
          <p:cNvPr id="221" name="Text 20">
            <a:extLst>
              <a:ext uri="{FF2B5EF4-FFF2-40B4-BE49-F238E27FC236}">
                <a16:creationId xmlns:a16="http://schemas.microsoft.com/office/drawing/2014/main" id="{8DFE6C46-D8AB-D048-2ACF-02D3916E1B08}"/>
              </a:ext>
            </a:extLst>
          </p:cNvPr>
          <p:cNvSpPr/>
          <p:nvPr/>
        </p:nvSpPr>
        <p:spPr>
          <a:xfrm>
            <a:off x="4928839" y="1271017"/>
            <a:ext cx="3605310" cy="3128846"/>
          </a:xfrm>
          <a:prstGeom prst="rect">
            <a:avLst/>
          </a:prstGeom>
          <a:noFill/>
          <a:ln/>
        </p:spPr>
        <p:txBody>
          <a:bodyPr wrap="square" lIns="0" tIns="0" rIns="0" bIns="0" rtlCol="0" anchor="ctr"/>
          <a:lstStyle/>
          <a:p>
            <a:r>
              <a:rPr lang="en-US" sz="1000" noProof="0" dirty="0">
                <a:latin typeface="Cambria" panose="02040503050406030204" pitchFamily="18" charset="0"/>
                <a:ea typeface="Cambria" panose="02040503050406030204" pitchFamily="18" charset="0"/>
              </a:rPr>
              <a:t>The Meridian fit looks very solid for a business: the expected line tracks the actual revenue trend well across the full horizon, which suggests the model is capturing the </a:t>
            </a:r>
            <a:r>
              <a:rPr lang="en-US" sz="1000" b="1" noProof="0" dirty="0">
                <a:latin typeface="Cambria" panose="02040503050406030204" pitchFamily="18" charset="0"/>
                <a:ea typeface="Cambria" panose="02040503050406030204" pitchFamily="18" charset="0"/>
              </a:rPr>
              <a:t>main structural drivers </a:t>
            </a:r>
            <a:r>
              <a:rPr lang="en-US" sz="1000" noProof="0" dirty="0">
                <a:latin typeface="Cambria" panose="02040503050406030204" pitchFamily="18" charset="0"/>
                <a:ea typeface="Cambria" panose="02040503050406030204" pitchFamily="18" charset="0"/>
              </a:rPr>
              <a:t>of demand, including seasonality, long-term growth, and the general media effect. </a:t>
            </a:r>
          </a:p>
          <a:p>
            <a:endParaRPr lang="en-US" sz="1000" noProof="0" dirty="0">
              <a:latin typeface="Cambria" panose="02040503050406030204" pitchFamily="18" charset="0"/>
              <a:ea typeface="Cambria" panose="02040503050406030204" pitchFamily="18" charset="0"/>
            </a:endParaRPr>
          </a:p>
          <a:p>
            <a:r>
              <a:rPr lang="en-US" sz="1000" noProof="0" dirty="0">
                <a:latin typeface="Cambria" panose="02040503050406030204" pitchFamily="18" charset="0"/>
                <a:ea typeface="Cambria" panose="02040503050406030204" pitchFamily="18" charset="0"/>
              </a:rPr>
              <a:t>The </a:t>
            </a:r>
            <a:r>
              <a:rPr lang="en-US" sz="1000" b="1" noProof="0" dirty="0">
                <a:latin typeface="Cambria" panose="02040503050406030204" pitchFamily="18" charset="0"/>
                <a:ea typeface="Cambria" panose="02040503050406030204" pitchFamily="18" charset="0"/>
              </a:rPr>
              <a:t>baseline</a:t>
            </a:r>
            <a:r>
              <a:rPr lang="en-US" sz="1000" noProof="0" dirty="0">
                <a:latin typeface="Cambria" panose="02040503050406030204" pitchFamily="18" charset="0"/>
                <a:ea typeface="Cambria" panose="02040503050406030204" pitchFamily="18" charset="0"/>
              </a:rPr>
              <a:t> sits clearly below both expected and actual revenue, which is what it should be seen in a properly specified MMM, because it indicates the incremental contribution from marketing is being separated from the underlying organic level.</a:t>
            </a:r>
          </a:p>
          <a:p>
            <a:endParaRPr lang="en-US" sz="1000" noProof="0" dirty="0">
              <a:latin typeface="Cambria" panose="02040503050406030204" pitchFamily="18" charset="0"/>
              <a:ea typeface="Cambria" panose="02040503050406030204" pitchFamily="18" charset="0"/>
            </a:endParaRPr>
          </a:p>
          <a:p>
            <a:r>
              <a:rPr lang="en-US" sz="1000" noProof="0" dirty="0">
                <a:latin typeface="Cambria" panose="02040503050406030204" pitchFamily="18" charset="0"/>
                <a:ea typeface="Cambria" panose="02040503050406030204" pitchFamily="18" charset="0"/>
              </a:rPr>
              <a:t>What stands out, is that the model captures the central tendency very well but smooths some of the sharp revenue </a:t>
            </a:r>
            <a:r>
              <a:rPr lang="en-US" sz="1000" b="1" noProof="0" dirty="0">
                <a:latin typeface="Cambria" panose="02040503050406030204" pitchFamily="18" charset="0"/>
                <a:ea typeface="Cambria" panose="02040503050406030204" pitchFamily="18" charset="0"/>
              </a:rPr>
              <a:t>spikes</a:t>
            </a:r>
            <a:r>
              <a:rPr lang="en-US" sz="1000" noProof="0" dirty="0">
                <a:latin typeface="Cambria" panose="02040503050406030204" pitchFamily="18" charset="0"/>
                <a:ea typeface="Cambria" panose="02040503050406030204" pitchFamily="18" charset="0"/>
              </a:rPr>
              <a:t>. That is normal in MMM because peaks are often driven by short-lived promotions, stock effects, external shocks, or channel interactions that are hard to fully recover at daily granularity. </a:t>
            </a:r>
          </a:p>
          <a:p>
            <a:endParaRPr lang="en-US" sz="1000" dirty="0">
              <a:latin typeface="Cambria" panose="02040503050406030204" pitchFamily="18" charset="0"/>
              <a:ea typeface="Cambria" panose="02040503050406030204" pitchFamily="18" charset="0"/>
            </a:endParaRPr>
          </a:p>
          <a:p>
            <a:r>
              <a:rPr lang="en-US" sz="1000" noProof="0" dirty="0">
                <a:latin typeface="Cambria" panose="02040503050406030204" pitchFamily="18" charset="0"/>
                <a:ea typeface="Cambria" panose="02040503050406030204" pitchFamily="18" charset="0"/>
              </a:rPr>
              <a:t>So, the results are reliable for channel contribution and budget planning but </a:t>
            </a:r>
            <a:r>
              <a:rPr lang="en-US" sz="1000" b="1" noProof="0" dirty="0">
                <a:latin typeface="Cambria" panose="02040503050406030204" pitchFamily="18" charset="0"/>
                <a:ea typeface="Cambria" panose="02040503050406030204" pitchFamily="18" charset="0"/>
              </a:rPr>
              <a:t>not</a:t>
            </a:r>
            <a:r>
              <a:rPr lang="en-US" sz="1000" noProof="0" dirty="0">
                <a:latin typeface="Cambria" panose="02040503050406030204" pitchFamily="18" charset="0"/>
                <a:ea typeface="Cambria" panose="02040503050406030204" pitchFamily="18" charset="0"/>
              </a:rPr>
              <a:t> intended to reproduce every </a:t>
            </a:r>
            <a:r>
              <a:rPr lang="en-US" sz="1000" b="1" noProof="0" dirty="0">
                <a:latin typeface="Cambria" panose="02040503050406030204" pitchFamily="18" charset="0"/>
                <a:ea typeface="Cambria" panose="02040503050406030204" pitchFamily="18" charset="0"/>
              </a:rPr>
              <a:t>short-term</a:t>
            </a:r>
            <a:r>
              <a:rPr lang="en-US" sz="1000" noProof="0" dirty="0">
                <a:latin typeface="Cambria" panose="02040503050406030204" pitchFamily="18" charset="0"/>
                <a:ea typeface="Cambria" panose="02040503050406030204" pitchFamily="18" charset="0"/>
              </a:rPr>
              <a:t> outlier exactly.</a:t>
            </a:r>
          </a:p>
        </p:txBody>
      </p:sp>
      <p:pic>
        <p:nvPicPr>
          <p:cNvPr id="6" name="Immagine 5">
            <a:extLst>
              <a:ext uri="{FF2B5EF4-FFF2-40B4-BE49-F238E27FC236}">
                <a16:creationId xmlns:a16="http://schemas.microsoft.com/office/drawing/2014/main" id="{32EA83DF-E6CF-9B75-E438-1850A630BA6A}"/>
              </a:ext>
            </a:extLst>
          </p:cNvPr>
          <p:cNvPicPr>
            <a:picLocks noChangeAspect="1"/>
          </p:cNvPicPr>
          <p:nvPr/>
        </p:nvPicPr>
        <p:blipFill>
          <a:blip r:embed="rId3"/>
          <a:stretch>
            <a:fillRect/>
          </a:stretch>
        </p:blipFill>
        <p:spPr>
          <a:xfrm>
            <a:off x="400205" y="1271016"/>
            <a:ext cx="4171795" cy="3128846"/>
          </a:xfrm>
          <a:prstGeom prst="rect">
            <a:avLst/>
          </a:prstGeom>
        </p:spPr>
      </p:pic>
    </p:spTree>
    <p:extLst>
      <p:ext uri="{BB962C8B-B14F-4D97-AF65-F5344CB8AC3E}">
        <p14:creationId xmlns:p14="http://schemas.microsoft.com/office/powerpoint/2010/main" val="3223676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4" name="Text 1"/>
          <p:cNvSpPr/>
          <p:nvPr/>
        </p:nvSpPr>
        <p:spPr>
          <a:xfrm>
            <a:off x="274319" y="301752"/>
            <a:ext cx="7412588" cy="347472"/>
          </a:xfrm>
          <a:prstGeom prst="rect">
            <a:avLst/>
          </a:prstGeom>
          <a:noFill/>
          <a:ln/>
        </p:spPr>
        <p:txBody>
          <a:bodyPr wrap="square" lIns="0" tIns="0" rIns="0" bIns="0" rtlCol="0" anchor="ctr"/>
          <a:lstStyle/>
          <a:p>
            <a:pPr marL="0" indent="0" algn="l">
              <a:buNone/>
            </a:pPr>
            <a:r>
              <a:rPr lang="en-US" sz="2800" b="1" noProof="0" dirty="0">
                <a:solidFill>
                  <a:srgbClr val="FFFFFF"/>
                </a:solidFill>
                <a:latin typeface="EucrosiaUPC" panose="02020603050405020304" pitchFamily="18" charset="-34"/>
                <a:ea typeface="Cambria" pitchFamily="34" charset="-122"/>
                <a:cs typeface="EucrosiaUPC" panose="02020603050405020304" pitchFamily="18" charset="-34"/>
              </a:rPr>
              <a:t>4. Channel Efficiency: ROI and Marginal ROI by Channel</a:t>
            </a:r>
          </a:p>
        </p:txBody>
      </p:sp>
      <p:sp>
        <p:nvSpPr>
          <p:cNvPr id="28" name="Shape 1">
            <a:extLst>
              <a:ext uri="{FF2B5EF4-FFF2-40B4-BE49-F238E27FC236}">
                <a16:creationId xmlns:a16="http://schemas.microsoft.com/office/drawing/2014/main" id="{0D58C238-B28F-AFB9-AD10-C39078A98745}"/>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30" name="Text 2">
            <a:extLst>
              <a:ext uri="{FF2B5EF4-FFF2-40B4-BE49-F238E27FC236}">
                <a16:creationId xmlns:a16="http://schemas.microsoft.com/office/drawing/2014/main" id="{46B1BE59-A53F-74D7-37ED-E9AF4FD41F67}"/>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06</a:t>
            </a:r>
            <a:endParaRPr lang="en-US" sz="1300" noProof="0" dirty="0"/>
          </a:p>
        </p:txBody>
      </p:sp>
      <p:sp>
        <p:nvSpPr>
          <p:cNvPr id="32" name="Text 0">
            <a:extLst>
              <a:ext uri="{FF2B5EF4-FFF2-40B4-BE49-F238E27FC236}">
                <a16:creationId xmlns:a16="http://schemas.microsoft.com/office/drawing/2014/main" id="{1F370D6D-21A9-C271-96ED-9B172CE23A0B}"/>
              </a:ext>
            </a:extLst>
          </p:cNvPr>
          <p:cNvSpPr/>
          <p:nvPr/>
        </p:nvSpPr>
        <p:spPr>
          <a:xfrm>
            <a:off x="274319" y="42203"/>
            <a:ext cx="1055077"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TASK 4 </a:t>
            </a:r>
            <a:endParaRPr lang="en-US" sz="900" noProof="0" dirty="0"/>
          </a:p>
        </p:txBody>
      </p:sp>
      <p:sp>
        <p:nvSpPr>
          <p:cNvPr id="47" name="Text 0">
            <a:extLst>
              <a:ext uri="{FF2B5EF4-FFF2-40B4-BE49-F238E27FC236}">
                <a16:creationId xmlns:a16="http://schemas.microsoft.com/office/drawing/2014/main" id="{3F5F1CBA-25C1-4FD1-4532-A650483CFBD1}"/>
              </a:ext>
            </a:extLst>
          </p:cNvPr>
          <p:cNvSpPr/>
          <p:nvPr/>
        </p:nvSpPr>
        <p:spPr>
          <a:xfrm>
            <a:off x="457200" y="292608"/>
            <a:ext cx="8229600" cy="274320"/>
          </a:xfrm>
          <a:prstGeom prst="rect">
            <a:avLst/>
          </a:prstGeom>
          <a:noFill/>
          <a:ln/>
        </p:spPr>
        <p:txBody>
          <a:bodyPr wrap="square" lIns="0" tIns="0" rIns="0" bIns="0" rtlCol="0" anchor="ctr"/>
          <a:lstStyle/>
          <a:p>
            <a:pPr marL="0" indent="0">
              <a:buNone/>
            </a:pPr>
            <a:endParaRPr lang="en-US" sz="1200" noProof="0" dirty="0"/>
          </a:p>
        </p:txBody>
      </p:sp>
      <p:sp>
        <p:nvSpPr>
          <p:cNvPr id="49" name="Text 1">
            <a:extLst>
              <a:ext uri="{FF2B5EF4-FFF2-40B4-BE49-F238E27FC236}">
                <a16:creationId xmlns:a16="http://schemas.microsoft.com/office/drawing/2014/main" id="{D132A07A-6DE6-F35F-03DB-F06AFA9ED22B}"/>
              </a:ext>
            </a:extLst>
          </p:cNvPr>
          <p:cNvSpPr/>
          <p:nvPr/>
        </p:nvSpPr>
        <p:spPr>
          <a:xfrm>
            <a:off x="457200" y="530352"/>
            <a:ext cx="8229600" cy="566928"/>
          </a:xfrm>
          <a:prstGeom prst="rect">
            <a:avLst/>
          </a:prstGeom>
          <a:noFill/>
          <a:ln/>
        </p:spPr>
        <p:txBody>
          <a:bodyPr wrap="square" lIns="0" tIns="0" rIns="0" bIns="0" rtlCol="0" anchor="ctr"/>
          <a:lstStyle/>
          <a:p>
            <a:pPr marL="0" indent="0">
              <a:buNone/>
            </a:pPr>
            <a:endParaRPr lang="en-US" sz="2800" noProof="0" dirty="0"/>
          </a:p>
        </p:txBody>
      </p:sp>
      <p:graphicFrame>
        <p:nvGraphicFramePr>
          <p:cNvPr id="51" name="Table 0">
            <a:extLst>
              <a:ext uri="{FF2B5EF4-FFF2-40B4-BE49-F238E27FC236}">
                <a16:creationId xmlns:a16="http://schemas.microsoft.com/office/drawing/2014/main" id="{FC9BA675-9350-88AA-1BE1-9129CD818EC0}"/>
              </a:ext>
            </a:extLst>
          </p:cNvPr>
          <p:cNvGraphicFramePr>
            <a:graphicFrameLocks noGrp="1"/>
          </p:cNvGraphicFramePr>
          <p:nvPr>
            <p:extLst>
              <p:ext uri="{D42A27DB-BD31-4B8C-83A1-F6EECF244321}">
                <p14:modId xmlns:p14="http://schemas.microsoft.com/office/powerpoint/2010/main" val="575847922"/>
              </p:ext>
            </p:extLst>
          </p:nvPr>
        </p:nvGraphicFramePr>
        <p:xfrm>
          <a:off x="4044177" y="1102482"/>
          <a:ext cx="4642623" cy="1679448"/>
        </p:xfrm>
        <a:graphic>
          <a:graphicData uri="http://schemas.openxmlformats.org/drawingml/2006/table">
            <a:tbl>
              <a:tblPr/>
              <a:tblGrid>
                <a:gridCol w="1455103">
                  <a:extLst>
                    <a:ext uri="{9D8B030D-6E8A-4147-A177-3AD203B41FA5}">
                      <a16:colId xmlns:a16="http://schemas.microsoft.com/office/drawing/2014/main" val="20000"/>
                    </a:ext>
                  </a:extLst>
                </a:gridCol>
                <a:gridCol w="933092">
                  <a:extLst>
                    <a:ext uri="{9D8B030D-6E8A-4147-A177-3AD203B41FA5}">
                      <a16:colId xmlns:a16="http://schemas.microsoft.com/office/drawing/2014/main" val="20001"/>
                    </a:ext>
                  </a:extLst>
                </a:gridCol>
                <a:gridCol w="1063596">
                  <a:extLst>
                    <a:ext uri="{9D8B030D-6E8A-4147-A177-3AD203B41FA5}">
                      <a16:colId xmlns:a16="http://schemas.microsoft.com/office/drawing/2014/main" val="20002"/>
                    </a:ext>
                  </a:extLst>
                </a:gridCol>
                <a:gridCol w="1190832">
                  <a:extLst>
                    <a:ext uri="{9D8B030D-6E8A-4147-A177-3AD203B41FA5}">
                      <a16:colId xmlns:a16="http://schemas.microsoft.com/office/drawing/2014/main" val="20003"/>
                    </a:ext>
                  </a:extLst>
                </a:gridCol>
              </a:tblGrid>
              <a:tr h="313182">
                <a:tc>
                  <a:txBody>
                    <a:bodyP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rPr>
                        <a:t>Channel</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rPr>
                        <a:t>ROI (median)</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marL="0" indent="0" algn="ctr">
                        <a:buNone/>
                      </a:pPr>
                      <a:r>
                        <a:rPr lang="en-US" sz="1100" b="1" noProof="0" dirty="0" err="1">
                          <a:solidFill>
                            <a:srgbClr val="FFFFFF"/>
                          </a:solidFill>
                          <a:latin typeface="Cambria" panose="02040503050406030204" pitchFamily="18" charset="0"/>
                          <a:ea typeface="Cambria" panose="02040503050406030204" pitchFamily="18" charset="0"/>
                        </a:rPr>
                        <a:t>mROI</a:t>
                      </a:r>
                      <a:r>
                        <a:rPr lang="en-US" sz="1100" b="1" noProof="0" dirty="0">
                          <a:solidFill>
                            <a:srgbClr val="FFFFFF"/>
                          </a:solidFill>
                          <a:latin typeface="Cambria" panose="02040503050406030204" pitchFamily="18" charset="0"/>
                          <a:ea typeface="Cambria" panose="02040503050406030204" pitchFamily="18" charset="0"/>
                        </a:rPr>
                        <a:t> (median)</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rPr>
                        <a:t>Status</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13182">
                <a:tc>
                  <a:txBody>
                    <a:bodyPr/>
                    <a:lstStyle/>
                    <a:p>
                      <a:pPr marL="0" indent="0" algn="l">
                        <a:buNone/>
                      </a:pPr>
                      <a:r>
                        <a:rPr lang="en-US" sz="1100" noProof="0" dirty="0">
                          <a:solidFill>
                            <a:srgbClr val="1E293B"/>
                          </a:solidFill>
                          <a:latin typeface="Cambria" panose="02040503050406030204" pitchFamily="18" charset="0"/>
                          <a:ea typeface="Cambria" panose="02040503050406030204" pitchFamily="18" charset="0"/>
                        </a:rPr>
                        <a:t>GOOGLE_DISPLAY</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noProof="0" dirty="0">
                          <a:solidFill>
                            <a:srgbClr val="1E293B"/>
                          </a:solidFill>
                          <a:latin typeface="Cambria" panose="02040503050406030204" pitchFamily="18" charset="0"/>
                          <a:ea typeface="Cambria" panose="02040503050406030204" pitchFamily="18" charset="0"/>
                        </a:rPr>
                        <a:t>2.54</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noProof="0" dirty="0">
                          <a:solidFill>
                            <a:schemeClr val="tx1">
                              <a:lumMod val="50000"/>
                              <a:lumOff val="50000"/>
                            </a:schemeClr>
                          </a:solidFill>
                          <a:latin typeface="Cambria" panose="02040503050406030204" pitchFamily="18" charset="0"/>
                          <a:ea typeface="Cambria" panose="02040503050406030204" pitchFamily="18" charset="0"/>
                        </a:rPr>
                        <a:t>0.87</a:t>
                      </a: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b="1" noProof="0" dirty="0">
                          <a:solidFill>
                            <a:srgbClr val="C9542C"/>
                          </a:solidFill>
                          <a:latin typeface="Cambria" panose="02040503050406030204" pitchFamily="18" charset="0"/>
                          <a:ea typeface="Cambria" panose="02040503050406030204" pitchFamily="18" charset="0"/>
                        </a:rPr>
                        <a:t>Over-invested</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3182">
                <a:tc>
                  <a:txBody>
                    <a:bodyPr/>
                    <a:lstStyle/>
                    <a:p>
                      <a:pPr marL="0" indent="0" algn="l">
                        <a:buNone/>
                      </a:pPr>
                      <a:r>
                        <a:rPr lang="en-US" sz="1100" noProof="0" dirty="0">
                          <a:solidFill>
                            <a:srgbClr val="1E293B"/>
                          </a:solidFill>
                          <a:latin typeface="Cambria" panose="02040503050406030204" pitchFamily="18" charset="0"/>
                          <a:ea typeface="Cambria" panose="02040503050406030204" pitchFamily="18" charset="0"/>
                        </a:rPr>
                        <a:t>META_FACEBOOK</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100" noProof="0" dirty="0">
                          <a:solidFill>
                            <a:srgbClr val="1E293B"/>
                          </a:solidFill>
                          <a:latin typeface="Cambria" panose="02040503050406030204" pitchFamily="18" charset="0"/>
                          <a:ea typeface="Cambria" panose="02040503050406030204" pitchFamily="18" charset="0"/>
                        </a:rPr>
                        <a:t>3.32</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100" b="0" noProof="0" dirty="0">
                          <a:solidFill>
                            <a:srgbClr val="1E293B"/>
                          </a:solidFill>
                          <a:latin typeface="Cambria" panose="02040503050406030204" pitchFamily="18" charset="0"/>
                          <a:ea typeface="Cambria" panose="02040503050406030204" pitchFamily="18" charset="0"/>
                        </a:rPr>
                        <a:t>2.32</a:t>
                      </a:r>
                      <a:endParaRPr lang="en-US" sz="1100" b="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100" b="1" noProof="0" dirty="0">
                          <a:solidFill>
                            <a:srgbClr val="00A896"/>
                          </a:solidFill>
                          <a:latin typeface="Cambria" panose="02040503050406030204" pitchFamily="18" charset="0"/>
                          <a:ea typeface="Cambria" panose="02040503050406030204" pitchFamily="18" charset="0"/>
                        </a:rPr>
                        <a:t>Under-invested</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3182">
                <a:tc>
                  <a:txBody>
                    <a:bodyPr/>
                    <a:lstStyle/>
                    <a:p>
                      <a:pPr marL="0" indent="0" algn="l">
                        <a:buNone/>
                      </a:pPr>
                      <a:r>
                        <a:rPr lang="en-US" sz="1100" noProof="0" dirty="0">
                          <a:solidFill>
                            <a:srgbClr val="1E293B"/>
                          </a:solidFill>
                          <a:latin typeface="Cambria" panose="02040503050406030204" pitchFamily="18" charset="0"/>
                          <a:ea typeface="Cambria" panose="02040503050406030204" pitchFamily="18" charset="0"/>
                        </a:rPr>
                        <a:t>META_INSTAGRAM</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noProof="0" dirty="0">
                          <a:solidFill>
                            <a:schemeClr val="tx1">
                              <a:lumMod val="50000"/>
                              <a:lumOff val="50000"/>
                            </a:schemeClr>
                          </a:solidFill>
                          <a:latin typeface="Cambria" panose="02040503050406030204" pitchFamily="18" charset="0"/>
                          <a:ea typeface="Cambria" panose="02040503050406030204" pitchFamily="18" charset="0"/>
                        </a:rPr>
                        <a:t>2.08</a:t>
                      </a: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noProof="0" dirty="0">
                          <a:solidFill>
                            <a:srgbClr val="1E293B"/>
                          </a:solidFill>
                          <a:latin typeface="Cambria" panose="02040503050406030204" pitchFamily="18" charset="0"/>
                          <a:ea typeface="Cambria" panose="02040503050406030204" pitchFamily="18" charset="0"/>
                        </a:rPr>
                        <a:t>1.57</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b="1" noProof="0" dirty="0">
                          <a:solidFill>
                            <a:srgbClr val="00A896"/>
                          </a:solidFill>
                          <a:latin typeface="Cambria" panose="02040503050406030204" pitchFamily="18" charset="0"/>
                          <a:ea typeface="Cambria" panose="02040503050406030204" pitchFamily="18" charset="0"/>
                        </a:rPr>
                        <a:t>Under-invested</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3182">
                <a:tc>
                  <a:txBody>
                    <a:bodyPr/>
                    <a:lstStyle/>
                    <a:p>
                      <a:pPr marL="0" indent="0" algn="l">
                        <a:buNone/>
                      </a:pPr>
                      <a:r>
                        <a:rPr lang="en-US" sz="1100" noProof="0" dirty="0">
                          <a:solidFill>
                            <a:srgbClr val="1E293B"/>
                          </a:solidFill>
                          <a:latin typeface="Cambria" panose="02040503050406030204" pitchFamily="18" charset="0"/>
                          <a:ea typeface="Cambria" panose="02040503050406030204" pitchFamily="18" charset="0"/>
                        </a:rPr>
                        <a:t>META_OTHER</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100" b="1" noProof="0" dirty="0">
                          <a:solidFill>
                            <a:srgbClr val="1E293B"/>
                          </a:solidFill>
                          <a:latin typeface="Cambria" panose="02040503050406030204" pitchFamily="18" charset="0"/>
                          <a:ea typeface="Cambria" panose="02040503050406030204" pitchFamily="18" charset="0"/>
                        </a:rPr>
                        <a:t>4.97</a:t>
                      </a:r>
                      <a:endParaRPr lang="en-US" sz="1100" b="1"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100" b="1" noProof="0" dirty="0">
                          <a:solidFill>
                            <a:schemeClr val="tx1"/>
                          </a:solidFill>
                          <a:latin typeface="Cambria" panose="02040503050406030204" pitchFamily="18" charset="0"/>
                          <a:ea typeface="Cambria" panose="02040503050406030204" pitchFamily="18" charset="0"/>
                        </a:rPr>
                        <a:t>2.59</a:t>
                      </a: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100" b="1" noProof="0" dirty="0">
                          <a:solidFill>
                            <a:srgbClr val="00A896"/>
                          </a:solidFill>
                          <a:latin typeface="Cambria" panose="02040503050406030204" pitchFamily="18" charset="0"/>
                          <a:ea typeface="Cambria" panose="02040503050406030204" pitchFamily="18" charset="0"/>
                        </a:rPr>
                        <a:t>Under-invested</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3" name="Shape 2">
            <a:extLst>
              <a:ext uri="{FF2B5EF4-FFF2-40B4-BE49-F238E27FC236}">
                <a16:creationId xmlns:a16="http://schemas.microsoft.com/office/drawing/2014/main" id="{F6D16E79-9477-B93F-8B3E-8B483B4FD9AF}"/>
              </a:ext>
            </a:extLst>
          </p:cNvPr>
          <p:cNvSpPr/>
          <p:nvPr/>
        </p:nvSpPr>
        <p:spPr>
          <a:xfrm>
            <a:off x="457200" y="2063012"/>
            <a:ext cx="338328" cy="338328"/>
          </a:xfrm>
          <a:prstGeom prst="ellipse">
            <a:avLst/>
          </a:prstGeom>
          <a:solidFill>
            <a:srgbClr val="CADCFC"/>
          </a:solidFill>
          <a:ln/>
        </p:spPr>
        <p:txBody>
          <a:bodyPr/>
          <a:lstStyle/>
          <a:p>
            <a:endParaRPr lang="en-US" sz="1000" noProof="0" dirty="0">
              <a:latin typeface="Cambria" panose="02040503050406030204" pitchFamily="18" charset="0"/>
              <a:ea typeface="Cambria" panose="02040503050406030204" pitchFamily="18" charset="0"/>
            </a:endParaRPr>
          </a:p>
        </p:txBody>
      </p:sp>
      <p:pic>
        <p:nvPicPr>
          <p:cNvPr id="55" name="Image 0" descr="preencoded.png">
            <a:extLst>
              <a:ext uri="{FF2B5EF4-FFF2-40B4-BE49-F238E27FC236}">
                <a16:creationId xmlns:a16="http://schemas.microsoft.com/office/drawing/2014/main" id="{671A068A-EEF8-4C7C-861B-6BF9861F6EFD}"/>
              </a:ext>
            </a:extLst>
          </p:cNvPr>
          <p:cNvPicPr>
            <a:picLocks noChangeAspect="1"/>
          </p:cNvPicPr>
          <p:nvPr/>
        </p:nvPicPr>
        <p:blipFill>
          <a:blip r:embed="rId3"/>
          <a:stretch>
            <a:fillRect/>
          </a:stretch>
        </p:blipFill>
        <p:spPr>
          <a:xfrm>
            <a:off x="539236" y="2144714"/>
            <a:ext cx="162397" cy="162397"/>
          </a:xfrm>
          <a:prstGeom prst="rect">
            <a:avLst/>
          </a:prstGeom>
        </p:spPr>
      </p:pic>
      <p:sp>
        <p:nvSpPr>
          <p:cNvPr id="57" name="Text 3">
            <a:extLst>
              <a:ext uri="{FF2B5EF4-FFF2-40B4-BE49-F238E27FC236}">
                <a16:creationId xmlns:a16="http://schemas.microsoft.com/office/drawing/2014/main" id="{2218E143-C43B-A1BD-98F4-6C213BAE7C88}"/>
              </a:ext>
            </a:extLst>
          </p:cNvPr>
          <p:cNvSpPr/>
          <p:nvPr/>
        </p:nvSpPr>
        <p:spPr>
          <a:xfrm>
            <a:off x="945771" y="1964534"/>
            <a:ext cx="2486277" cy="1023991"/>
          </a:xfrm>
          <a:prstGeom prst="rect">
            <a:avLst/>
          </a:prstGeom>
          <a:noFill/>
          <a:ln/>
        </p:spPr>
        <p:txBody>
          <a:bodyPr wrap="square" lIns="0" tIns="0" rIns="0" bIns="0" rtlCol="0" anchor="ctr"/>
          <a:lstStyle/>
          <a:p>
            <a:pPr marL="0" indent="0">
              <a:lnSpc>
                <a:spcPct val="115000"/>
              </a:lnSpc>
              <a:buNone/>
            </a:pPr>
            <a:r>
              <a:rPr lang="en-US" sz="1050" b="1" noProof="0" dirty="0">
                <a:latin typeface="Cambria" panose="02040503050406030204" pitchFamily="18" charset="0"/>
                <a:ea typeface="Cambria" panose="02040503050406030204" pitchFamily="18" charset="0"/>
                <a:cs typeface="Calibri" pitchFamily="34" charset="-120"/>
              </a:rPr>
              <a:t>GOOGLE_DISPLAY</a:t>
            </a:r>
            <a:r>
              <a:rPr lang="en-US" sz="1050" noProof="0" dirty="0">
                <a:latin typeface="Cambria" panose="02040503050406030204" pitchFamily="18" charset="0"/>
                <a:ea typeface="Cambria" panose="02040503050406030204" pitchFamily="18" charset="0"/>
                <a:cs typeface="Calibri" pitchFamily="34" charset="-120"/>
              </a:rPr>
              <a:t>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is the only channel with </a:t>
            </a:r>
            <a:r>
              <a:rPr lang="en-US" sz="1050" noProof="0" dirty="0" err="1">
                <a:solidFill>
                  <a:srgbClr val="1E293B"/>
                </a:solidFill>
                <a:latin typeface="Cambria" panose="02040503050406030204" pitchFamily="18" charset="0"/>
                <a:ea typeface="Cambria" panose="02040503050406030204" pitchFamily="18" charset="0"/>
                <a:cs typeface="Calibri" pitchFamily="34" charset="-120"/>
              </a:rPr>
              <a:t>mROI</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 below 1, the clearest signal of saturation and weak marginal efficiency.</a:t>
            </a:r>
            <a:br>
              <a:rPr lang="en-US" sz="1050" noProof="0" dirty="0">
                <a:solidFill>
                  <a:srgbClr val="1E293B"/>
                </a:solidFill>
                <a:latin typeface="Cambria" panose="02040503050406030204" pitchFamily="18" charset="0"/>
                <a:ea typeface="Cambria" panose="02040503050406030204" pitchFamily="18" charset="0"/>
                <a:cs typeface="Calibri" pitchFamily="34" charset="-120"/>
              </a:rPr>
            </a:br>
            <a:r>
              <a:rPr lang="en-US" sz="1050" noProof="0" dirty="0">
                <a:solidFill>
                  <a:srgbClr val="1E293B"/>
                </a:solidFill>
                <a:latin typeface="Cambria" panose="02040503050406030204" pitchFamily="18" charset="0"/>
                <a:ea typeface="Cambria" panose="02040503050406030204" pitchFamily="18" charset="0"/>
                <a:cs typeface="Calibri" pitchFamily="34" charset="-120"/>
              </a:rPr>
              <a:t>This imply that each euro spent on that specific channel compute a net loss.</a:t>
            </a:r>
            <a:endParaRPr lang="en-US" sz="1050" noProof="0" dirty="0">
              <a:latin typeface="Cambria" panose="02040503050406030204" pitchFamily="18" charset="0"/>
              <a:ea typeface="Cambria" panose="02040503050406030204" pitchFamily="18" charset="0"/>
            </a:endParaRPr>
          </a:p>
        </p:txBody>
      </p:sp>
      <p:sp>
        <p:nvSpPr>
          <p:cNvPr id="59" name="Shape 4">
            <a:extLst>
              <a:ext uri="{FF2B5EF4-FFF2-40B4-BE49-F238E27FC236}">
                <a16:creationId xmlns:a16="http://schemas.microsoft.com/office/drawing/2014/main" id="{8414B017-B5F2-191F-3617-6A787D642FD0}"/>
              </a:ext>
            </a:extLst>
          </p:cNvPr>
          <p:cNvSpPr/>
          <p:nvPr/>
        </p:nvSpPr>
        <p:spPr>
          <a:xfrm>
            <a:off x="457200" y="3161780"/>
            <a:ext cx="338328" cy="338328"/>
          </a:xfrm>
          <a:prstGeom prst="ellipse">
            <a:avLst/>
          </a:prstGeom>
          <a:solidFill>
            <a:srgbClr val="AED8E6"/>
          </a:solidFill>
          <a:ln/>
        </p:spPr>
        <p:txBody>
          <a:bodyPr/>
          <a:lstStyle/>
          <a:p>
            <a:endParaRPr lang="en-US" sz="1000" noProof="0" dirty="0">
              <a:latin typeface="Cambria" panose="02040503050406030204" pitchFamily="18" charset="0"/>
              <a:ea typeface="Cambria" panose="02040503050406030204" pitchFamily="18" charset="0"/>
            </a:endParaRPr>
          </a:p>
        </p:txBody>
      </p:sp>
      <p:pic>
        <p:nvPicPr>
          <p:cNvPr id="61" name="Image 1" descr="preencoded.png">
            <a:extLst>
              <a:ext uri="{FF2B5EF4-FFF2-40B4-BE49-F238E27FC236}">
                <a16:creationId xmlns:a16="http://schemas.microsoft.com/office/drawing/2014/main" id="{09F799F1-6826-A9BC-5513-60AE99F5A707}"/>
              </a:ext>
            </a:extLst>
          </p:cNvPr>
          <p:cNvPicPr>
            <a:picLocks noChangeAspect="1"/>
          </p:cNvPicPr>
          <p:nvPr/>
        </p:nvPicPr>
        <p:blipFill>
          <a:blip r:embed="rId4"/>
          <a:stretch>
            <a:fillRect/>
          </a:stretch>
        </p:blipFill>
        <p:spPr>
          <a:xfrm>
            <a:off x="544850" y="3250172"/>
            <a:ext cx="169534" cy="169534"/>
          </a:xfrm>
          <a:prstGeom prst="rect">
            <a:avLst/>
          </a:prstGeom>
        </p:spPr>
      </p:pic>
      <p:sp>
        <p:nvSpPr>
          <p:cNvPr id="63" name="Text 5">
            <a:extLst>
              <a:ext uri="{FF2B5EF4-FFF2-40B4-BE49-F238E27FC236}">
                <a16:creationId xmlns:a16="http://schemas.microsoft.com/office/drawing/2014/main" id="{307BDA1F-D0B1-66D2-3616-268A7A0E7BC8}"/>
              </a:ext>
            </a:extLst>
          </p:cNvPr>
          <p:cNvSpPr/>
          <p:nvPr/>
        </p:nvSpPr>
        <p:spPr>
          <a:xfrm>
            <a:off x="945771" y="3112639"/>
            <a:ext cx="2486277" cy="1414755"/>
          </a:xfrm>
          <a:prstGeom prst="rect">
            <a:avLst/>
          </a:prstGeom>
          <a:noFill/>
          <a:ln/>
        </p:spPr>
        <p:txBody>
          <a:bodyPr wrap="square" lIns="0" tIns="0" rIns="0" bIns="0" rtlCol="0" anchor="ctr"/>
          <a:lstStyle/>
          <a:p>
            <a:pPr marL="0" indent="0">
              <a:lnSpc>
                <a:spcPct val="115000"/>
              </a:lnSpc>
              <a:buNone/>
            </a:pPr>
            <a:r>
              <a:rPr lang="en-US" sz="1050" b="1" noProof="0" dirty="0">
                <a:solidFill>
                  <a:srgbClr val="1E2761"/>
                </a:solidFill>
                <a:latin typeface="Cambria" panose="02040503050406030204" pitchFamily="18" charset="0"/>
                <a:ea typeface="Cambria" panose="02040503050406030204" pitchFamily="18" charset="0"/>
                <a:cs typeface="Calibri" pitchFamily="34" charset="-120"/>
              </a:rPr>
              <a:t>META_OTHER</a:t>
            </a:r>
            <a:r>
              <a:rPr lang="en-US" sz="1050" noProof="0" dirty="0">
                <a:solidFill>
                  <a:srgbClr val="1E2761"/>
                </a:solidFill>
                <a:latin typeface="Cambria" panose="02040503050406030204" pitchFamily="18" charset="0"/>
                <a:ea typeface="Cambria" panose="02040503050406030204" pitchFamily="18" charset="0"/>
                <a:cs typeface="Calibri" pitchFamily="34" charset="-120"/>
              </a:rPr>
              <a:t>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leads on both ROI and </a:t>
            </a:r>
            <a:r>
              <a:rPr lang="en-US" sz="1050" noProof="0" dirty="0" err="1">
                <a:solidFill>
                  <a:srgbClr val="1E293B"/>
                </a:solidFill>
                <a:latin typeface="Cambria" panose="02040503050406030204" pitchFamily="18" charset="0"/>
                <a:ea typeface="Cambria" panose="02040503050406030204" pitchFamily="18" charset="0"/>
                <a:cs typeface="Calibri" pitchFamily="34" charset="-120"/>
              </a:rPr>
              <a:t>mROI</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 the strongest candidate for additional efficient spend, probably also because is the lowest spending channel. </a:t>
            </a:r>
            <a:r>
              <a:rPr lang="en-US" sz="1050" b="1" noProof="0" dirty="0">
                <a:solidFill>
                  <a:srgbClr val="1E2761"/>
                </a:solidFill>
                <a:latin typeface="Cambria" panose="02040503050406030204" pitchFamily="18" charset="0"/>
                <a:ea typeface="Cambria" panose="02040503050406030204" pitchFamily="18" charset="0"/>
                <a:cs typeface="Calibri" pitchFamily="34" charset="-120"/>
              </a:rPr>
              <a:t>META_FACEBOOK</a:t>
            </a:r>
            <a:r>
              <a:rPr lang="en-US" sz="1050" noProof="0" dirty="0">
                <a:solidFill>
                  <a:srgbClr val="1E2761"/>
                </a:solidFill>
                <a:latin typeface="Cambria" panose="02040503050406030204" pitchFamily="18" charset="0"/>
                <a:ea typeface="Cambria" panose="02040503050406030204" pitchFamily="18" charset="0"/>
                <a:cs typeface="Calibri" pitchFamily="34" charset="-120"/>
              </a:rPr>
              <a:t>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and </a:t>
            </a:r>
            <a:r>
              <a:rPr lang="en-US" sz="1050" b="1" noProof="0" dirty="0">
                <a:solidFill>
                  <a:srgbClr val="1E2761"/>
                </a:solidFill>
                <a:latin typeface="Cambria" panose="02040503050406030204" pitchFamily="18" charset="0"/>
                <a:ea typeface="Cambria" panose="02040503050406030204" pitchFamily="18" charset="0"/>
                <a:cs typeface="Calibri" pitchFamily="34" charset="-120"/>
              </a:rPr>
              <a:t>META_INSTAGRAM</a:t>
            </a:r>
            <a:r>
              <a:rPr lang="en-US" sz="1050" noProof="0" dirty="0">
                <a:solidFill>
                  <a:srgbClr val="1E2761"/>
                </a:solidFill>
                <a:latin typeface="Cambria" panose="02040503050406030204" pitchFamily="18" charset="0"/>
                <a:ea typeface="Cambria" panose="02040503050406030204" pitchFamily="18" charset="0"/>
                <a:cs typeface="Calibri" pitchFamily="34" charset="-120"/>
              </a:rPr>
              <a:t>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stay above break-even, so both still have room to grow.</a:t>
            </a:r>
            <a:endParaRPr lang="en-US" sz="1050" noProof="0" dirty="0">
              <a:latin typeface="Cambria" panose="02040503050406030204" pitchFamily="18" charset="0"/>
              <a:ea typeface="Cambria" panose="02040503050406030204" pitchFamily="18" charset="0"/>
            </a:endParaRPr>
          </a:p>
        </p:txBody>
      </p:sp>
      <p:sp>
        <p:nvSpPr>
          <p:cNvPr id="67" name="Text 7">
            <a:extLst>
              <a:ext uri="{FF2B5EF4-FFF2-40B4-BE49-F238E27FC236}">
                <a16:creationId xmlns:a16="http://schemas.microsoft.com/office/drawing/2014/main" id="{A42060BF-9617-1770-E654-B30AFCEAF606}"/>
              </a:ext>
            </a:extLst>
          </p:cNvPr>
          <p:cNvSpPr/>
          <p:nvPr/>
        </p:nvSpPr>
        <p:spPr>
          <a:xfrm>
            <a:off x="8412480" y="4882896"/>
            <a:ext cx="365760" cy="228600"/>
          </a:xfrm>
          <a:prstGeom prst="rect">
            <a:avLst/>
          </a:prstGeom>
          <a:noFill/>
          <a:ln/>
        </p:spPr>
        <p:txBody>
          <a:bodyPr wrap="square" lIns="0" tIns="0" rIns="0" bIns="0" rtlCol="0" anchor="ctr"/>
          <a:lstStyle/>
          <a:p>
            <a:pPr marL="0" indent="0" algn="r">
              <a:buNone/>
            </a:pPr>
            <a:r>
              <a:rPr lang="en-US" sz="900" noProof="0" dirty="0">
                <a:solidFill>
                  <a:srgbClr val="64748B"/>
                </a:solidFill>
                <a:latin typeface="Calibri" pitchFamily="34" charset="0"/>
                <a:ea typeface="Calibri" pitchFamily="34" charset="-122"/>
                <a:cs typeface="Calibri" pitchFamily="34" charset="-120"/>
              </a:rPr>
              <a:t>7</a:t>
            </a:r>
            <a:endParaRPr lang="en-US" sz="900" noProof="0" dirty="0"/>
          </a:p>
        </p:txBody>
      </p:sp>
      <p:sp>
        <p:nvSpPr>
          <p:cNvPr id="5" name="CasellaDiTesto 4">
            <a:extLst>
              <a:ext uri="{FF2B5EF4-FFF2-40B4-BE49-F238E27FC236}">
                <a16:creationId xmlns:a16="http://schemas.microsoft.com/office/drawing/2014/main" id="{905B9192-4DC7-DB6D-3342-22B3C93A3C27}"/>
              </a:ext>
            </a:extLst>
          </p:cNvPr>
          <p:cNvSpPr txBox="1"/>
          <p:nvPr/>
        </p:nvSpPr>
        <p:spPr>
          <a:xfrm>
            <a:off x="451995" y="1058255"/>
            <a:ext cx="3157283" cy="794769"/>
          </a:xfrm>
          <a:prstGeom prst="rect">
            <a:avLst/>
          </a:prstGeom>
          <a:noFill/>
        </p:spPr>
        <p:txBody>
          <a:bodyPr wrap="square">
            <a:spAutoFit/>
          </a:bodyPr>
          <a:lstStyle/>
          <a:p>
            <a:pPr>
              <a:lnSpc>
                <a:spcPts val="1425"/>
              </a:lnSpc>
              <a:buNone/>
            </a:pPr>
            <a:r>
              <a:rPr lang="en-US" sz="1050" b="0" noProof="0" dirty="0">
                <a:effectLst/>
                <a:latin typeface="Cambria" panose="02040503050406030204" pitchFamily="18" charset="0"/>
                <a:ea typeface="Cambria" panose="02040503050406030204" pitchFamily="18" charset="0"/>
              </a:rPr>
              <a:t>All channels show </a:t>
            </a:r>
            <a:r>
              <a:rPr lang="en-US" sz="1050" b="0" noProof="0" dirty="0" err="1">
                <a:effectLst/>
                <a:latin typeface="Cambria" panose="02040503050406030204" pitchFamily="18" charset="0"/>
                <a:ea typeface="Cambria" panose="02040503050406030204" pitchFamily="18" charset="0"/>
              </a:rPr>
              <a:t>mROI</a:t>
            </a:r>
            <a:r>
              <a:rPr lang="en-US" sz="1050" b="0" noProof="0" dirty="0">
                <a:effectLst/>
                <a:latin typeface="Cambria" panose="02040503050406030204" pitchFamily="18" charset="0"/>
                <a:ea typeface="Cambria" panose="02040503050406030204" pitchFamily="18" charset="0"/>
              </a:rPr>
              <a:t> &lt; ROI, which is the expected </a:t>
            </a:r>
            <a:r>
              <a:rPr lang="en-US" sz="1050" b="0" noProof="0" dirty="0" err="1">
                <a:effectLst/>
                <a:latin typeface="Cambria" panose="02040503050406030204" pitchFamily="18" charset="0"/>
                <a:ea typeface="Cambria" panose="02040503050406030204" pitchFamily="18" charset="0"/>
              </a:rPr>
              <a:t>behaviour</a:t>
            </a:r>
            <a:r>
              <a:rPr lang="en-US" sz="1050" b="0" noProof="0" dirty="0">
                <a:effectLst/>
                <a:latin typeface="Cambria" panose="02040503050406030204" pitchFamily="18" charset="0"/>
                <a:ea typeface="Cambria" panose="02040503050406030204" pitchFamily="18" charset="0"/>
              </a:rPr>
              <a:t> under diminishing returns. This means that the last euro spent on each channel generates less revenue than the historical average. </a:t>
            </a:r>
          </a:p>
        </p:txBody>
      </p:sp>
      <p:sp>
        <p:nvSpPr>
          <p:cNvPr id="7" name="CasellaDiTesto 6">
            <a:extLst>
              <a:ext uri="{FF2B5EF4-FFF2-40B4-BE49-F238E27FC236}">
                <a16:creationId xmlns:a16="http://schemas.microsoft.com/office/drawing/2014/main" id="{0EED7A99-7C4D-2B35-160E-EC16D324C5DB}"/>
              </a:ext>
            </a:extLst>
          </p:cNvPr>
          <p:cNvSpPr txBox="1"/>
          <p:nvPr/>
        </p:nvSpPr>
        <p:spPr>
          <a:xfrm>
            <a:off x="4044176" y="2912181"/>
            <a:ext cx="4642623" cy="819840"/>
          </a:xfrm>
          <a:prstGeom prst="rect">
            <a:avLst/>
          </a:prstGeom>
          <a:noFill/>
        </p:spPr>
        <p:txBody>
          <a:bodyPr wrap="square">
            <a:spAutoFit/>
          </a:bodyPr>
          <a:lstStyle/>
          <a:p>
            <a:pPr>
              <a:lnSpc>
                <a:spcPct val="115000"/>
              </a:lnSpc>
            </a:pPr>
            <a:r>
              <a:rPr lang="en-US" sz="1050" noProof="0" dirty="0">
                <a:latin typeface="Cambria" panose="02040503050406030204" pitchFamily="18" charset="0"/>
                <a:ea typeface="Cambria" panose="02040503050406030204" pitchFamily="18" charset="0"/>
                <a:cs typeface="Calibri" pitchFamily="34" charset="-120"/>
              </a:rPr>
              <a:t>An efficient reallocation would shift budget from `GOOGLE_DISPLAY` toward the Meta channels, particularly `META_OTHER` which shows the highest </a:t>
            </a:r>
            <a:r>
              <a:rPr lang="en-US" sz="1050" noProof="0" dirty="0" err="1">
                <a:latin typeface="Cambria" panose="02040503050406030204" pitchFamily="18" charset="0"/>
                <a:ea typeface="Cambria" panose="02040503050406030204" pitchFamily="18" charset="0"/>
                <a:cs typeface="Calibri" pitchFamily="34" charset="-120"/>
              </a:rPr>
              <a:t>mROI</a:t>
            </a:r>
            <a:r>
              <a:rPr lang="en-US" sz="1050" noProof="0" dirty="0">
                <a:latin typeface="Cambria" panose="02040503050406030204" pitchFamily="18" charset="0"/>
                <a:ea typeface="Cambria" panose="02040503050406030204" pitchFamily="18" charset="0"/>
                <a:cs typeface="Calibri" pitchFamily="34" charset="-120"/>
              </a:rPr>
              <a:t> (2.59) and the highest ROI (4.97), indicating it is both the most efficient channel historically and still has room for further investment.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7A6EFE11-C25A-C841-62D6-0C945C3F4406}"/>
              </a:ext>
            </a:extLst>
          </p:cNvPr>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200" noProof="0" dirty="0">
                <a:solidFill>
                  <a:srgbClr val="028090"/>
                </a:solidFill>
                <a:latin typeface="Calibri" pitchFamily="34" charset="0"/>
                <a:ea typeface="Calibri" pitchFamily="34" charset="-122"/>
                <a:cs typeface="Calibri" pitchFamily="34" charset="-120"/>
              </a:rPr>
              <a:t>EXPLAINABILITY</a:t>
            </a:r>
            <a:endParaRPr lang="en-US" sz="1200" noProof="0" dirty="0"/>
          </a:p>
        </p:txBody>
      </p:sp>
      <p:sp>
        <p:nvSpPr>
          <p:cNvPr id="5" name="Text 1">
            <a:extLst>
              <a:ext uri="{FF2B5EF4-FFF2-40B4-BE49-F238E27FC236}">
                <a16:creationId xmlns:a16="http://schemas.microsoft.com/office/drawing/2014/main" id="{5C518812-1BFB-C928-0F43-E7C7CD0EE5AF}"/>
              </a:ext>
            </a:extLst>
          </p:cNvPr>
          <p:cNvSpPr/>
          <p:nvPr/>
        </p:nvSpPr>
        <p:spPr>
          <a:xfrm>
            <a:off x="457200" y="742197"/>
            <a:ext cx="8229600" cy="566928"/>
          </a:xfrm>
          <a:prstGeom prst="rect">
            <a:avLst/>
          </a:prstGeom>
          <a:noFill/>
          <a:ln/>
        </p:spPr>
        <p:txBody>
          <a:bodyPr wrap="square" lIns="0" tIns="0" rIns="0" bIns="0" rtlCol="0" anchor="ctr"/>
          <a:lstStyle/>
          <a:p>
            <a:pPr marL="0" indent="0">
              <a:buNone/>
            </a:pPr>
            <a:endParaRPr lang="en-US" sz="2800" noProof="0" dirty="0">
              <a:latin typeface="Cambria" panose="02040503050406030204" pitchFamily="18" charset="0"/>
              <a:ea typeface="Cambria" panose="02040503050406030204" pitchFamily="18" charset="0"/>
            </a:endParaRPr>
          </a:p>
        </p:txBody>
      </p:sp>
      <p:sp>
        <p:nvSpPr>
          <p:cNvPr id="9" name="Shape 3">
            <a:extLst>
              <a:ext uri="{FF2B5EF4-FFF2-40B4-BE49-F238E27FC236}">
                <a16:creationId xmlns:a16="http://schemas.microsoft.com/office/drawing/2014/main" id="{311CD837-650E-9B0B-EAD5-26075DCF844D}"/>
              </a:ext>
            </a:extLst>
          </p:cNvPr>
          <p:cNvSpPr/>
          <p:nvPr/>
        </p:nvSpPr>
        <p:spPr>
          <a:xfrm>
            <a:off x="457200" y="1368998"/>
            <a:ext cx="3390900" cy="786384"/>
          </a:xfrm>
          <a:prstGeom prst="roundRect">
            <a:avLst>
              <a:gd name="adj" fmla="val 6957"/>
            </a:avLst>
          </a:prstGeom>
          <a:solidFill>
            <a:srgbClr val="CADCFC"/>
          </a:solidFill>
          <a:ln>
            <a:solidFill>
              <a:srgbClr val="1E2761"/>
            </a:solidFill>
          </a:ln>
          <a:effectLst>
            <a:outerShdw blurRad="127000" dist="38100" dir="5400000" algn="bl" rotWithShape="0">
              <a:srgbClr val="0B3D3F">
                <a:alpha val="10000"/>
              </a:srgbClr>
            </a:outerShdw>
          </a:effectLst>
        </p:spPr>
        <p:txBody>
          <a:bodyPr/>
          <a:lstStyle/>
          <a:p>
            <a:endParaRPr lang="en-US" sz="1400" noProof="0" dirty="0">
              <a:latin typeface="Cambria" panose="02040503050406030204" pitchFamily="18" charset="0"/>
              <a:ea typeface="Cambria" panose="02040503050406030204" pitchFamily="18" charset="0"/>
            </a:endParaRPr>
          </a:p>
        </p:txBody>
      </p:sp>
      <p:sp>
        <p:nvSpPr>
          <p:cNvPr id="11" name="Shape 4">
            <a:extLst>
              <a:ext uri="{FF2B5EF4-FFF2-40B4-BE49-F238E27FC236}">
                <a16:creationId xmlns:a16="http://schemas.microsoft.com/office/drawing/2014/main" id="{0922752D-D5FB-3FFA-63A5-5B612F56925C}"/>
              </a:ext>
            </a:extLst>
          </p:cNvPr>
          <p:cNvSpPr/>
          <p:nvPr/>
        </p:nvSpPr>
        <p:spPr>
          <a:xfrm>
            <a:off x="621792" y="1570166"/>
            <a:ext cx="462827" cy="462827"/>
          </a:xfrm>
          <a:prstGeom prst="ellipse">
            <a:avLst/>
          </a:prstGeom>
          <a:solidFill>
            <a:srgbClr val="FFFFFF"/>
          </a:solidFill>
          <a:ln/>
        </p:spPr>
        <p:txBody>
          <a:bodyPr/>
          <a:lstStyle/>
          <a:p>
            <a:endParaRPr lang="en-US" noProof="0" dirty="0">
              <a:latin typeface="Cambria" panose="02040503050406030204" pitchFamily="18" charset="0"/>
              <a:ea typeface="Cambria" panose="02040503050406030204" pitchFamily="18" charset="0"/>
            </a:endParaRPr>
          </a:p>
        </p:txBody>
      </p:sp>
      <p:pic>
        <p:nvPicPr>
          <p:cNvPr id="13" name="Image 0" descr="preencoded.png">
            <a:extLst>
              <a:ext uri="{FF2B5EF4-FFF2-40B4-BE49-F238E27FC236}">
                <a16:creationId xmlns:a16="http://schemas.microsoft.com/office/drawing/2014/main" id="{FDEDCD1D-BCC4-BC91-4653-038CC74D22EA}"/>
              </a:ext>
            </a:extLst>
          </p:cNvPr>
          <p:cNvPicPr>
            <a:picLocks noChangeAspect="1"/>
          </p:cNvPicPr>
          <p:nvPr/>
        </p:nvPicPr>
        <p:blipFill>
          <a:blip r:embed="rId3"/>
          <a:stretch>
            <a:fillRect/>
          </a:stretch>
        </p:blipFill>
        <p:spPr>
          <a:xfrm>
            <a:off x="736600" y="1705975"/>
            <a:ext cx="222157" cy="222157"/>
          </a:xfrm>
          <a:prstGeom prst="rect">
            <a:avLst/>
          </a:prstGeom>
        </p:spPr>
      </p:pic>
      <p:sp>
        <p:nvSpPr>
          <p:cNvPr id="15" name="Text 5">
            <a:extLst>
              <a:ext uri="{FF2B5EF4-FFF2-40B4-BE49-F238E27FC236}">
                <a16:creationId xmlns:a16="http://schemas.microsoft.com/office/drawing/2014/main" id="{25496FF2-5300-8F7B-BC5B-66BB9156B09C}"/>
              </a:ext>
            </a:extLst>
          </p:cNvPr>
          <p:cNvSpPr/>
          <p:nvPr/>
        </p:nvSpPr>
        <p:spPr>
          <a:xfrm>
            <a:off x="1214120" y="1441134"/>
            <a:ext cx="2133600" cy="320040"/>
          </a:xfrm>
          <a:prstGeom prst="rect">
            <a:avLst/>
          </a:prstGeom>
          <a:noFill/>
          <a:ln/>
        </p:spPr>
        <p:txBody>
          <a:bodyPr wrap="square" lIns="0" tIns="0" rIns="0" bIns="0" rtlCol="0" anchor="ctr"/>
          <a:lstStyle/>
          <a:p>
            <a:pPr marL="0" indent="0">
              <a:buNone/>
            </a:pPr>
            <a:r>
              <a:rPr lang="en-US" sz="1250" b="1" noProof="0" dirty="0">
                <a:solidFill>
                  <a:srgbClr val="1E293B"/>
                </a:solidFill>
                <a:latin typeface="Cambria" panose="02040503050406030204" pitchFamily="18" charset="0"/>
                <a:ea typeface="Cambria" panose="02040503050406030204" pitchFamily="18" charset="0"/>
                <a:cs typeface="Calibri" pitchFamily="34" charset="-120"/>
              </a:rPr>
              <a:t>Channel-Level Contributions</a:t>
            </a:r>
            <a:endParaRPr lang="en-US" sz="1250" noProof="0" dirty="0">
              <a:latin typeface="Cambria" panose="02040503050406030204" pitchFamily="18" charset="0"/>
              <a:ea typeface="Cambria" panose="02040503050406030204" pitchFamily="18" charset="0"/>
            </a:endParaRPr>
          </a:p>
        </p:txBody>
      </p:sp>
      <p:sp>
        <p:nvSpPr>
          <p:cNvPr id="17" name="Text 6">
            <a:extLst>
              <a:ext uri="{FF2B5EF4-FFF2-40B4-BE49-F238E27FC236}">
                <a16:creationId xmlns:a16="http://schemas.microsoft.com/office/drawing/2014/main" id="{70ECE4A9-D40C-269E-5B99-C5584A21059F}"/>
              </a:ext>
            </a:extLst>
          </p:cNvPr>
          <p:cNvSpPr/>
          <p:nvPr/>
        </p:nvSpPr>
        <p:spPr>
          <a:xfrm>
            <a:off x="1214120" y="1714860"/>
            <a:ext cx="2692400" cy="320040"/>
          </a:xfrm>
          <a:prstGeom prst="rect">
            <a:avLst/>
          </a:prstGeom>
          <a:noFill/>
          <a:ln/>
        </p:spPr>
        <p:txBody>
          <a:bodyPr wrap="square" lIns="0" tIns="0" rIns="0" bIns="0" rtlCol="0" anchor="ctr"/>
          <a:lstStyle/>
          <a:p>
            <a:pPr marL="0" indent="0">
              <a:lnSpc>
                <a:spcPct val="115000"/>
              </a:lnSpc>
              <a:buNone/>
            </a:pPr>
            <a:r>
              <a:rPr lang="en-US" sz="1000" noProof="0" dirty="0">
                <a:solidFill>
                  <a:srgbClr val="64748B"/>
                </a:solidFill>
                <a:latin typeface="Cambria" panose="02040503050406030204" pitchFamily="18" charset="0"/>
                <a:ea typeface="Cambria" panose="02040503050406030204" pitchFamily="18" charset="0"/>
                <a:cs typeface="Calibri" pitchFamily="34" charset="-120"/>
              </a:rPr>
              <a:t>Extracts each channel's estimated share of revenue from the fitted Meridian model</a:t>
            </a:r>
            <a:endParaRPr lang="en-US" sz="1000" noProof="0" dirty="0">
              <a:latin typeface="Cambria" panose="02040503050406030204" pitchFamily="18" charset="0"/>
              <a:ea typeface="Cambria" panose="02040503050406030204" pitchFamily="18" charset="0"/>
            </a:endParaRPr>
          </a:p>
        </p:txBody>
      </p:sp>
      <p:sp>
        <p:nvSpPr>
          <p:cNvPr id="65" name="Shape 0">
            <a:extLst>
              <a:ext uri="{FF2B5EF4-FFF2-40B4-BE49-F238E27FC236}">
                <a16:creationId xmlns:a16="http://schemas.microsoft.com/office/drawing/2014/main" id="{DA9EBD5A-D78F-FA03-307E-06EF0E3749E1}"/>
              </a:ext>
            </a:extLst>
          </p:cNvPr>
          <p:cNvSpPr/>
          <p:nvPr/>
        </p:nvSpPr>
        <p:spPr>
          <a:xfrm>
            <a:off x="0" y="-1984"/>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67" name="Text 1">
            <a:extLst>
              <a:ext uri="{FF2B5EF4-FFF2-40B4-BE49-F238E27FC236}">
                <a16:creationId xmlns:a16="http://schemas.microsoft.com/office/drawing/2014/main" id="{D3E6A209-1E88-7360-DA43-600CD24D0D6E}"/>
              </a:ext>
            </a:extLst>
          </p:cNvPr>
          <p:cNvSpPr/>
          <p:nvPr/>
        </p:nvSpPr>
        <p:spPr>
          <a:xfrm>
            <a:off x="274319" y="299768"/>
            <a:ext cx="7412588" cy="347472"/>
          </a:xfrm>
          <a:prstGeom prst="rect">
            <a:avLst/>
          </a:prstGeom>
          <a:noFill/>
          <a:ln/>
        </p:spPr>
        <p:txBody>
          <a:bodyPr wrap="square" lIns="0" tIns="0" rIns="0" bIns="0" rtlCol="0" anchor="ctr"/>
          <a:lstStyle/>
          <a:p>
            <a:pPr marL="0" indent="0" algn="l">
              <a:buNone/>
            </a:pPr>
            <a:r>
              <a:rPr lang="en-US" sz="2800" b="1" noProof="0" dirty="0">
                <a:solidFill>
                  <a:srgbClr val="FFFFFF"/>
                </a:solidFill>
                <a:latin typeface="EucrosiaUPC" panose="02020603050405020304" pitchFamily="18" charset="-34"/>
                <a:ea typeface="Cambria" pitchFamily="34" charset="-122"/>
                <a:cs typeface="EucrosiaUPC" panose="02020603050405020304" pitchFamily="18" charset="-34"/>
              </a:rPr>
              <a:t>5. SHAP - Style Contribution Analysis </a:t>
            </a:r>
          </a:p>
        </p:txBody>
      </p:sp>
      <p:sp>
        <p:nvSpPr>
          <p:cNvPr id="69" name="Shape 1">
            <a:extLst>
              <a:ext uri="{FF2B5EF4-FFF2-40B4-BE49-F238E27FC236}">
                <a16:creationId xmlns:a16="http://schemas.microsoft.com/office/drawing/2014/main" id="{9C938AF0-EB58-8B68-DA7C-EE04F8AFC6BA}"/>
              </a:ext>
            </a:extLst>
          </p:cNvPr>
          <p:cNvSpPr/>
          <p:nvPr/>
        </p:nvSpPr>
        <p:spPr>
          <a:xfrm>
            <a:off x="8366760" y="124977"/>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71" name="Text 2">
            <a:extLst>
              <a:ext uri="{FF2B5EF4-FFF2-40B4-BE49-F238E27FC236}">
                <a16:creationId xmlns:a16="http://schemas.microsoft.com/office/drawing/2014/main" id="{55F783A9-4BCC-F0F1-D5EF-2F90734521F7}"/>
              </a:ext>
            </a:extLst>
          </p:cNvPr>
          <p:cNvSpPr/>
          <p:nvPr/>
        </p:nvSpPr>
        <p:spPr>
          <a:xfrm>
            <a:off x="8366760" y="124977"/>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07</a:t>
            </a:r>
            <a:endParaRPr lang="en-US" sz="1300" noProof="0" dirty="0"/>
          </a:p>
        </p:txBody>
      </p:sp>
      <p:sp>
        <p:nvSpPr>
          <p:cNvPr id="73" name="Text 0">
            <a:extLst>
              <a:ext uri="{FF2B5EF4-FFF2-40B4-BE49-F238E27FC236}">
                <a16:creationId xmlns:a16="http://schemas.microsoft.com/office/drawing/2014/main" id="{C92283E8-FB63-65AD-FDA8-BE7F110D5026}"/>
              </a:ext>
            </a:extLst>
          </p:cNvPr>
          <p:cNvSpPr/>
          <p:nvPr/>
        </p:nvSpPr>
        <p:spPr>
          <a:xfrm>
            <a:off x="274319" y="40219"/>
            <a:ext cx="1055077"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TASK 5 </a:t>
            </a:r>
            <a:endParaRPr lang="en-US" sz="900" noProof="0" dirty="0"/>
          </a:p>
        </p:txBody>
      </p:sp>
      <p:sp>
        <p:nvSpPr>
          <p:cNvPr id="75" name="Text 0">
            <a:extLst>
              <a:ext uri="{FF2B5EF4-FFF2-40B4-BE49-F238E27FC236}">
                <a16:creationId xmlns:a16="http://schemas.microsoft.com/office/drawing/2014/main" id="{F4F60EF8-7631-E064-FDAF-E702E4CBE19C}"/>
              </a:ext>
            </a:extLst>
          </p:cNvPr>
          <p:cNvSpPr/>
          <p:nvPr/>
        </p:nvSpPr>
        <p:spPr>
          <a:xfrm>
            <a:off x="457200" y="290624"/>
            <a:ext cx="8229600" cy="274320"/>
          </a:xfrm>
          <a:prstGeom prst="rect">
            <a:avLst/>
          </a:prstGeom>
          <a:noFill/>
          <a:ln/>
        </p:spPr>
        <p:txBody>
          <a:bodyPr wrap="square" lIns="0" tIns="0" rIns="0" bIns="0" rtlCol="0" anchor="ctr"/>
          <a:lstStyle/>
          <a:p>
            <a:pPr marL="0" indent="0">
              <a:buNone/>
            </a:pPr>
            <a:endParaRPr lang="en-US" sz="1200" noProof="0" dirty="0"/>
          </a:p>
        </p:txBody>
      </p:sp>
      <p:sp>
        <p:nvSpPr>
          <p:cNvPr id="4" name="Shape 3">
            <a:extLst>
              <a:ext uri="{FF2B5EF4-FFF2-40B4-BE49-F238E27FC236}">
                <a16:creationId xmlns:a16="http://schemas.microsoft.com/office/drawing/2014/main" id="{50EF21BB-4AFC-FCED-206B-867EA7E9B229}"/>
              </a:ext>
            </a:extLst>
          </p:cNvPr>
          <p:cNvSpPr/>
          <p:nvPr/>
        </p:nvSpPr>
        <p:spPr>
          <a:xfrm>
            <a:off x="457200" y="2215674"/>
            <a:ext cx="3390900" cy="786384"/>
          </a:xfrm>
          <a:prstGeom prst="roundRect">
            <a:avLst>
              <a:gd name="adj" fmla="val 6957"/>
            </a:avLst>
          </a:prstGeom>
          <a:solidFill>
            <a:srgbClr val="CADCFC"/>
          </a:solidFill>
          <a:ln>
            <a:solidFill>
              <a:srgbClr val="1E2761"/>
            </a:solidFill>
          </a:ln>
          <a:effectLst>
            <a:outerShdw blurRad="127000" dist="38100" dir="5400000" algn="bl" rotWithShape="0">
              <a:srgbClr val="0B3D3F">
                <a:alpha val="10000"/>
              </a:srgbClr>
            </a:outerShdw>
          </a:effectLst>
        </p:spPr>
        <p:txBody>
          <a:bodyPr/>
          <a:lstStyle/>
          <a:p>
            <a:endParaRPr lang="en-US" sz="1400" noProof="0" dirty="0">
              <a:latin typeface="Cambria" panose="02040503050406030204" pitchFamily="18" charset="0"/>
              <a:ea typeface="Cambria" panose="02040503050406030204" pitchFamily="18" charset="0"/>
            </a:endParaRPr>
          </a:p>
        </p:txBody>
      </p:sp>
      <p:sp>
        <p:nvSpPr>
          <p:cNvPr id="8" name="Shape 4">
            <a:extLst>
              <a:ext uri="{FF2B5EF4-FFF2-40B4-BE49-F238E27FC236}">
                <a16:creationId xmlns:a16="http://schemas.microsoft.com/office/drawing/2014/main" id="{B2615C1E-E012-022A-22DA-694DB5A5006A}"/>
              </a:ext>
            </a:extLst>
          </p:cNvPr>
          <p:cNvSpPr/>
          <p:nvPr/>
        </p:nvSpPr>
        <p:spPr>
          <a:xfrm>
            <a:off x="621792" y="2416842"/>
            <a:ext cx="462827" cy="462827"/>
          </a:xfrm>
          <a:prstGeom prst="ellipse">
            <a:avLst/>
          </a:prstGeom>
          <a:solidFill>
            <a:srgbClr val="FFFFFF"/>
          </a:solidFill>
          <a:ln/>
        </p:spPr>
        <p:txBody>
          <a:bodyPr/>
          <a:lstStyle/>
          <a:p>
            <a:endParaRPr lang="en-US" noProof="0" dirty="0">
              <a:latin typeface="Cambria" panose="02040503050406030204" pitchFamily="18" charset="0"/>
              <a:ea typeface="Cambria" panose="02040503050406030204" pitchFamily="18" charset="0"/>
            </a:endParaRPr>
          </a:p>
        </p:txBody>
      </p:sp>
      <p:sp>
        <p:nvSpPr>
          <p:cNvPr id="16" name="Text 5">
            <a:extLst>
              <a:ext uri="{FF2B5EF4-FFF2-40B4-BE49-F238E27FC236}">
                <a16:creationId xmlns:a16="http://schemas.microsoft.com/office/drawing/2014/main" id="{54A0D197-4AAA-28F8-1C50-DB0A60A0AE59}"/>
              </a:ext>
            </a:extLst>
          </p:cNvPr>
          <p:cNvSpPr/>
          <p:nvPr/>
        </p:nvSpPr>
        <p:spPr>
          <a:xfrm>
            <a:off x="1214120" y="2287810"/>
            <a:ext cx="2367280" cy="320040"/>
          </a:xfrm>
          <a:prstGeom prst="rect">
            <a:avLst/>
          </a:prstGeom>
          <a:noFill/>
          <a:ln/>
        </p:spPr>
        <p:txBody>
          <a:bodyPr wrap="square" lIns="0" tIns="0" rIns="0" bIns="0" rtlCol="0" anchor="ctr"/>
          <a:lstStyle/>
          <a:p>
            <a:r>
              <a:rPr lang="en-US" sz="1250" b="1" noProof="0" dirty="0">
                <a:solidFill>
                  <a:srgbClr val="1E293B"/>
                </a:solidFill>
                <a:latin typeface="Cambria" panose="02040503050406030204" pitchFamily="18" charset="0"/>
                <a:ea typeface="Cambria" panose="02040503050406030204" pitchFamily="18" charset="0"/>
                <a:cs typeface="Calibri" pitchFamily="34" charset="-120"/>
              </a:rPr>
              <a:t>Summary &amp; Dependence Plots</a:t>
            </a:r>
            <a:endParaRPr lang="en-US" sz="1250" noProof="0" dirty="0">
              <a:latin typeface="Cambria" panose="02040503050406030204" pitchFamily="18" charset="0"/>
              <a:ea typeface="Cambria" panose="02040503050406030204" pitchFamily="18" charset="0"/>
            </a:endParaRPr>
          </a:p>
        </p:txBody>
      </p:sp>
      <p:sp>
        <p:nvSpPr>
          <p:cNvPr id="20" name="Text 6">
            <a:extLst>
              <a:ext uri="{FF2B5EF4-FFF2-40B4-BE49-F238E27FC236}">
                <a16:creationId xmlns:a16="http://schemas.microsoft.com/office/drawing/2014/main" id="{4BD5D94F-629B-9F55-D574-7208A3C94A82}"/>
              </a:ext>
            </a:extLst>
          </p:cNvPr>
          <p:cNvSpPr/>
          <p:nvPr/>
        </p:nvSpPr>
        <p:spPr>
          <a:xfrm>
            <a:off x="1214120" y="2561536"/>
            <a:ext cx="2692400" cy="320040"/>
          </a:xfrm>
          <a:prstGeom prst="rect">
            <a:avLst/>
          </a:prstGeom>
          <a:noFill/>
          <a:ln/>
        </p:spPr>
        <p:txBody>
          <a:bodyPr wrap="square" lIns="0" tIns="0" rIns="0" bIns="0" rtlCol="0" anchor="ctr"/>
          <a:lstStyle/>
          <a:p>
            <a:pPr>
              <a:lnSpc>
                <a:spcPct val="115000"/>
              </a:lnSpc>
            </a:pPr>
            <a:r>
              <a:rPr lang="en-US" sz="1000" noProof="0" dirty="0">
                <a:solidFill>
                  <a:srgbClr val="64748B"/>
                </a:solidFill>
                <a:latin typeface="Cambria" panose="02040503050406030204" pitchFamily="18" charset="0"/>
                <a:ea typeface="Cambria" panose="02040503050406030204" pitchFamily="18" charset="0"/>
                <a:cs typeface="Calibri" pitchFamily="34" charset="-120"/>
              </a:rPr>
              <a:t>Generates visual summaries of contribution strength across channels</a:t>
            </a:r>
            <a:endParaRPr lang="en-US" sz="1000" noProof="0" dirty="0">
              <a:latin typeface="Cambria" panose="02040503050406030204" pitchFamily="18" charset="0"/>
              <a:ea typeface="Cambria" panose="02040503050406030204" pitchFamily="18" charset="0"/>
            </a:endParaRPr>
          </a:p>
        </p:txBody>
      </p:sp>
      <p:pic>
        <p:nvPicPr>
          <p:cNvPr id="24" name="Image 2" descr="preencoded.png">
            <a:extLst>
              <a:ext uri="{FF2B5EF4-FFF2-40B4-BE49-F238E27FC236}">
                <a16:creationId xmlns:a16="http://schemas.microsoft.com/office/drawing/2014/main" id="{0342197B-BB5B-2C2E-84BD-AD91C816B31D}"/>
              </a:ext>
            </a:extLst>
          </p:cNvPr>
          <p:cNvPicPr>
            <a:picLocks noChangeAspect="1"/>
          </p:cNvPicPr>
          <p:nvPr/>
        </p:nvPicPr>
        <p:blipFill>
          <a:blip r:embed="rId4"/>
          <a:stretch>
            <a:fillRect/>
          </a:stretch>
        </p:blipFill>
        <p:spPr>
          <a:xfrm>
            <a:off x="748792" y="2532197"/>
            <a:ext cx="236220" cy="236220"/>
          </a:xfrm>
          <a:prstGeom prst="rect">
            <a:avLst/>
          </a:prstGeom>
        </p:spPr>
      </p:pic>
      <p:sp>
        <p:nvSpPr>
          <p:cNvPr id="28" name="Shape 3">
            <a:extLst>
              <a:ext uri="{FF2B5EF4-FFF2-40B4-BE49-F238E27FC236}">
                <a16:creationId xmlns:a16="http://schemas.microsoft.com/office/drawing/2014/main" id="{14BD7BCF-8210-7236-AD86-8E04E07F1471}"/>
              </a:ext>
            </a:extLst>
          </p:cNvPr>
          <p:cNvSpPr/>
          <p:nvPr/>
        </p:nvSpPr>
        <p:spPr>
          <a:xfrm>
            <a:off x="457200" y="3080837"/>
            <a:ext cx="3390900" cy="786384"/>
          </a:xfrm>
          <a:prstGeom prst="roundRect">
            <a:avLst>
              <a:gd name="adj" fmla="val 6957"/>
            </a:avLst>
          </a:prstGeom>
          <a:solidFill>
            <a:srgbClr val="CADCFC"/>
          </a:solidFill>
          <a:ln>
            <a:solidFill>
              <a:srgbClr val="1E2761"/>
            </a:solidFill>
          </a:ln>
          <a:effectLst>
            <a:outerShdw blurRad="127000" dist="38100" dir="5400000" algn="bl" rotWithShape="0">
              <a:srgbClr val="0B3D3F">
                <a:alpha val="10000"/>
              </a:srgbClr>
            </a:outerShdw>
          </a:effectLst>
        </p:spPr>
        <p:txBody>
          <a:bodyPr/>
          <a:lstStyle/>
          <a:p>
            <a:endParaRPr lang="en-US" sz="1400" noProof="0" dirty="0">
              <a:latin typeface="Cambria" panose="02040503050406030204" pitchFamily="18" charset="0"/>
              <a:ea typeface="Cambria" panose="02040503050406030204" pitchFamily="18" charset="0"/>
            </a:endParaRPr>
          </a:p>
        </p:txBody>
      </p:sp>
      <p:sp>
        <p:nvSpPr>
          <p:cNvPr id="32" name="Shape 4">
            <a:extLst>
              <a:ext uri="{FF2B5EF4-FFF2-40B4-BE49-F238E27FC236}">
                <a16:creationId xmlns:a16="http://schemas.microsoft.com/office/drawing/2014/main" id="{EB80A08A-D25E-9B62-162A-AFB71CA00942}"/>
              </a:ext>
            </a:extLst>
          </p:cNvPr>
          <p:cNvSpPr/>
          <p:nvPr/>
        </p:nvSpPr>
        <p:spPr>
          <a:xfrm>
            <a:off x="621792" y="3282005"/>
            <a:ext cx="462827" cy="462827"/>
          </a:xfrm>
          <a:prstGeom prst="ellipse">
            <a:avLst/>
          </a:prstGeom>
          <a:solidFill>
            <a:srgbClr val="FFFFFF"/>
          </a:solidFill>
          <a:ln/>
        </p:spPr>
        <p:txBody>
          <a:bodyPr/>
          <a:lstStyle/>
          <a:p>
            <a:endParaRPr lang="en-US" noProof="0" dirty="0">
              <a:latin typeface="Cambria" panose="02040503050406030204" pitchFamily="18" charset="0"/>
              <a:ea typeface="Cambria" panose="02040503050406030204" pitchFamily="18" charset="0"/>
            </a:endParaRPr>
          </a:p>
        </p:txBody>
      </p:sp>
      <p:sp>
        <p:nvSpPr>
          <p:cNvPr id="40" name="Text 5">
            <a:extLst>
              <a:ext uri="{FF2B5EF4-FFF2-40B4-BE49-F238E27FC236}">
                <a16:creationId xmlns:a16="http://schemas.microsoft.com/office/drawing/2014/main" id="{1DE4AB0D-9705-DF9F-8C11-26FA7A436FF2}"/>
              </a:ext>
            </a:extLst>
          </p:cNvPr>
          <p:cNvSpPr/>
          <p:nvPr/>
        </p:nvSpPr>
        <p:spPr>
          <a:xfrm>
            <a:off x="1214120" y="3152973"/>
            <a:ext cx="2133600" cy="320040"/>
          </a:xfrm>
          <a:prstGeom prst="rect">
            <a:avLst/>
          </a:prstGeom>
          <a:noFill/>
          <a:ln/>
        </p:spPr>
        <p:txBody>
          <a:bodyPr wrap="square" lIns="0" tIns="0" rIns="0" bIns="0" rtlCol="0" anchor="ctr"/>
          <a:lstStyle/>
          <a:p>
            <a:r>
              <a:rPr lang="en-US" sz="1250" b="1" noProof="0" dirty="0">
                <a:solidFill>
                  <a:srgbClr val="1E293B"/>
                </a:solidFill>
                <a:latin typeface="Cambria" panose="02040503050406030204" pitchFamily="18" charset="0"/>
                <a:ea typeface="Cambria" panose="02040503050406030204" pitchFamily="18" charset="0"/>
                <a:cs typeface="Calibri" pitchFamily="34" charset="-120"/>
              </a:rPr>
              <a:t>Geo-Specific Rankings</a:t>
            </a:r>
            <a:endParaRPr lang="en-US" sz="1250" noProof="0" dirty="0">
              <a:latin typeface="Cambria" panose="02040503050406030204" pitchFamily="18" charset="0"/>
              <a:ea typeface="Cambria" panose="02040503050406030204" pitchFamily="18" charset="0"/>
            </a:endParaRPr>
          </a:p>
        </p:txBody>
      </p:sp>
      <p:sp>
        <p:nvSpPr>
          <p:cNvPr id="44" name="Text 6">
            <a:extLst>
              <a:ext uri="{FF2B5EF4-FFF2-40B4-BE49-F238E27FC236}">
                <a16:creationId xmlns:a16="http://schemas.microsoft.com/office/drawing/2014/main" id="{7093B6F0-A156-9E10-FF32-CB2C3F08722F}"/>
              </a:ext>
            </a:extLst>
          </p:cNvPr>
          <p:cNvSpPr/>
          <p:nvPr/>
        </p:nvSpPr>
        <p:spPr>
          <a:xfrm>
            <a:off x="1214120" y="3426699"/>
            <a:ext cx="2496820" cy="320040"/>
          </a:xfrm>
          <a:prstGeom prst="rect">
            <a:avLst/>
          </a:prstGeom>
          <a:noFill/>
          <a:ln/>
        </p:spPr>
        <p:txBody>
          <a:bodyPr wrap="square" lIns="0" tIns="0" rIns="0" bIns="0" rtlCol="0" anchor="ctr"/>
          <a:lstStyle/>
          <a:p>
            <a:pPr>
              <a:lnSpc>
                <a:spcPct val="115000"/>
              </a:lnSpc>
            </a:pPr>
            <a:r>
              <a:rPr lang="en-US" sz="1000" noProof="0" dirty="0">
                <a:solidFill>
                  <a:srgbClr val="64748B"/>
                </a:solidFill>
                <a:latin typeface="Cambria" panose="02040503050406030204" pitchFamily="18" charset="0"/>
                <a:ea typeface="Cambria" panose="02040503050406030204" pitchFamily="18" charset="0"/>
                <a:cs typeface="Calibri" pitchFamily="34" charset="-120"/>
              </a:rPr>
              <a:t>Computes importance rankings by territory, not just at the national level</a:t>
            </a:r>
            <a:endParaRPr lang="en-US" sz="1000" noProof="0" dirty="0">
              <a:latin typeface="Cambria" panose="02040503050406030204" pitchFamily="18" charset="0"/>
              <a:ea typeface="Cambria" panose="02040503050406030204" pitchFamily="18" charset="0"/>
            </a:endParaRPr>
          </a:p>
        </p:txBody>
      </p:sp>
      <p:sp>
        <p:nvSpPr>
          <p:cNvPr id="48" name="Shape 3">
            <a:extLst>
              <a:ext uri="{FF2B5EF4-FFF2-40B4-BE49-F238E27FC236}">
                <a16:creationId xmlns:a16="http://schemas.microsoft.com/office/drawing/2014/main" id="{065D6E48-A6E1-CDCA-B2DC-4C118853AB7C}"/>
              </a:ext>
            </a:extLst>
          </p:cNvPr>
          <p:cNvSpPr/>
          <p:nvPr/>
        </p:nvSpPr>
        <p:spPr>
          <a:xfrm>
            <a:off x="457200" y="3927513"/>
            <a:ext cx="3390900" cy="786384"/>
          </a:xfrm>
          <a:prstGeom prst="roundRect">
            <a:avLst>
              <a:gd name="adj" fmla="val 6957"/>
            </a:avLst>
          </a:prstGeom>
          <a:solidFill>
            <a:srgbClr val="CADCFC"/>
          </a:solidFill>
          <a:ln>
            <a:solidFill>
              <a:srgbClr val="1E2761"/>
            </a:solidFill>
          </a:ln>
          <a:effectLst>
            <a:outerShdw blurRad="127000" dist="38100" dir="5400000" algn="bl" rotWithShape="0">
              <a:srgbClr val="0B3D3F">
                <a:alpha val="10000"/>
              </a:srgbClr>
            </a:outerShdw>
          </a:effectLst>
        </p:spPr>
        <p:txBody>
          <a:bodyPr/>
          <a:lstStyle/>
          <a:p>
            <a:endParaRPr lang="en-US" sz="1400" noProof="0" dirty="0">
              <a:latin typeface="Cambria" panose="02040503050406030204" pitchFamily="18" charset="0"/>
              <a:ea typeface="Cambria" panose="02040503050406030204" pitchFamily="18" charset="0"/>
            </a:endParaRPr>
          </a:p>
        </p:txBody>
      </p:sp>
      <p:sp>
        <p:nvSpPr>
          <p:cNvPr id="50" name="Shape 4">
            <a:extLst>
              <a:ext uri="{FF2B5EF4-FFF2-40B4-BE49-F238E27FC236}">
                <a16:creationId xmlns:a16="http://schemas.microsoft.com/office/drawing/2014/main" id="{ED48A7C1-FFFF-CC65-716B-284E64CFB0FA}"/>
              </a:ext>
            </a:extLst>
          </p:cNvPr>
          <p:cNvSpPr/>
          <p:nvPr/>
        </p:nvSpPr>
        <p:spPr>
          <a:xfrm>
            <a:off x="621792" y="4128681"/>
            <a:ext cx="462827" cy="462827"/>
          </a:xfrm>
          <a:prstGeom prst="ellipse">
            <a:avLst/>
          </a:prstGeom>
          <a:solidFill>
            <a:srgbClr val="FFFFFF"/>
          </a:solidFill>
          <a:ln/>
        </p:spPr>
        <p:txBody>
          <a:bodyPr/>
          <a:lstStyle/>
          <a:p>
            <a:endParaRPr lang="en-US" noProof="0" dirty="0">
              <a:latin typeface="Cambria" panose="02040503050406030204" pitchFamily="18" charset="0"/>
              <a:ea typeface="Cambria" panose="02040503050406030204" pitchFamily="18" charset="0"/>
            </a:endParaRPr>
          </a:p>
        </p:txBody>
      </p:sp>
      <p:sp>
        <p:nvSpPr>
          <p:cNvPr id="53" name="Text 5">
            <a:extLst>
              <a:ext uri="{FF2B5EF4-FFF2-40B4-BE49-F238E27FC236}">
                <a16:creationId xmlns:a16="http://schemas.microsoft.com/office/drawing/2014/main" id="{D6D50298-977D-A853-3E67-3DE04A7DCC91}"/>
              </a:ext>
            </a:extLst>
          </p:cNvPr>
          <p:cNvSpPr/>
          <p:nvPr/>
        </p:nvSpPr>
        <p:spPr>
          <a:xfrm>
            <a:off x="1214120" y="3999649"/>
            <a:ext cx="2367280" cy="320040"/>
          </a:xfrm>
          <a:prstGeom prst="rect">
            <a:avLst/>
          </a:prstGeom>
          <a:noFill/>
          <a:ln/>
        </p:spPr>
        <p:txBody>
          <a:bodyPr wrap="square" lIns="0" tIns="0" rIns="0" bIns="0" rtlCol="0" anchor="ctr"/>
          <a:lstStyle/>
          <a:p>
            <a:r>
              <a:rPr lang="en-US" sz="1250" b="1" noProof="0" dirty="0">
                <a:solidFill>
                  <a:srgbClr val="1E293B"/>
                </a:solidFill>
                <a:latin typeface="Calibri" pitchFamily="34" charset="0"/>
                <a:ea typeface="Calibri" pitchFamily="34" charset="-122"/>
                <a:cs typeface="Calibri" pitchFamily="34" charset="-120"/>
              </a:rPr>
              <a:t>Media-Intensity Comparison</a:t>
            </a:r>
            <a:endParaRPr lang="en-US" sz="1250" noProof="0" dirty="0"/>
          </a:p>
        </p:txBody>
      </p:sp>
      <p:sp>
        <p:nvSpPr>
          <p:cNvPr id="55" name="Text 6">
            <a:extLst>
              <a:ext uri="{FF2B5EF4-FFF2-40B4-BE49-F238E27FC236}">
                <a16:creationId xmlns:a16="http://schemas.microsoft.com/office/drawing/2014/main" id="{51144AE6-E71C-2D00-BA97-8FCEC1471CFC}"/>
              </a:ext>
            </a:extLst>
          </p:cNvPr>
          <p:cNvSpPr/>
          <p:nvPr/>
        </p:nvSpPr>
        <p:spPr>
          <a:xfrm>
            <a:off x="1214120" y="4273375"/>
            <a:ext cx="2496820" cy="320040"/>
          </a:xfrm>
          <a:prstGeom prst="rect">
            <a:avLst/>
          </a:prstGeom>
          <a:noFill/>
          <a:ln/>
        </p:spPr>
        <p:txBody>
          <a:bodyPr wrap="square" lIns="0" tIns="0" rIns="0" bIns="0" rtlCol="0" anchor="ctr"/>
          <a:lstStyle/>
          <a:p>
            <a:pPr>
              <a:lnSpc>
                <a:spcPct val="115000"/>
              </a:lnSpc>
            </a:pPr>
            <a:r>
              <a:rPr lang="en-US" sz="1000" noProof="0" dirty="0">
                <a:solidFill>
                  <a:srgbClr val="64748B"/>
                </a:solidFill>
                <a:latin typeface="Cambria" panose="02040503050406030204" pitchFamily="18" charset="0"/>
                <a:ea typeface="Cambria" panose="02040503050406030204" pitchFamily="18" charset="0"/>
                <a:cs typeface="Calibri" pitchFamily="34" charset="-120"/>
              </a:rPr>
              <a:t>Relates contribution strength back to observed spend and impression levels</a:t>
            </a:r>
            <a:endParaRPr lang="en-US" sz="1000" noProof="0" dirty="0">
              <a:latin typeface="Cambria" panose="02040503050406030204" pitchFamily="18" charset="0"/>
              <a:ea typeface="Cambria" panose="02040503050406030204" pitchFamily="18" charset="0"/>
            </a:endParaRPr>
          </a:p>
        </p:txBody>
      </p:sp>
      <p:pic>
        <p:nvPicPr>
          <p:cNvPr id="59" name="Image 1" descr="preencoded.png">
            <a:extLst>
              <a:ext uri="{FF2B5EF4-FFF2-40B4-BE49-F238E27FC236}">
                <a16:creationId xmlns:a16="http://schemas.microsoft.com/office/drawing/2014/main" id="{D19AC306-F45F-4103-41E9-4A6BEB3694BA}"/>
              </a:ext>
            </a:extLst>
          </p:cNvPr>
          <p:cNvPicPr>
            <a:picLocks noChangeAspect="1"/>
          </p:cNvPicPr>
          <p:nvPr/>
        </p:nvPicPr>
        <p:blipFill>
          <a:blip r:embed="rId5"/>
          <a:stretch>
            <a:fillRect/>
          </a:stretch>
        </p:blipFill>
        <p:spPr>
          <a:xfrm>
            <a:off x="736537" y="3381684"/>
            <a:ext cx="248262" cy="248262"/>
          </a:xfrm>
          <a:prstGeom prst="rect">
            <a:avLst/>
          </a:prstGeom>
        </p:spPr>
      </p:pic>
      <p:pic>
        <p:nvPicPr>
          <p:cNvPr id="61" name="Image 3" descr="preencoded.png">
            <a:extLst>
              <a:ext uri="{FF2B5EF4-FFF2-40B4-BE49-F238E27FC236}">
                <a16:creationId xmlns:a16="http://schemas.microsoft.com/office/drawing/2014/main" id="{FE3140C2-11C6-33D0-C6D3-618F654CB34D}"/>
              </a:ext>
            </a:extLst>
          </p:cNvPr>
          <p:cNvPicPr>
            <a:picLocks noChangeAspect="1"/>
          </p:cNvPicPr>
          <p:nvPr/>
        </p:nvPicPr>
        <p:blipFill>
          <a:blip r:embed="rId6"/>
          <a:stretch>
            <a:fillRect/>
          </a:stretch>
        </p:blipFill>
        <p:spPr>
          <a:xfrm>
            <a:off x="736600" y="4240501"/>
            <a:ext cx="239186" cy="239186"/>
          </a:xfrm>
          <a:prstGeom prst="rect">
            <a:avLst/>
          </a:prstGeom>
        </p:spPr>
      </p:pic>
      <p:sp>
        <p:nvSpPr>
          <p:cNvPr id="70" name="Text 2">
            <a:extLst>
              <a:ext uri="{FF2B5EF4-FFF2-40B4-BE49-F238E27FC236}">
                <a16:creationId xmlns:a16="http://schemas.microsoft.com/office/drawing/2014/main" id="{DD872678-DA90-9032-E30D-6876D75B8B0A}"/>
              </a:ext>
            </a:extLst>
          </p:cNvPr>
          <p:cNvSpPr/>
          <p:nvPr/>
        </p:nvSpPr>
        <p:spPr>
          <a:xfrm>
            <a:off x="477520" y="977664"/>
            <a:ext cx="3370580" cy="256032"/>
          </a:xfrm>
          <a:prstGeom prst="rect">
            <a:avLst/>
          </a:prstGeom>
          <a:noFill/>
          <a:ln/>
        </p:spPr>
        <p:txBody>
          <a:bodyPr wrap="square" lIns="0" tIns="0" rIns="0" bIns="0" rtlCol="0" anchor="ctr"/>
          <a:lstStyle/>
          <a:p>
            <a:pPr marL="0" indent="0" algn="l">
              <a:buNone/>
            </a:pPr>
            <a:r>
              <a:rPr lang="en-US" sz="1200" b="1" kern="0" spc="200" noProof="0" dirty="0">
                <a:solidFill>
                  <a:schemeClr val="accent1">
                    <a:lumMod val="75000"/>
                  </a:schemeClr>
                </a:solidFill>
                <a:latin typeface="Cambria" panose="02040503050406030204" pitchFamily="18" charset="0"/>
                <a:ea typeface="Cambria" panose="02040503050406030204" pitchFamily="18" charset="0"/>
                <a:cs typeface="Calibri" pitchFamily="34" charset="-120"/>
              </a:rPr>
              <a:t>WHAT DOES SHAP REALLY DO?</a:t>
            </a:r>
            <a:endParaRPr lang="en-US" sz="1200" noProof="0" dirty="0">
              <a:solidFill>
                <a:schemeClr val="accent1">
                  <a:lumMod val="75000"/>
                </a:schemeClr>
              </a:solidFill>
              <a:latin typeface="Cambria" panose="02040503050406030204" pitchFamily="18" charset="0"/>
              <a:ea typeface="Cambria" panose="02040503050406030204" pitchFamily="18" charset="0"/>
            </a:endParaRPr>
          </a:p>
        </p:txBody>
      </p:sp>
      <p:pic>
        <p:nvPicPr>
          <p:cNvPr id="6" name="Immagine 5">
            <a:extLst>
              <a:ext uri="{FF2B5EF4-FFF2-40B4-BE49-F238E27FC236}">
                <a16:creationId xmlns:a16="http://schemas.microsoft.com/office/drawing/2014/main" id="{8CF27DE6-6D41-479A-38CA-5588C2A3E7D7}"/>
              </a:ext>
            </a:extLst>
          </p:cNvPr>
          <p:cNvPicPr>
            <a:picLocks noChangeAspect="1"/>
          </p:cNvPicPr>
          <p:nvPr/>
        </p:nvPicPr>
        <p:blipFill>
          <a:blip r:embed="rId7"/>
          <a:stretch>
            <a:fillRect/>
          </a:stretch>
        </p:blipFill>
        <p:spPr>
          <a:xfrm>
            <a:off x="4376975" y="1441134"/>
            <a:ext cx="4241245" cy="2406217"/>
          </a:xfrm>
          <a:prstGeom prst="rect">
            <a:avLst/>
          </a:prstGeom>
        </p:spPr>
      </p:pic>
      <p:sp>
        <p:nvSpPr>
          <p:cNvPr id="10" name="CasellaDiTesto 9">
            <a:extLst>
              <a:ext uri="{FF2B5EF4-FFF2-40B4-BE49-F238E27FC236}">
                <a16:creationId xmlns:a16="http://schemas.microsoft.com/office/drawing/2014/main" id="{1BF252E6-F3C7-C8F3-5272-A6B180EA179D}"/>
              </a:ext>
            </a:extLst>
          </p:cNvPr>
          <p:cNvSpPr txBox="1"/>
          <p:nvPr/>
        </p:nvSpPr>
        <p:spPr>
          <a:xfrm>
            <a:off x="4519962" y="3834376"/>
            <a:ext cx="4166838" cy="900246"/>
          </a:xfrm>
          <a:prstGeom prst="rect">
            <a:avLst/>
          </a:prstGeom>
          <a:noFill/>
        </p:spPr>
        <p:txBody>
          <a:bodyPr wrap="square">
            <a:spAutoFit/>
          </a:bodyPr>
          <a:lstStyle/>
          <a:p>
            <a:r>
              <a:rPr lang="en-US" sz="1050" noProof="0" dirty="0">
                <a:solidFill>
                  <a:srgbClr val="1E293B"/>
                </a:solidFill>
                <a:latin typeface="Cambria" panose="02040503050406030204" pitchFamily="18" charset="0"/>
                <a:ea typeface="Cambria" panose="02040503050406030204" pitchFamily="18" charset="0"/>
                <a:cs typeface="Calibri" pitchFamily="34" charset="-120"/>
              </a:rPr>
              <a:t>Meta channels contribute the most to the model’s predicted outcome, showing broader distributions of positive SHAP values. </a:t>
            </a:r>
            <a:r>
              <a:rPr lang="en-US" sz="1050" noProof="0" dirty="0" err="1">
                <a:solidFill>
                  <a:srgbClr val="1E293B"/>
                </a:solidFill>
                <a:latin typeface="Cambria" panose="02040503050406030204" pitchFamily="18" charset="0"/>
                <a:ea typeface="Cambria" panose="02040503050406030204" pitchFamily="18" charset="0"/>
                <a:cs typeface="Calibri" pitchFamily="34" charset="-120"/>
              </a:rPr>
              <a:t>Meta_Other</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 and </a:t>
            </a:r>
            <a:r>
              <a:rPr lang="en-US" sz="1050" noProof="0" dirty="0" err="1">
                <a:solidFill>
                  <a:srgbClr val="1E293B"/>
                </a:solidFill>
                <a:latin typeface="Cambria" panose="02040503050406030204" pitchFamily="18" charset="0"/>
                <a:ea typeface="Cambria" panose="02040503050406030204" pitchFamily="18" charset="0"/>
                <a:cs typeface="Calibri" pitchFamily="34" charset="-120"/>
              </a:rPr>
              <a:t>Google_Display</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 contribute less overall, with values clustered closer to zero. Also, the colors suggest </a:t>
            </a:r>
            <a:r>
              <a:rPr lang="en-US" sz="1050" noProof="0" dirty="0" err="1">
                <a:solidFill>
                  <a:srgbClr val="1E293B"/>
                </a:solidFill>
                <a:latin typeface="Cambria" panose="02040503050406030204" pitchFamily="18" charset="0"/>
                <a:ea typeface="Cambria" panose="02040503050406030204" pitchFamily="18" charset="0"/>
                <a:cs typeface="Calibri" pitchFamily="34" charset="-120"/>
              </a:rPr>
              <a:t>tgat</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 higher feature values tend to drive larger (more influential) SHAP contributions.</a:t>
            </a:r>
          </a:p>
        </p:txBody>
      </p:sp>
      <p:sp>
        <p:nvSpPr>
          <p:cNvPr id="7" name="Text 4">
            <a:extLst>
              <a:ext uri="{FF2B5EF4-FFF2-40B4-BE49-F238E27FC236}">
                <a16:creationId xmlns:a16="http://schemas.microsoft.com/office/drawing/2014/main" id="{7EE13B66-1BA7-3516-8A44-4BD34E10F9CB}"/>
              </a:ext>
            </a:extLst>
          </p:cNvPr>
          <p:cNvSpPr/>
          <p:nvPr/>
        </p:nvSpPr>
        <p:spPr>
          <a:xfrm>
            <a:off x="4990171" y="1025661"/>
            <a:ext cx="3226420" cy="367427"/>
          </a:xfrm>
          <a:prstGeom prst="rect">
            <a:avLst/>
          </a:prstGeom>
          <a:noFill/>
          <a:ln/>
        </p:spPr>
        <p:txBody>
          <a:bodyPr wrap="square" lIns="0" tIns="0" rIns="0" bIns="0" rtlCol="0" anchor="ctr"/>
          <a:lstStyle/>
          <a:p>
            <a:pPr marL="0" indent="0" algn="ctr">
              <a:buNone/>
            </a:pPr>
            <a:r>
              <a:rPr lang="en-US" sz="1050" b="1" kern="0" spc="200" noProof="0" dirty="0">
                <a:solidFill>
                  <a:srgbClr val="3A5BA0"/>
                </a:solidFill>
                <a:latin typeface="Cambria" panose="02040503050406030204" pitchFamily="18" charset="0"/>
                <a:ea typeface="Cambria" panose="02040503050406030204" pitchFamily="18" charset="0"/>
                <a:cs typeface="Calibri" pitchFamily="34" charset="-120"/>
              </a:rPr>
              <a:t>REVENUE CONTRIBUTION PER TIMESTEP BY CHANNEL - US MARKET  </a:t>
            </a:r>
            <a:endParaRPr lang="en-US" sz="1050" noProof="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57049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8B5B65B1-DE1C-78B8-B9C3-44B80F522C03}"/>
              </a:ext>
            </a:extLst>
          </p:cNvPr>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200" noProof="0" dirty="0">
                <a:solidFill>
                  <a:srgbClr val="028090"/>
                </a:solidFill>
                <a:latin typeface="Calibri" pitchFamily="34" charset="0"/>
                <a:ea typeface="Calibri" pitchFamily="34" charset="-122"/>
                <a:cs typeface="Calibri" pitchFamily="34" charset="-120"/>
              </a:rPr>
              <a:t>EXPLAINABILITY</a:t>
            </a:r>
            <a:endParaRPr lang="en-US" sz="1200" noProof="0" dirty="0"/>
          </a:p>
        </p:txBody>
      </p:sp>
      <p:sp>
        <p:nvSpPr>
          <p:cNvPr id="7" name="Shape 0">
            <a:extLst>
              <a:ext uri="{FF2B5EF4-FFF2-40B4-BE49-F238E27FC236}">
                <a16:creationId xmlns:a16="http://schemas.microsoft.com/office/drawing/2014/main" id="{60BC7523-DCB1-745D-D66C-32986C5AD782}"/>
              </a:ext>
            </a:extLst>
          </p:cNvPr>
          <p:cNvSpPr/>
          <p:nvPr/>
        </p:nvSpPr>
        <p:spPr>
          <a:xfrm>
            <a:off x="0" y="-1984"/>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9" name="Text 1">
            <a:extLst>
              <a:ext uri="{FF2B5EF4-FFF2-40B4-BE49-F238E27FC236}">
                <a16:creationId xmlns:a16="http://schemas.microsoft.com/office/drawing/2014/main" id="{CBC7C7F5-8FE7-C5C0-7639-F0C90C7E5EA4}"/>
              </a:ext>
            </a:extLst>
          </p:cNvPr>
          <p:cNvSpPr/>
          <p:nvPr/>
        </p:nvSpPr>
        <p:spPr>
          <a:xfrm>
            <a:off x="274319" y="299768"/>
            <a:ext cx="7412588" cy="347472"/>
          </a:xfrm>
          <a:prstGeom prst="rect">
            <a:avLst/>
          </a:prstGeom>
          <a:noFill/>
          <a:ln/>
        </p:spPr>
        <p:txBody>
          <a:bodyPr wrap="square" lIns="0" tIns="0" rIns="0" bIns="0" rtlCol="0" anchor="ctr"/>
          <a:lstStyle/>
          <a:p>
            <a:pPr marL="0" indent="0" algn="l">
              <a:buNone/>
            </a:pPr>
            <a:r>
              <a:rPr lang="en-US" sz="2800" b="1" noProof="0" dirty="0">
                <a:solidFill>
                  <a:srgbClr val="FFFFFF"/>
                </a:solidFill>
                <a:latin typeface="EucrosiaUPC" panose="02020603050405020304" pitchFamily="18" charset="-34"/>
                <a:ea typeface="Cambria" pitchFamily="34" charset="-122"/>
                <a:cs typeface="EucrosiaUPC" panose="02020603050405020304" pitchFamily="18" charset="-34"/>
              </a:rPr>
              <a:t>5. SHAP - Style Contribution Analysis </a:t>
            </a:r>
          </a:p>
        </p:txBody>
      </p:sp>
      <p:sp>
        <p:nvSpPr>
          <p:cNvPr id="11" name="Shape 1">
            <a:extLst>
              <a:ext uri="{FF2B5EF4-FFF2-40B4-BE49-F238E27FC236}">
                <a16:creationId xmlns:a16="http://schemas.microsoft.com/office/drawing/2014/main" id="{C4A19750-81FE-B3B1-1716-08CC27349E98}"/>
              </a:ext>
            </a:extLst>
          </p:cNvPr>
          <p:cNvSpPr/>
          <p:nvPr/>
        </p:nvSpPr>
        <p:spPr>
          <a:xfrm>
            <a:off x="8366760" y="124977"/>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13" name="Text 2">
            <a:extLst>
              <a:ext uri="{FF2B5EF4-FFF2-40B4-BE49-F238E27FC236}">
                <a16:creationId xmlns:a16="http://schemas.microsoft.com/office/drawing/2014/main" id="{BF822646-1AFD-07D2-334F-258D72E213A6}"/>
              </a:ext>
            </a:extLst>
          </p:cNvPr>
          <p:cNvSpPr/>
          <p:nvPr/>
        </p:nvSpPr>
        <p:spPr>
          <a:xfrm>
            <a:off x="8366760" y="124977"/>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08</a:t>
            </a:r>
            <a:endParaRPr lang="en-US" sz="1300" noProof="0" dirty="0"/>
          </a:p>
        </p:txBody>
      </p:sp>
      <p:sp>
        <p:nvSpPr>
          <p:cNvPr id="15" name="Text 0">
            <a:extLst>
              <a:ext uri="{FF2B5EF4-FFF2-40B4-BE49-F238E27FC236}">
                <a16:creationId xmlns:a16="http://schemas.microsoft.com/office/drawing/2014/main" id="{A12B5245-D0CA-CE5B-15A6-A7A68CFFD457}"/>
              </a:ext>
            </a:extLst>
          </p:cNvPr>
          <p:cNvSpPr/>
          <p:nvPr/>
        </p:nvSpPr>
        <p:spPr>
          <a:xfrm>
            <a:off x="274319" y="40219"/>
            <a:ext cx="1055077"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TASK 5 </a:t>
            </a:r>
            <a:endParaRPr lang="en-US" sz="900" noProof="0" dirty="0"/>
          </a:p>
        </p:txBody>
      </p:sp>
      <p:sp>
        <p:nvSpPr>
          <p:cNvPr id="17" name="Text 0">
            <a:extLst>
              <a:ext uri="{FF2B5EF4-FFF2-40B4-BE49-F238E27FC236}">
                <a16:creationId xmlns:a16="http://schemas.microsoft.com/office/drawing/2014/main" id="{B7454393-54C0-2614-6579-C15FD9AD648E}"/>
              </a:ext>
            </a:extLst>
          </p:cNvPr>
          <p:cNvSpPr/>
          <p:nvPr/>
        </p:nvSpPr>
        <p:spPr>
          <a:xfrm>
            <a:off x="457200" y="290624"/>
            <a:ext cx="8229600" cy="274320"/>
          </a:xfrm>
          <a:prstGeom prst="rect">
            <a:avLst/>
          </a:prstGeom>
          <a:noFill/>
          <a:ln/>
        </p:spPr>
        <p:txBody>
          <a:bodyPr wrap="square" lIns="0" tIns="0" rIns="0" bIns="0" rtlCol="0" anchor="ctr"/>
          <a:lstStyle/>
          <a:p>
            <a:pPr marL="0" indent="0">
              <a:buNone/>
            </a:pPr>
            <a:endParaRPr lang="en-US" sz="1200" noProof="0" dirty="0"/>
          </a:p>
        </p:txBody>
      </p:sp>
      <p:pic>
        <p:nvPicPr>
          <p:cNvPr id="4" name="Immagine 3">
            <a:extLst>
              <a:ext uri="{FF2B5EF4-FFF2-40B4-BE49-F238E27FC236}">
                <a16:creationId xmlns:a16="http://schemas.microsoft.com/office/drawing/2014/main" id="{661944A3-0A79-7A5B-7F3B-CF9A1336806D}"/>
              </a:ext>
            </a:extLst>
          </p:cNvPr>
          <p:cNvPicPr>
            <a:picLocks noChangeAspect="1"/>
          </p:cNvPicPr>
          <p:nvPr/>
        </p:nvPicPr>
        <p:blipFill>
          <a:blip r:embed="rId2"/>
          <a:stretch>
            <a:fillRect/>
          </a:stretch>
        </p:blipFill>
        <p:spPr>
          <a:xfrm>
            <a:off x="846050" y="1491134"/>
            <a:ext cx="3500547" cy="2161232"/>
          </a:xfrm>
          <a:prstGeom prst="rect">
            <a:avLst/>
          </a:prstGeom>
        </p:spPr>
      </p:pic>
      <p:sp>
        <p:nvSpPr>
          <p:cNvPr id="8" name="Text 4">
            <a:extLst>
              <a:ext uri="{FF2B5EF4-FFF2-40B4-BE49-F238E27FC236}">
                <a16:creationId xmlns:a16="http://schemas.microsoft.com/office/drawing/2014/main" id="{10FC9765-47D6-2F1A-73D5-6C8456DC606A}"/>
              </a:ext>
            </a:extLst>
          </p:cNvPr>
          <p:cNvSpPr/>
          <p:nvPr/>
        </p:nvSpPr>
        <p:spPr>
          <a:xfrm>
            <a:off x="1342974" y="1034805"/>
            <a:ext cx="3003623" cy="367427"/>
          </a:xfrm>
          <a:prstGeom prst="rect">
            <a:avLst/>
          </a:prstGeom>
          <a:noFill/>
          <a:ln/>
        </p:spPr>
        <p:txBody>
          <a:bodyPr wrap="square" lIns="0" tIns="0" rIns="0" bIns="0" rtlCol="0" anchor="ctr"/>
          <a:lstStyle/>
          <a:p>
            <a:pPr marL="0" indent="0" algn="ctr">
              <a:buNone/>
            </a:pPr>
            <a:r>
              <a:rPr lang="en-US" sz="1050" b="1" kern="0" spc="200" noProof="0" dirty="0">
                <a:solidFill>
                  <a:srgbClr val="3A5BA0"/>
                </a:solidFill>
                <a:latin typeface="Cambria" panose="02040503050406030204" pitchFamily="18" charset="0"/>
                <a:ea typeface="Cambria" panose="02040503050406030204" pitchFamily="18" charset="0"/>
                <a:cs typeface="Calibri" pitchFamily="34" charset="-120"/>
              </a:rPr>
              <a:t>CHANNEL-LEVEL IMPORTANCE BY SHAP ANALYSIS FOR US MARKET  </a:t>
            </a:r>
            <a:endParaRPr lang="en-US" sz="1050" noProof="0" dirty="0">
              <a:latin typeface="Cambria" panose="02040503050406030204" pitchFamily="18" charset="0"/>
              <a:ea typeface="Cambria" panose="02040503050406030204" pitchFamily="18" charset="0"/>
            </a:endParaRPr>
          </a:p>
        </p:txBody>
      </p:sp>
      <p:sp>
        <p:nvSpPr>
          <p:cNvPr id="12" name="CasellaDiTesto 11">
            <a:extLst>
              <a:ext uri="{FF2B5EF4-FFF2-40B4-BE49-F238E27FC236}">
                <a16:creationId xmlns:a16="http://schemas.microsoft.com/office/drawing/2014/main" id="{4CF27C15-C6C2-97BE-3A7E-FA0C26F0C03A}"/>
              </a:ext>
            </a:extLst>
          </p:cNvPr>
          <p:cNvSpPr txBox="1"/>
          <p:nvPr/>
        </p:nvSpPr>
        <p:spPr>
          <a:xfrm>
            <a:off x="5175207" y="1187044"/>
            <a:ext cx="3180030" cy="819840"/>
          </a:xfrm>
          <a:prstGeom prst="rect">
            <a:avLst/>
          </a:prstGeom>
          <a:noFill/>
        </p:spPr>
        <p:txBody>
          <a:bodyPr wrap="square">
            <a:spAutoFit/>
          </a:bodyPr>
          <a:lstStyle/>
          <a:p>
            <a:pPr marL="0" indent="0">
              <a:lnSpc>
                <a:spcPct val="115000"/>
              </a:lnSpc>
              <a:buNone/>
            </a:pPr>
            <a:r>
              <a:rPr lang="en-US" sz="1050" b="1" noProof="0" dirty="0">
                <a:solidFill>
                  <a:srgbClr val="64748B"/>
                </a:solidFill>
                <a:latin typeface="Cambria" panose="02040503050406030204" pitchFamily="18" charset="0"/>
                <a:ea typeface="Cambria" panose="02040503050406030204" pitchFamily="18" charset="0"/>
                <a:cs typeface="Calibri" pitchFamily="34" charset="-120"/>
              </a:rPr>
              <a:t>ALERT</a:t>
            </a:r>
            <a:r>
              <a:rPr lang="en-US" sz="1050" noProof="0" dirty="0">
                <a:solidFill>
                  <a:srgbClr val="64748B"/>
                </a:solidFill>
                <a:latin typeface="Cambria" panose="02040503050406030204" pitchFamily="18" charset="0"/>
                <a:ea typeface="Cambria" panose="02040503050406030204" pitchFamily="18" charset="0"/>
                <a:cs typeface="Calibri" pitchFamily="34" charset="-120"/>
              </a:rPr>
              <a:t>: It must be considered that the spending of each channel is related with their importance, so an higher budget contribution (budgets below) could imply an higher SHAP result.</a:t>
            </a:r>
            <a:endParaRPr lang="en-US" sz="1050" noProof="0" dirty="0">
              <a:latin typeface="Cambria" panose="02040503050406030204" pitchFamily="18" charset="0"/>
              <a:ea typeface="Cambria" panose="02040503050406030204" pitchFamily="18" charset="0"/>
            </a:endParaRPr>
          </a:p>
        </p:txBody>
      </p:sp>
      <p:sp>
        <p:nvSpPr>
          <p:cNvPr id="16" name="Shape 2">
            <a:extLst>
              <a:ext uri="{FF2B5EF4-FFF2-40B4-BE49-F238E27FC236}">
                <a16:creationId xmlns:a16="http://schemas.microsoft.com/office/drawing/2014/main" id="{3F612DA3-E786-1849-74C9-80BBC4E48965}"/>
              </a:ext>
            </a:extLst>
          </p:cNvPr>
          <p:cNvSpPr/>
          <p:nvPr/>
        </p:nvSpPr>
        <p:spPr>
          <a:xfrm>
            <a:off x="4613197" y="1338294"/>
            <a:ext cx="405953" cy="407799"/>
          </a:xfrm>
          <a:prstGeom prst="ellipse">
            <a:avLst/>
          </a:prstGeom>
          <a:solidFill>
            <a:srgbClr val="CADCFC"/>
          </a:solidFill>
          <a:ln/>
        </p:spPr>
        <p:txBody>
          <a:bodyPr/>
          <a:lstStyle/>
          <a:p>
            <a:endParaRPr lang="en-US" noProof="0" dirty="0"/>
          </a:p>
        </p:txBody>
      </p:sp>
      <p:pic>
        <p:nvPicPr>
          <p:cNvPr id="19" name="Image 0" descr="preencoded.png">
            <a:extLst>
              <a:ext uri="{FF2B5EF4-FFF2-40B4-BE49-F238E27FC236}">
                <a16:creationId xmlns:a16="http://schemas.microsoft.com/office/drawing/2014/main" id="{E7AE78D3-3E55-21F7-189B-F71E40E5E24A}"/>
              </a:ext>
            </a:extLst>
          </p:cNvPr>
          <p:cNvPicPr>
            <a:picLocks noChangeAspect="1"/>
          </p:cNvPicPr>
          <p:nvPr/>
        </p:nvPicPr>
        <p:blipFill>
          <a:blip r:embed="rId3"/>
          <a:stretch>
            <a:fillRect/>
          </a:stretch>
        </p:blipFill>
        <p:spPr>
          <a:xfrm>
            <a:off x="4722554" y="1433544"/>
            <a:ext cx="194857" cy="197487"/>
          </a:xfrm>
          <a:prstGeom prst="rect">
            <a:avLst/>
          </a:prstGeom>
        </p:spPr>
      </p:pic>
      <p:graphicFrame>
        <p:nvGraphicFramePr>
          <p:cNvPr id="20" name="Tabella 19">
            <a:extLst>
              <a:ext uri="{FF2B5EF4-FFF2-40B4-BE49-F238E27FC236}">
                <a16:creationId xmlns:a16="http://schemas.microsoft.com/office/drawing/2014/main" id="{A13826B7-90E9-7011-6A3A-15D3E153F38A}"/>
              </a:ext>
            </a:extLst>
          </p:cNvPr>
          <p:cNvGraphicFramePr>
            <a:graphicFrameLocks noGrp="1"/>
          </p:cNvGraphicFramePr>
          <p:nvPr>
            <p:extLst>
              <p:ext uri="{D42A27DB-BD31-4B8C-83A1-F6EECF244321}">
                <p14:modId xmlns:p14="http://schemas.microsoft.com/office/powerpoint/2010/main" val="2432905118"/>
              </p:ext>
            </p:extLst>
          </p:nvPr>
        </p:nvGraphicFramePr>
        <p:xfrm>
          <a:off x="1310280" y="3868863"/>
          <a:ext cx="6824548" cy="879818"/>
        </p:xfrm>
        <a:graphic>
          <a:graphicData uri="http://schemas.openxmlformats.org/drawingml/2006/table">
            <a:tbl>
              <a:tblPr/>
              <a:tblGrid>
                <a:gridCol w="1311858">
                  <a:extLst>
                    <a:ext uri="{9D8B030D-6E8A-4147-A177-3AD203B41FA5}">
                      <a16:colId xmlns:a16="http://schemas.microsoft.com/office/drawing/2014/main" val="305823421"/>
                    </a:ext>
                  </a:extLst>
                </a:gridCol>
                <a:gridCol w="1534092">
                  <a:extLst>
                    <a:ext uri="{9D8B030D-6E8A-4147-A177-3AD203B41FA5}">
                      <a16:colId xmlns:a16="http://schemas.microsoft.com/office/drawing/2014/main" val="2264801863"/>
                    </a:ext>
                  </a:extLst>
                </a:gridCol>
                <a:gridCol w="1283188">
                  <a:extLst>
                    <a:ext uri="{9D8B030D-6E8A-4147-A177-3AD203B41FA5}">
                      <a16:colId xmlns:a16="http://schemas.microsoft.com/office/drawing/2014/main" val="3106331489"/>
                    </a:ext>
                  </a:extLst>
                </a:gridCol>
                <a:gridCol w="1347705">
                  <a:extLst>
                    <a:ext uri="{9D8B030D-6E8A-4147-A177-3AD203B41FA5}">
                      <a16:colId xmlns:a16="http://schemas.microsoft.com/office/drawing/2014/main" val="530607536"/>
                    </a:ext>
                  </a:extLst>
                </a:gridCol>
                <a:gridCol w="1347705">
                  <a:extLst>
                    <a:ext uri="{9D8B030D-6E8A-4147-A177-3AD203B41FA5}">
                      <a16:colId xmlns:a16="http://schemas.microsoft.com/office/drawing/2014/main" val="1935738953"/>
                    </a:ext>
                  </a:extLst>
                </a:gridCol>
              </a:tblGrid>
              <a:tr h="316860">
                <a:tc>
                  <a:txBody>
                    <a:bodyPr/>
                    <a:lstStyle/>
                    <a:p>
                      <a:pPr algn="ctr" fontAlgn="b">
                        <a:buNone/>
                      </a:pPr>
                      <a:r>
                        <a:rPr lang="en-US" sz="1100" b="1" i="0" u="none" strike="noStrike" noProof="0" dirty="0">
                          <a:solidFill>
                            <a:schemeClr val="bg1"/>
                          </a:solidFill>
                          <a:effectLst/>
                          <a:latin typeface="Cambria" panose="02040503050406030204" pitchFamily="18" charset="0"/>
                          <a:ea typeface="Cambria" panose="02040503050406030204" pitchFamily="18" charset="0"/>
                        </a:rPr>
                        <a:t>TERRITORY_NAME</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marL="0" algn="ctr" defTabSz="914400" rtl="0" eaLnBrk="1" fontAlgn="b" latinLnBrk="0" hangingPunct="1">
                        <a:buNone/>
                      </a:pPr>
                      <a:r>
                        <a:rPr lang="en-US" sz="1100" b="1" i="0" u="none" strike="noStrike" kern="1200" noProof="0" dirty="0">
                          <a:solidFill>
                            <a:schemeClr val="bg1"/>
                          </a:solidFill>
                          <a:effectLst/>
                          <a:latin typeface="Cambria" panose="02040503050406030204" pitchFamily="18" charset="0"/>
                          <a:ea typeface="Cambria" panose="02040503050406030204" pitchFamily="18" charset="0"/>
                          <a:cs typeface="+mn-cs"/>
                        </a:rPr>
                        <a:t>META_OTHER</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algn="ctr" fontAlgn="b">
                        <a:buNone/>
                      </a:pPr>
                      <a:r>
                        <a:rPr lang="en-US" sz="1100" b="1" i="0" u="none" strike="noStrike" noProof="0" dirty="0">
                          <a:solidFill>
                            <a:schemeClr val="bg1"/>
                          </a:solidFill>
                          <a:effectLst/>
                          <a:latin typeface="Cambria" panose="02040503050406030204" pitchFamily="18" charset="0"/>
                          <a:ea typeface="Cambria" panose="02040503050406030204" pitchFamily="18" charset="0"/>
                        </a:rPr>
                        <a:t>GOOGLE_DISPLAY</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algn="ctr" fontAlgn="b">
                        <a:buNone/>
                      </a:pPr>
                      <a:r>
                        <a:rPr lang="en-US" sz="1100" b="1" i="0" u="none" strike="noStrike" noProof="0" dirty="0">
                          <a:solidFill>
                            <a:schemeClr val="bg1"/>
                          </a:solidFill>
                          <a:effectLst/>
                          <a:latin typeface="Cambria" panose="02040503050406030204" pitchFamily="18" charset="0"/>
                          <a:ea typeface="Cambria" panose="02040503050406030204" pitchFamily="18" charset="0"/>
                        </a:rPr>
                        <a:t>META_INSTAGRAM</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algn="ctr" fontAlgn="b">
                        <a:buNone/>
                      </a:pPr>
                      <a:r>
                        <a:rPr lang="en-US" sz="1100" b="1" i="0" u="none" strike="noStrike" noProof="0" dirty="0">
                          <a:solidFill>
                            <a:schemeClr val="bg1"/>
                          </a:solidFill>
                          <a:effectLst/>
                          <a:latin typeface="Cambria" panose="02040503050406030204" pitchFamily="18" charset="0"/>
                          <a:ea typeface="Cambria" panose="02040503050406030204" pitchFamily="18" charset="0"/>
                        </a:rPr>
                        <a:t>META_FACEBOOK</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extLst>
                  <a:ext uri="{0D108BD9-81ED-4DB2-BD59-A6C34878D82A}">
                    <a16:rowId xmlns:a16="http://schemas.microsoft.com/office/drawing/2014/main" val="601277896"/>
                  </a:ext>
                </a:extLst>
              </a:tr>
              <a:tr h="249776">
                <a:tc>
                  <a:txBody>
                    <a:bodyPr/>
                    <a:lstStyle/>
                    <a:p>
                      <a:pPr algn="ctr" fontAlgn="b">
                        <a:buNone/>
                      </a:pPr>
                      <a:r>
                        <a:rPr lang="en-US" sz="1050" b="0" i="0" u="none" strike="noStrike" noProof="0" dirty="0">
                          <a:solidFill>
                            <a:srgbClr val="000000"/>
                          </a:solidFill>
                          <a:effectLst/>
                          <a:latin typeface="Cambria" panose="02040503050406030204" pitchFamily="18" charset="0"/>
                          <a:ea typeface="Cambria" panose="02040503050406030204" pitchFamily="18" charset="0"/>
                        </a:rPr>
                        <a:t>UK</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50" b="0" i="0" u="none" strike="noStrike" kern="1200" noProof="0" dirty="0">
                          <a:solidFill>
                            <a:srgbClr val="000000"/>
                          </a:solidFill>
                          <a:effectLst/>
                          <a:latin typeface="Cambria" panose="02040503050406030204" pitchFamily="18" charset="0"/>
                          <a:ea typeface="Cambria" panose="02040503050406030204" pitchFamily="18" charset="0"/>
                          <a:cs typeface="+mn-cs"/>
                        </a:rPr>
                        <a:t> $    18,786.06 </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algn="ctr" fontAlgn="b">
                        <a:buNone/>
                      </a:pPr>
                      <a:r>
                        <a:rPr lang="en-US" sz="1050" b="0" i="0" u="none" strike="noStrike" noProof="0" dirty="0">
                          <a:solidFill>
                            <a:srgbClr val="000000"/>
                          </a:solidFill>
                          <a:effectLst/>
                          <a:latin typeface="Cambria" panose="02040503050406030204" pitchFamily="18" charset="0"/>
                          <a:ea typeface="Cambria" panose="02040503050406030204" pitchFamily="18" charset="0"/>
                        </a:rPr>
                        <a:t> $ 57,980.82 </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algn="ctr" fontAlgn="b">
                        <a:buNone/>
                      </a:pPr>
                      <a:r>
                        <a:rPr lang="en-US" sz="1050" b="0" i="0" u="none" strike="noStrike" noProof="0" dirty="0">
                          <a:solidFill>
                            <a:srgbClr val="000000"/>
                          </a:solidFill>
                          <a:effectLst/>
                          <a:latin typeface="Cambria" panose="02040503050406030204" pitchFamily="18" charset="0"/>
                          <a:ea typeface="Cambria" panose="02040503050406030204" pitchFamily="18" charset="0"/>
                        </a:rPr>
                        <a:t> $  1,379,157.25 </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algn="ctr" fontAlgn="b">
                        <a:buNone/>
                      </a:pPr>
                      <a:r>
                        <a:rPr lang="en-US" sz="1050" b="0" i="0" u="none" strike="noStrike" noProof="0" dirty="0">
                          <a:solidFill>
                            <a:srgbClr val="000000"/>
                          </a:solidFill>
                          <a:effectLst/>
                          <a:latin typeface="Cambria" panose="02040503050406030204" pitchFamily="18" charset="0"/>
                          <a:ea typeface="Cambria" panose="02040503050406030204" pitchFamily="18" charset="0"/>
                        </a:rPr>
                        <a:t> $  4,916,769.60 </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extLst>
                  <a:ext uri="{0D108BD9-81ED-4DB2-BD59-A6C34878D82A}">
                    <a16:rowId xmlns:a16="http://schemas.microsoft.com/office/drawing/2014/main" val="960786519"/>
                  </a:ext>
                </a:extLst>
              </a:tr>
              <a:tr h="313182">
                <a:tc>
                  <a:txBody>
                    <a:bodyPr/>
                    <a:lstStyle/>
                    <a:p>
                      <a:pPr algn="ctr" fontAlgn="b">
                        <a:buNone/>
                      </a:pPr>
                      <a:r>
                        <a:rPr lang="en-US" sz="1050" b="0" i="0" u="none" strike="noStrike" noProof="0" dirty="0">
                          <a:solidFill>
                            <a:srgbClr val="000000"/>
                          </a:solidFill>
                          <a:effectLst/>
                          <a:latin typeface="Cambria" panose="02040503050406030204" pitchFamily="18" charset="0"/>
                          <a:ea typeface="Cambria" panose="02040503050406030204" pitchFamily="18" charset="0"/>
                        </a:rPr>
                        <a:t>US</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algn="ctr" defTabSz="914400" rtl="0" eaLnBrk="1" fontAlgn="b" latinLnBrk="0" hangingPunct="1">
                        <a:buNone/>
                      </a:pPr>
                      <a:r>
                        <a:rPr lang="en-US" sz="1050" b="0" i="0" u="none" strike="noStrike" kern="1200" noProof="0" dirty="0">
                          <a:solidFill>
                            <a:srgbClr val="000000"/>
                          </a:solidFill>
                          <a:effectLst/>
                          <a:latin typeface="Cambria" panose="02040503050406030204" pitchFamily="18" charset="0"/>
                          <a:ea typeface="Cambria" panose="02040503050406030204" pitchFamily="18" charset="0"/>
                          <a:cs typeface="+mn-cs"/>
                        </a:rPr>
                        <a:t> $       5,927.82 </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algn="ctr" fontAlgn="b">
                        <a:buNone/>
                      </a:pPr>
                      <a:r>
                        <a:rPr lang="en-US" sz="1050" b="0" i="0" u="none" strike="noStrike" noProof="0" dirty="0">
                          <a:solidFill>
                            <a:srgbClr val="000000"/>
                          </a:solidFill>
                          <a:effectLst/>
                          <a:latin typeface="Cambria" panose="02040503050406030204" pitchFamily="18" charset="0"/>
                          <a:ea typeface="Cambria" panose="02040503050406030204" pitchFamily="18" charset="0"/>
                        </a:rPr>
                        <a:t> $ 55,449.27 </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algn="ctr" fontAlgn="b">
                        <a:buNone/>
                      </a:pPr>
                      <a:r>
                        <a:rPr lang="en-US" sz="1050" b="0" i="0" u="none" strike="noStrike" noProof="0" dirty="0">
                          <a:solidFill>
                            <a:srgbClr val="000000"/>
                          </a:solidFill>
                          <a:effectLst/>
                          <a:latin typeface="Cambria" panose="02040503050406030204" pitchFamily="18" charset="0"/>
                          <a:ea typeface="Cambria" panose="02040503050406030204" pitchFamily="18" charset="0"/>
                        </a:rPr>
                        <a:t> $  2,052,001.72 </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algn="ctr" fontAlgn="b">
                        <a:buNone/>
                      </a:pPr>
                      <a:r>
                        <a:rPr lang="en-US" sz="1050" b="0" i="0" u="none" strike="noStrike" noProof="0" dirty="0">
                          <a:solidFill>
                            <a:srgbClr val="000000"/>
                          </a:solidFill>
                          <a:effectLst/>
                          <a:latin typeface="Cambria" panose="02040503050406030204" pitchFamily="18" charset="0"/>
                          <a:ea typeface="Cambria" panose="02040503050406030204" pitchFamily="18" charset="0"/>
                        </a:rPr>
                        <a:t> $  3,776,218.90 </a:t>
                      </a:r>
                    </a:p>
                  </a:txBody>
                  <a:tcPr marL="7620" marR="7620" marT="7620" marB="0"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2160747075"/>
                  </a:ext>
                </a:extLst>
              </a:tr>
            </a:tbl>
          </a:graphicData>
        </a:graphic>
      </p:graphicFrame>
      <p:sp>
        <p:nvSpPr>
          <p:cNvPr id="3" name="CasellaDiTesto 2">
            <a:extLst>
              <a:ext uri="{FF2B5EF4-FFF2-40B4-BE49-F238E27FC236}">
                <a16:creationId xmlns:a16="http://schemas.microsoft.com/office/drawing/2014/main" id="{DDFC3C2A-1BA9-AE13-D3A0-24E543F4348C}"/>
              </a:ext>
            </a:extLst>
          </p:cNvPr>
          <p:cNvSpPr txBox="1"/>
          <p:nvPr/>
        </p:nvSpPr>
        <p:spPr>
          <a:xfrm>
            <a:off x="5175207" y="2137658"/>
            <a:ext cx="3004839" cy="1191480"/>
          </a:xfrm>
          <a:prstGeom prst="rect">
            <a:avLst/>
          </a:prstGeom>
          <a:noFill/>
        </p:spPr>
        <p:txBody>
          <a:bodyPr wrap="square">
            <a:spAutoFit/>
          </a:bodyPr>
          <a:lstStyle/>
          <a:p>
            <a:pPr>
              <a:lnSpc>
                <a:spcPct val="115000"/>
              </a:lnSpc>
            </a:pPr>
            <a:r>
              <a:rPr lang="en-US" sz="1050" noProof="0" dirty="0">
                <a:latin typeface="Cambria" panose="02040503050406030204" pitchFamily="18" charset="0"/>
                <a:ea typeface="Cambria" panose="02040503050406030204" pitchFamily="18" charset="0"/>
                <a:cs typeface="Calibri" pitchFamily="34" charset="-120"/>
              </a:rPr>
              <a:t>Also, for this reason, in the US market, </a:t>
            </a:r>
            <a:r>
              <a:rPr lang="en-US" sz="1050" b="1" noProof="0" dirty="0">
                <a:solidFill>
                  <a:srgbClr val="1E2761"/>
                </a:solidFill>
                <a:latin typeface="Cambria" panose="02040503050406030204" pitchFamily="18" charset="0"/>
                <a:ea typeface="Cambria" panose="02040503050406030204" pitchFamily="18" charset="0"/>
                <a:cs typeface="Calibri" pitchFamily="34" charset="-120"/>
              </a:rPr>
              <a:t>META_FACEBOOK</a:t>
            </a:r>
            <a:r>
              <a:rPr lang="en-US" sz="1050" noProof="0" dirty="0">
                <a:solidFill>
                  <a:srgbClr val="1E2761"/>
                </a:solidFill>
                <a:latin typeface="Cambria" panose="02040503050406030204" pitchFamily="18" charset="0"/>
                <a:ea typeface="Cambria" panose="02040503050406030204" pitchFamily="18" charset="0"/>
                <a:cs typeface="Calibri" pitchFamily="34" charset="-120"/>
              </a:rPr>
              <a:t>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and </a:t>
            </a:r>
            <a:r>
              <a:rPr lang="en-US" sz="1050" b="1" noProof="0" dirty="0">
                <a:solidFill>
                  <a:srgbClr val="1E2761"/>
                </a:solidFill>
                <a:latin typeface="Cambria" panose="02040503050406030204" pitchFamily="18" charset="0"/>
                <a:ea typeface="Cambria" panose="02040503050406030204" pitchFamily="18" charset="0"/>
                <a:cs typeface="Calibri" pitchFamily="34" charset="-120"/>
              </a:rPr>
              <a:t>META_INSTAGRAM</a:t>
            </a:r>
            <a:r>
              <a:rPr lang="en-US" sz="1050" noProof="0" dirty="0">
                <a:solidFill>
                  <a:srgbClr val="1E2761"/>
                </a:solidFill>
                <a:latin typeface="Cambria" panose="02040503050406030204" pitchFamily="18" charset="0"/>
                <a:ea typeface="Cambria" panose="02040503050406030204" pitchFamily="18" charset="0"/>
                <a:cs typeface="Calibri" pitchFamily="34" charset="-120"/>
              </a:rPr>
              <a:t>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show the greatest impact on the total NET_REVENUE. </a:t>
            </a:r>
          </a:p>
          <a:p>
            <a:pPr>
              <a:lnSpc>
                <a:spcPct val="115000"/>
              </a:lnSpc>
            </a:pPr>
            <a:r>
              <a:rPr lang="en-US" sz="1050" dirty="0">
                <a:solidFill>
                  <a:srgbClr val="1E293B"/>
                </a:solidFill>
                <a:latin typeface="Cambria" panose="02040503050406030204" pitchFamily="18" charset="0"/>
                <a:ea typeface="Cambria" panose="02040503050406030204" pitchFamily="18" charset="0"/>
                <a:cs typeface="Calibri" pitchFamily="34" charset="-120"/>
              </a:rPr>
              <a:t>Below the actual spending on each channel for each media channel.</a:t>
            </a:r>
            <a:endParaRPr lang="en-US" sz="1050" noProof="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86032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4" name="Text 1"/>
          <p:cNvSpPr/>
          <p:nvPr/>
        </p:nvSpPr>
        <p:spPr>
          <a:xfrm>
            <a:off x="274319" y="337141"/>
            <a:ext cx="8229600" cy="338460"/>
          </a:xfrm>
          <a:prstGeom prst="rect">
            <a:avLst/>
          </a:prstGeom>
          <a:noFill/>
          <a:ln/>
        </p:spPr>
        <p:txBody>
          <a:bodyPr wrap="square" lIns="0" tIns="0" rIns="0" bIns="0" rtlCol="0" anchor="ctr"/>
          <a:lstStyle/>
          <a:p>
            <a:pPr marL="0" indent="0" algn="l">
              <a:buNone/>
            </a:pPr>
            <a:r>
              <a:rPr lang="en-US" sz="2800" b="1" noProof="0" dirty="0">
                <a:solidFill>
                  <a:srgbClr val="FFFFFF"/>
                </a:solidFill>
                <a:latin typeface="EucrosiaUPC" panose="02020603050405020304" pitchFamily="18" charset="-34"/>
                <a:ea typeface="Cambria" pitchFamily="34" charset="-122"/>
                <a:cs typeface="EucrosiaUPC" panose="02020603050405020304" pitchFamily="18" charset="-34"/>
              </a:rPr>
              <a:t>6. Scenario Simulation: Comparing the 3 budget strategies  </a:t>
            </a:r>
            <a:endParaRPr lang="en-US" sz="2800" noProof="0" dirty="0">
              <a:latin typeface="EucrosiaUPC" panose="02020603050405020304" pitchFamily="18" charset="-34"/>
              <a:cs typeface="EucrosiaUPC" panose="02020603050405020304" pitchFamily="18" charset="-34"/>
            </a:endParaRPr>
          </a:p>
        </p:txBody>
      </p:sp>
      <p:sp>
        <p:nvSpPr>
          <p:cNvPr id="45" name="Shape 1">
            <a:extLst>
              <a:ext uri="{FF2B5EF4-FFF2-40B4-BE49-F238E27FC236}">
                <a16:creationId xmlns:a16="http://schemas.microsoft.com/office/drawing/2014/main" id="{F148BDF1-6A96-5B54-AF82-6E8D962841A4}"/>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47" name="Text 2">
            <a:extLst>
              <a:ext uri="{FF2B5EF4-FFF2-40B4-BE49-F238E27FC236}">
                <a16:creationId xmlns:a16="http://schemas.microsoft.com/office/drawing/2014/main" id="{66694EAD-E935-8376-5DCB-9958272A5608}"/>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09</a:t>
            </a:r>
            <a:endParaRPr lang="en-US" sz="1300" noProof="0" dirty="0"/>
          </a:p>
        </p:txBody>
      </p:sp>
      <p:sp>
        <p:nvSpPr>
          <p:cNvPr id="41" name="Text 0">
            <a:extLst>
              <a:ext uri="{FF2B5EF4-FFF2-40B4-BE49-F238E27FC236}">
                <a16:creationId xmlns:a16="http://schemas.microsoft.com/office/drawing/2014/main" id="{7B9F596E-A98E-26D9-AD5C-32D7BA13E416}"/>
              </a:ext>
            </a:extLst>
          </p:cNvPr>
          <p:cNvSpPr/>
          <p:nvPr/>
        </p:nvSpPr>
        <p:spPr>
          <a:xfrm>
            <a:off x="274319" y="42203"/>
            <a:ext cx="1055077"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PART F</a:t>
            </a:r>
            <a:endParaRPr lang="en-US" sz="900" noProof="0" dirty="0"/>
          </a:p>
        </p:txBody>
      </p:sp>
      <p:sp>
        <p:nvSpPr>
          <p:cNvPr id="23" name="Text 0">
            <a:extLst>
              <a:ext uri="{FF2B5EF4-FFF2-40B4-BE49-F238E27FC236}">
                <a16:creationId xmlns:a16="http://schemas.microsoft.com/office/drawing/2014/main" id="{24F659F1-5679-6EC5-D1A2-42DA21A78418}"/>
              </a:ext>
            </a:extLst>
          </p:cNvPr>
          <p:cNvSpPr/>
          <p:nvPr/>
        </p:nvSpPr>
        <p:spPr>
          <a:xfrm>
            <a:off x="457200" y="292608"/>
            <a:ext cx="8229600" cy="274320"/>
          </a:xfrm>
          <a:prstGeom prst="rect">
            <a:avLst/>
          </a:prstGeom>
          <a:noFill/>
          <a:ln/>
        </p:spPr>
        <p:txBody>
          <a:bodyPr wrap="square" lIns="0" tIns="0" rIns="0" bIns="0" rtlCol="0" anchor="ctr"/>
          <a:lstStyle/>
          <a:p>
            <a:pPr marL="0" indent="0">
              <a:buNone/>
            </a:pPr>
            <a:endParaRPr lang="en-US" sz="1200" noProof="0" dirty="0"/>
          </a:p>
        </p:txBody>
      </p:sp>
      <p:sp>
        <p:nvSpPr>
          <p:cNvPr id="38" name="Text 1">
            <a:extLst>
              <a:ext uri="{FF2B5EF4-FFF2-40B4-BE49-F238E27FC236}">
                <a16:creationId xmlns:a16="http://schemas.microsoft.com/office/drawing/2014/main" id="{24A6C1A4-5F35-159D-4FD0-6EF25F92C53D}"/>
              </a:ext>
            </a:extLst>
          </p:cNvPr>
          <p:cNvSpPr/>
          <p:nvPr/>
        </p:nvSpPr>
        <p:spPr>
          <a:xfrm>
            <a:off x="457200" y="497642"/>
            <a:ext cx="8229600" cy="566928"/>
          </a:xfrm>
          <a:prstGeom prst="rect">
            <a:avLst/>
          </a:prstGeom>
          <a:noFill/>
          <a:ln/>
        </p:spPr>
        <p:txBody>
          <a:bodyPr wrap="square" lIns="0" tIns="0" rIns="0" bIns="0" rtlCol="0" anchor="ctr"/>
          <a:lstStyle/>
          <a:p>
            <a:pPr marL="0" indent="0">
              <a:buNone/>
            </a:pPr>
            <a:endParaRPr lang="en-US" sz="2800" noProof="0" dirty="0"/>
          </a:p>
        </p:txBody>
      </p:sp>
      <p:sp>
        <p:nvSpPr>
          <p:cNvPr id="40" name="Text 2">
            <a:extLst>
              <a:ext uri="{FF2B5EF4-FFF2-40B4-BE49-F238E27FC236}">
                <a16:creationId xmlns:a16="http://schemas.microsoft.com/office/drawing/2014/main" id="{DECC6FCA-5287-B612-26BD-47274432B05E}"/>
              </a:ext>
            </a:extLst>
          </p:cNvPr>
          <p:cNvSpPr/>
          <p:nvPr/>
        </p:nvSpPr>
        <p:spPr>
          <a:xfrm>
            <a:off x="475488" y="1023073"/>
            <a:ext cx="7791283" cy="274320"/>
          </a:xfrm>
          <a:prstGeom prst="rect">
            <a:avLst/>
          </a:prstGeom>
          <a:noFill/>
          <a:ln/>
        </p:spPr>
        <p:txBody>
          <a:bodyPr wrap="square" lIns="0" tIns="0" rIns="0" bIns="0" rtlCol="0" anchor="ctr"/>
          <a:lstStyle/>
          <a:p>
            <a:r>
              <a:rPr lang="en-US" sz="1050" noProof="0" dirty="0">
                <a:latin typeface="Cambria" panose="02040503050406030204" pitchFamily="18" charset="0"/>
                <a:ea typeface="Cambria" panose="02040503050406030204" pitchFamily="18" charset="0"/>
              </a:rPr>
              <a:t>All scenarios share the same external extra budget (+20% of total historical spend = ~€2M) making </a:t>
            </a:r>
            <a:r>
              <a:rPr lang="en-US" sz="1050" noProof="0" dirty="0" err="1">
                <a:latin typeface="Cambria" panose="02040503050406030204" pitchFamily="18" charset="0"/>
                <a:ea typeface="Cambria" panose="02040503050406030204" pitchFamily="18" charset="0"/>
              </a:rPr>
              <a:t>delta_abs</a:t>
            </a:r>
            <a:r>
              <a:rPr lang="en-US" sz="1050" noProof="0" dirty="0">
                <a:latin typeface="Cambria" panose="02040503050406030204" pitchFamily="18" charset="0"/>
                <a:ea typeface="Cambria" panose="02040503050406030204" pitchFamily="18" charset="0"/>
              </a:rPr>
              <a:t>, </a:t>
            </a:r>
            <a:r>
              <a:rPr lang="en-US" sz="1050" noProof="0" dirty="0" err="1">
                <a:latin typeface="Cambria" panose="02040503050406030204" pitchFamily="18" charset="0"/>
                <a:ea typeface="Cambria" panose="02040503050406030204" pitchFamily="18" charset="0"/>
              </a:rPr>
              <a:t>incremental_purchases</a:t>
            </a:r>
            <a:r>
              <a:rPr lang="en-US" sz="1050" noProof="0" dirty="0">
                <a:latin typeface="Cambria" panose="02040503050406030204" pitchFamily="18" charset="0"/>
                <a:ea typeface="Cambria" panose="02040503050406030204" pitchFamily="18" charset="0"/>
              </a:rPr>
              <a:t> and </a:t>
            </a:r>
            <a:r>
              <a:rPr lang="en-US" sz="1050" noProof="0" dirty="0" err="1">
                <a:latin typeface="Cambria" panose="02040503050406030204" pitchFamily="18" charset="0"/>
                <a:ea typeface="Cambria" panose="02040503050406030204" pitchFamily="18" charset="0"/>
              </a:rPr>
              <a:t>incremental_roi</a:t>
            </a:r>
            <a:r>
              <a:rPr lang="en-US" sz="1050" noProof="0" dirty="0">
                <a:latin typeface="Cambria" panose="02040503050406030204" pitchFamily="18" charset="0"/>
                <a:ea typeface="Cambria" panose="02040503050406030204" pitchFamily="18" charset="0"/>
              </a:rPr>
              <a:t> directly comparable across rows. Scenario 3 also reallocates freed budget internally from saturated channels.</a:t>
            </a:r>
          </a:p>
        </p:txBody>
      </p:sp>
      <p:graphicFrame>
        <p:nvGraphicFramePr>
          <p:cNvPr id="44" name="Table 0">
            <a:extLst>
              <a:ext uri="{FF2B5EF4-FFF2-40B4-BE49-F238E27FC236}">
                <a16:creationId xmlns:a16="http://schemas.microsoft.com/office/drawing/2014/main" id="{CA448C2A-1B75-2DEF-7F0A-5C354D43D548}"/>
              </a:ext>
            </a:extLst>
          </p:cNvPr>
          <p:cNvGraphicFramePr>
            <a:graphicFrameLocks noGrp="1"/>
          </p:cNvGraphicFramePr>
          <p:nvPr>
            <p:extLst>
              <p:ext uri="{D42A27DB-BD31-4B8C-83A1-F6EECF244321}">
                <p14:modId xmlns:p14="http://schemas.microsoft.com/office/powerpoint/2010/main" val="2761713159"/>
              </p:ext>
            </p:extLst>
          </p:nvPr>
        </p:nvGraphicFramePr>
        <p:xfrm>
          <a:off x="710416" y="1537205"/>
          <a:ext cx="7357405" cy="1166916"/>
        </p:xfrm>
        <a:graphic>
          <a:graphicData uri="http://schemas.openxmlformats.org/drawingml/2006/table">
            <a:tbl>
              <a:tblPr/>
              <a:tblGrid>
                <a:gridCol w="2942962">
                  <a:extLst>
                    <a:ext uri="{9D8B030D-6E8A-4147-A177-3AD203B41FA5}">
                      <a16:colId xmlns:a16="http://schemas.microsoft.com/office/drawing/2014/main" val="20000"/>
                    </a:ext>
                  </a:extLst>
                </a:gridCol>
                <a:gridCol w="1634979">
                  <a:extLst>
                    <a:ext uri="{9D8B030D-6E8A-4147-A177-3AD203B41FA5}">
                      <a16:colId xmlns:a16="http://schemas.microsoft.com/office/drawing/2014/main" val="20001"/>
                    </a:ext>
                  </a:extLst>
                </a:gridCol>
                <a:gridCol w="1634979">
                  <a:extLst>
                    <a:ext uri="{9D8B030D-6E8A-4147-A177-3AD203B41FA5}">
                      <a16:colId xmlns:a16="http://schemas.microsoft.com/office/drawing/2014/main" val="20002"/>
                    </a:ext>
                  </a:extLst>
                </a:gridCol>
                <a:gridCol w="1144485">
                  <a:extLst>
                    <a:ext uri="{9D8B030D-6E8A-4147-A177-3AD203B41FA5}">
                      <a16:colId xmlns:a16="http://schemas.microsoft.com/office/drawing/2014/main" val="20003"/>
                    </a:ext>
                  </a:extLst>
                </a:gridCol>
              </a:tblGrid>
              <a:tr h="291729">
                <a:tc>
                  <a:txBody>
                    <a:bodyP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rPr>
                        <a:t>Scenario</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rPr>
                        <a:t>Incr. Revenue</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rPr>
                        <a:t>Incr. Purchases</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tc>
                  <a:txBody>
                    <a:bodyPr/>
                    <a:lstStyle/>
                    <a:p>
                      <a:pPr marL="0" indent="0" algn="ctr">
                        <a:buNone/>
                      </a:pPr>
                      <a:r>
                        <a:rPr lang="en-US" sz="1100" b="1" noProof="0" dirty="0">
                          <a:solidFill>
                            <a:srgbClr val="FFFFFF"/>
                          </a:solidFill>
                          <a:latin typeface="Cambria" panose="02040503050406030204" pitchFamily="18" charset="0"/>
                          <a:ea typeface="Cambria" panose="02040503050406030204" pitchFamily="18" charset="0"/>
                        </a:rPr>
                        <a:t>Incr. ROI</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91729">
                <a:tc>
                  <a:txBody>
                    <a:bodyPr/>
                    <a:lstStyle/>
                    <a:p>
                      <a:pPr marL="0" indent="0" algn="l">
                        <a:buNone/>
                      </a:pPr>
                      <a:r>
                        <a:rPr lang="en-US" sz="1100" noProof="0" dirty="0">
                          <a:solidFill>
                            <a:srgbClr val="1E293B"/>
                          </a:solidFill>
                          <a:latin typeface="Cambria" panose="02040503050406030204" pitchFamily="18" charset="0"/>
                          <a:ea typeface="Cambria" panose="02040503050406030204" pitchFamily="18" charset="0"/>
                        </a:rPr>
                        <a:t>1. Equal Allocation</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noProof="0" dirty="0">
                          <a:solidFill>
                            <a:srgbClr val="1E293B"/>
                          </a:solidFill>
                          <a:latin typeface="Cambria" panose="02040503050406030204" pitchFamily="18" charset="0"/>
                          <a:ea typeface="Cambria" panose="02040503050406030204" pitchFamily="18" charset="0"/>
                        </a:rPr>
                        <a:t>€2,057,051</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noProof="0" dirty="0">
                          <a:solidFill>
                            <a:srgbClr val="1E293B"/>
                          </a:solidFill>
                          <a:latin typeface="Cambria" panose="02040503050406030204" pitchFamily="18" charset="0"/>
                          <a:ea typeface="Cambria" panose="02040503050406030204" pitchFamily="18" charset="0"/>
                        </a:rPr>
                        <a:t>17,092</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b="1" noProof="0" dirty="0">
                          <a:solidFill>
                            <a:srgbClr val="1E293B"/>
                          </a:solidFill>
                          <a:latin typeface="Cambria" panose="02040503050406030204" pitchFamily="18" charset="0"/>
                          <a:ea typeface="Cambria" panose="02040503050406030204" pitchFamily="18" charset="0"/>
                        </a:rPr>
                        <a:t>1.02</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1729">
                <a:tc>
                  <a:txBody>
                    <a:bodyPr/>
                    <a:lstStyle/>
                    <a:p>
                      <a:pPr marL="0" indent="0" algn="l">
                        <a:buNone/>
                      </a:pPr>
                      <a:r>
                        <a:rPr lang="en-US" sz="1100" noProof="0" dirty="0">
                          <a:solidFill>
                            <a:srgbClr val="64748B"/>
                          </a:solidFill>
                          <a:latin typeface="Cambria" panose="02040503050406030204" pitchFamily="18" charset="0"/>
                          <a:ea typeface="Cambria" panose="02040503050406030204" pitchFamily="18" charset="0"/>
                        </a:rPr>
                        <a:t>2. </a:t>
                      </a:r>
                      <a:r>
                        <a:rPr lang="en-US" sz="1100" noProof="0" dirty="0" err="1">
                          <a:solidFill>
                            <a:srgbClr val="64748B"/>
                          </a:solidFill>
                          <a:latin typeface="Cambria" panose="02040503050406030204" pitchFamily="18" charset="0"/>
                          <a:ea typeface="Cambria" panose="02040503050406030204" pitchFamily="18" charset="0"/>
                        </a:rPr>
                        <a:t>mROI</a:t>
                      </a:r>
                      <a:r>
                        <a:rPr lang="en-US" sz="1100" noProof="0" dirty="0">
                          <a:solidFill>
                            <a:srgbClr val="64748B"/>
                          </a:solidFill>
                          <a:latin typeface="Cambria" panose="02040503050406030204" pitchFamily="18" charset="0"/>
                          <a:ea typeface="Cambria" panose="02040503050406030204" pitchFamily="18" charset="0"/>
                        </a:rPr>
                        <a:t>-Optimized (all-in on META_OTHER)</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noProof="0" dirty="0">
                          <a:solidFill>
                            <a:srgbClr val="1E293B"/>
                          </a:solidFill>
                          <a:latin typeface="Cambria" panose="02040503050406030204" pitchFamily="18" charset="0"/>
                          <a:ea typeface="Cambria" panose="02040503050406030204" pitchFamily="18" charset="0"/>
                        </a:rPr>
                        <a:t>€296,755</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i="1" noProof="0" dirty="0">
                          <a:solidFill>
                            <a:srgbClr val="64748B"/>
                          </a:solidFill>
                          <a:latin typeface="Cambria" panose="02040503050406030204" pitchFamily="18" charset="0"/>
                          <a:ea typeface="Cambria" panose="02040503050406030204" pitchFamily="18" charset="0"/>
                        </a:rPr>
                        <a:t>2,465</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tc>
                  <a:txBody>
                    <a:bodyPr/>
                    <a:lstStyle/>
                    <a:p>
                      <a:pPr marL="0" indent="0" algn="ctr">
                        <a:buNone/>
                      </a:pPr>
                      <a:r>
                        <a:rPr lang="en-US" sz="1100" b="1" i="1" noProof="0" dirty="0">
                          <a:solidFill>
                            <a:srgbClr val="64748B"/>
                          </a:solidFill>
                          <a:latin typeface="Cambria" panose="02040503050406030204" pitchFamily="18" charset="0"/>
                          <a:ea typeface="Cambria" panose="02040503050406030204" pitchFamily="18" charset="0"/>
                        </a:rPr>
                        <a:t>~0.15</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1729">
                <a:tc>
                  <a:txBody>
                    <a:bodyPr/>
                    <a:lstStyle/>
                    <a:p>
                      <a:pPr marL="0" indent="0" algn="l">
                        <a:buNone/>
                      </a:pPr>
                      <a:r>
                        <a:rPr lang="en-US" sz="1100" b="1" noProof="0" dirty="0">
                          <a:solidFill>
                            <a:schemeClr val="tx1"/>
                          </a:solidFill>
                          <a:latin typeface="Cambria" panose="02040503050406030204" pitchFamily="18" charset="0"/>
                          <a:ea typeface="Cambria" panose="02040503050406030204" pitchFamily="18" charset="0"/>
                        </a:rPr>
                        <a:t>3. Saturation-Aware Reallocation</a:t>
                      </a:r>
                      <a:endParaRPr lang="en-US" sz="1100" noProof="0" dirty="0">
                        <a:solidFill>
                          <a:schemeClr val="tx1"/>
                        </a:solidFill>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AED8E6"/>
                    </a:solidFill>
                  </a:tcPr>
                </a:tc>
                <a:tc>
                  <a:txBody>
                    <a:bodyPr/>
                    <a:lstStyle/>
                    <a:p>
                      <a:pPr marL="0" indent="0" algn="ctr">
                        <a:buNone/>
                      </a:pPr>
                      <a:r>
                        <a:rPr lang="en-US" sz="1100" b="1" noProof="0" dirty="0">
                          <a:solidFill>
                            <a:srgbClr val="0B3D3F"/>
                          </a:solidFill>
                          <a:latin typeface="Cambria" panose="02040503050406030204" pitchFamily="18" charset="0"/>
                          <a:ea typeface="Cambria" panose="02040503050406030204" pitchFamily="18" charset="0"/>
                        </a:rPr>
                        <a:t>€2,508,218</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AED8E6"/>
                    </a:solidFill>
                  </a:tcPr>
                </a:tc>
                <a:tc>
                  <a:txBody>
                    <a:bodyPr/>
                    <a:lstStyle/>
                    <a:p>
                      <a:pPr marL="0" indent="0" algn="ctr">
                        <a:buNone/>
                      </a:pPr>
                      <a:r>
                        <a:rPr lang="en-US" sz="1100" b="1" noProof="0" dirty="0">
                          <a:solidFill>
                            <a:srgbClr val="0B3D3F"/>
                          </a:solidFill>
                          <a:latin typeface="Cambria" panose="02040503050406030204" pitchFamily="18" charset="0"/>
                          <a:ea typeface="Cambria" panose="02040503050406030204" pitchFamily="18" charset="0"/>
                        </a:rPr>
                        <a:t>20,841</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AED8E6"/>
                    </a:solidFill>
                  </a:tcPr>
                </a:tc>
                <a:tc>
                  <a:txBody>
                    <a:bodyPr/>
                    <a:lstStyle/>
                    <a:p>
                      <a:pPr marL="0" indent="0" algn="ctr">
                        <a:buNone/>
                      </a:pPr>
                      <a:r>
                        <a:rPr lang="en-US" sz="1100" b="1" noProof="0" dirty="0">
                          <a:solidFill>
                            <a:srgbClr val="0B3D3F"/>
                          </a:solidFill>
                          <a:latin typeface="Cambria" panose="02040503050406030204" pitchFamily="18" charset="0"/>
                          <a:ea typeface="Cambria" panose="02040503050406030204" pitchFamily="18" charset="0"/>
                        </a:rPr>
                        <a:t>1.24</a:t>
                      </a:r>
                      <a:endParaRPr lang="en-US" sz="1100" noProof="0" dirty="0">
                        <a:latin typeface="Cambria" panose="02040503050406030204" pitchFamily="18" charset="0"/>
                        <a:ea typeface="Cambria" panose="02040503050406030204" pitchFamily="18"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AED8E6"/>
                    </a:solidFill>
                  </a:tcPr>
                </a:tc>
                <a:extLst>
                  <a:ext uri="{0D108BD9-81ED-4DB2-BD59-A6C34878D82A}">
                    <a16:rowId xmlns:a16="http://schemas.microsoft.com/office/drawing/2014/main" val="10003"/>
                  </a:ext>
                </a:extLst>
              </a:tr>
            </a:tbl>
          </a:graphicData>
        </a:graphic>
      </p:graphicFrame>
      <p:sp>
        <p:nvSpPr>
          <p:cNvPr id="50" name="Shape 3">
            <a:extLst>
              <a:ext uri="{FF2B5EF4-FFF2-40B4-BE49-F238E27FC236}">
                <a16:creationId xmlns:a16="http://schemas.microsoft.com/office/drawing/2014/main" id="{1D7375DA-30CF-975B-A2B4-8D86DDBCCFA4}"/>
              </a:ext>
            </a:extLst>
          </p:cNvPr>
          <p:cNvSpPr/>
          <p:nvPr/>
        </p:nvSpPr>
        <p:spPr>
          <a:xfrm>
            <a:off x="2201732" y="2894856"/>
            <a:ext cx="438912" cy="438912"/>
          </a:xfrm>
          <a:prstGeom prst="ellipse">
            <a:avLst/>
          </a:prstGeom>
          <a:solidFill>
            <a:srgbClr val="AED8E6"/>
          </a:solidFill>
          <a:ln/>
        </p:spPr>
        <p:txBody>
          <a:bodyPr/>
          <a:lstStyle/>
          <a:p>
            <a:endParaRPr lang="en-US" sz="1050" noProof="0" dirty="0">
              <a:latin typeface="Cambria" panose="02040503050406030204" pitchFamily="18" charset="0"/>
              <a:ea typeface="Cambria" panose="02040503050406030204" pitchFamily="18" charset="0"/>
            </a:endParaRPr>
          </a:p>
        </p:txBody>
      </p:sp>
      <p:pic>
        <p:nvPicPr>
          <p:cNvPr id="52" name="Image 0" descr="preencoded.png">
            <a:extLst>
              <a:ext uri="{FF2B5EF4-FFF2-40B4-BE49-F238E27FC236}">
                <a16:creationId xmlns:a16="http://schemas.microsoft.com/office/drawing/2014/main" id="{2D5A1C37-A988-4959-CC7F-F29C71FEF381}"/>
              </a:ext>
            </a:extLst>
          </p:cNvPr>
          <p:cNvPicPr>
            <a:picLocks noChangeAspect="1"/>
          </p:cNvPicPr>
          <p:nvPr/>
        </p:nvPicPr>
        <p:blipFill>
          <a:blip r:embed="rId3"/>
          <a:stretch>
            <a:fillRect/>
          </a:stretch>
        </p:blipFill>
        <p:spPr>
          <a:xfrm>
            <a:off x="2315849" y="3008973"/>
            <a:ext cx="210678" cy="210678"/>
          </a:xfrm>
          <a:prstGeom prst="rect">
            <a:avLst/>
          </a:prstGeom>
        </p:spPr>
      </p:pic>
      <p:sp>
        <p:nvSpPr>
          <p:cNvPr id="54" name="Text 4">
            <a:extLst>
              <a:ext uri="{FF2B5EF4-FFF2-40B4-BE49-F238E27FC236}">
                <a16:creationId xmlns:a16="http://schemas.microsoft.com/office/drawing/2014/main" id="{12C1CB85-1DCC-DD18-D30D-29C876F785E5}"/>
              </a:ext>
            </a:extLst>
          </p:cNvPr>
          <p:cNvSpPr/>
          <p:nvPr/>
        </p:nvSpPr>
        <p:spPr>
          <a:xfrm>
            <a:off x="1157272" y="3350108"/>
            <a:ext cx="2521960" cy="1016065"/>
          </a:xfrm>
          <a:prstGeom prst="rect">
            <a:avLst/>
          </a:prstGeom>
          <a:noFill/>
          <a:ln/>
        </p:spPr>
        <p:txBody>
          <a:bodyPr wrap="square" lIns="0" tIns="0" rIns="0" bIns="0" rtlCol="0" anchor="ctr"/>
          <a:lstStyle/>
          <a:p>
            <a:pPr marL="0" indent="0" algn="ctr">
              <a:lnSpc>
                <a:spcPct val="115000"/>
              </a:lnSpc>
              <a:buNone/>
            </a:pPr>
            <a:r>
              <a:rPr lang="en-US" sz="1050" b="1" noProof="0" dirty="0">
                <a:solidFill>
                  <a:srgbClr val="1E293B"/>
                </a:solidFill>
                <a:latin typeface="Cambria" panose="02040503050406030204" pitchFamily="18" charset="0"/>
                <a:ea typeface="Cambria" panose="02040503050406030204" pitchFamily="18" charset="0"/>
                <a:cs typeface="Calibri" pitchFamily="34" charset="-120"/>
              </a:rPr>
              <a:t>Best strategy: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Saturation-aware reallocation wins on revenue, purchases, and ROI by combining the extra budget with an internal shift away from GOOGLE_DISPLAY.</a:t>
            </a:r>
            <a:endParaRPr lang="en-US" sz="1050" noProof="0" dirty="0">
              <a:latin typeface="Cambria" panose="02040503050406030204" pitchFamily="18" charset="0"/>
              <a:ea typeface="Cambria" panose="02040503050406030204" pitchFamily="18" charset="0"/>
            </a:endParaRPr>
          </a:p>
        </p:txBody>
      </p:sp>
      <p:sp>
        <p:nvSpPr>
          <p:cNvPr id="56" name="Shape 5">
            <a:extLst>
              <a:ext uri="{FF2B5EF4-FFF2-40B4-BE49-F238E27FC236}">
                <a16:creationId xmlns:a16="http://schemas.microsoft.com/office/drawing/2014/main" id="{AFC128A3-C06E-4509-C178-BD9A33D79A03}"/>
              </a:ext>
            </a:extLst>
          </p:cNvPr>
          <p:cNvSpPr/>
          <p:nvPr/>
        </p:nvSpPr>
        <p:spPr>
          <a:xfrm>
            <a:off x="6135478" y="2851907"/>
            <a:ext cx="438912" cy="438912"/>
          </a:xfrm>
          <a:prstGeom prst="ellipse">
            <a:avLst/>
          </a:prstGeom>
          <a:solidFill>
            <a:srgbClr val="CADCFC"/>
          </a:solidFill>
          <a:ln/>
        </p:spPr>
        <p:txBody>
          <a:bodyPr/>
          <a:lstStyle/>
          <a:p>
            <a:endParaRPr lang="en-US" sz="1050" noProof="0" dirty="0">
              <a:latin typeface="Cambria" panose="02040503050406030204" pitchFamily="18" charset="0"/>
              <a:ea typeface="Cambria" panose="02040503050406030204" pitchFamily="18" charset="0"/>
            </a:endParaRPr>
          </a:p>
        </p:txBody>
      </p:sp>
      <p:pic>
        <p:nvPicPr>
          <p:cNvPr id="58" name="Image 1" descr="preencoded.png">
            <a:extLst>
              <a:ext uri="{FF2B5EF4-FFF2-40B4-BE49-F238E27FC236}">
                <a16:creationId xmlns:a16="http://schemas.microsoft.com/office/drawing/2014/main" id="{35BFB2AD-6893-CD9D-59CD-590E1C131C18}"/>
              </a:ext>
            </a:extLst>
          </p:cNvPr>
          <p:cNvPicPr>
            <a:picLocks noChangeAspect="1"/>
          </p:cNvPicPr>
          <p:nvPr/>
        </p:nvPicPr>
        <p:blipFill>
          <a:blip r:embed="rId4"/>
          <a:stretch>
            <a:fillRect/>
          </a:stretch>
        </p:blipFill>
        <p:spPr>
          <a:xfrm>
            <a:off x="6249595" y="2966024"/>
            <a:ext cx="210678" cy="210678"/>
          </a:xfrm>
          <a:prstGeom prst="rect">
            <a:avLst/>
          </a:prstGeom>
        </p:spPr>
      </p:pic>
      <p:sp>
        <p:nvSpPr>
          <p:cNvPr id="60" name="Text 6">
            <a:extLst>
              <a:ext uri="{FF2B5EF4-FFF2-40B4-BE49-F238E27FC236}">
                <a16:creationId xmlns:a16="http://schemas.microsoft.com/office/drawing/2014/main" id="{E7514AA1-C0E8-473B-B0B1-86E06C0AA16B}"/>
              </a:ext>
            </a:extLst>
          </p:cNvPr>
          <p:cNvSpPr/>
          <p:nvPr/>
        </p:nvSpPr>
        <p:spPr>
          <a:xfrm>
            <a:off x="4723139" y="3350108"/>
            <a:ext cx="3263589" cy="1260909"/>
          </a:xfrm>
          <a:prstGeom prst="rect">
            <a:avLst/>
          </a:prstGeom>
          <a:noFill/>
          <a:ln/>
        </p:spPr>
        <p:txBody>
          <a:bodyPr wrap="square" lIns="0" tIns="0" rIns="0" bIns="0" rtlCol="0" anchor="ctr"/>
          <a:lstStyle/>
          <a:p>
            <a:pPr algn="ctr">
              <a:lnSpc>
                <a:spcPct val="115000"/>
              </a:lnSpc>
            </a:pPr>
            <a:r>
              <a:rPr lang="en-US" sz="1050" b="1" noProof="0" dirty="0">
                <a:solidFill>
                  <a:srgbClr val="1E293B"/>
                </a:solidFill>
                <a:latin typeface="Cambria" panose="02040503050406030204" pitchFamily="18" charset="0"/>
                <a:ea typeface="Cambria" panose="02040503050406030204" pitchFamily="18" charset="0"/>
                <a:cs typeface="Calibri" pitchFamily="34" charset="-120"/>
              </a:rPr>
              <a:t>Cautionary case:  </a:t>
            </a:r>
            <a:r>
              <a:rPr lang="en-US" sz="1050" noProof="0" dirty="0">
                <a:solidFill>
                  <a:srgbClr val="1E293B"/>
                </a:solidFill>
                <a:latin typeface="Cambria" panose="02040503050406030204" pitchFamily="18" charset="0"/>
                <a:ea typeface="Cambria" panose="02040503050406030204" pitchFamily="18" charset="0"/>
                <a:cs typeface="Calibri" pitchFamily="34" charset="-120"/>
              </a:rPr>
              <a:t>Concentrating all extra budget on META_OTHER looks very inefficient on the Meridian results, but the problem is that channel has limited historical spend and increasing the budget from 20K to over 2M saturates quickly and the results given are not reliable on the conclusion.  </a:t>
            </a:r>
            <a:endParaRPr lang="en-US" sz="1050" noProof="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08D19F-CCFC-068C-81C1-6819C9C4A8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F170A7-8265-DC8F-44F2-6048DFD061E4}"/>
              </a:ext>
            </a:extLst>
          </p:cNvPr>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US" noProof="0" dirty="0"/>
          </a:p>
        </p:txBody>
      </p:sp>
      <p:sp>
        <p:nvSpPr>
          <p:cNvPr id="4" name="Text 1">
            <a:extLst>
              <a:ext uri="{FF2B5EF4-FFF2-40B4-BE49-F238E27FC236}">
                <a16:creationId xmlns:a16="http://schemas.microsoft.com/office/drawing/2014/main" id="{4B7D495C-1514-DD23-1E4B-99B250362FAF}"/>
              </a:ext>
            </a:extLst>
          </p:cNvPr>
          <p:cNvSpPr/>
          <p:nvPr/>
        </p:nvSpPr>
        <p:spPr>
          <a:xfrm>
            <a:off x="274319" y="238799"/>
            <a:ext cx="5180874" cy="489204"/>
          </a:xfrm>
          <a:prstGeom prst="rect">
            <a:avLst/>
          </a:prstGeom>
          <a:noFill/>
          <a:ln/>
        </p:spPr>
        <p:txBody>
          <a:bodyPr wrap="square" lIns="0" tIns="0" rIns="0" bIns="0" rtlCol="0" anchor="ctr"/>
          <a:lstStyle/>
          <a:p>
            <a:pPr marL="0" indent="0" algn="l">
              <a:buNone/>
            </a:pPr>
            <a:r>
              <a:rPr lang="en-US" sz="2800" b="1" noProof="0" dirty="0">
                <a:solidFill>
                  <a:srgbClr val="FFFFFF"/>
                </a:solidFill>
                <a:latin typeface="EucrosiaUPC" panose="02020603050405020304" pitchFamily="18" charset="-34"/>
                <a:ea typeface="Cambria" pitchFamily="34" charset="-122"/>
                <a:cs typeface="EucrosiaUPC" panose="02020603050405020304" pitchFamily="18" charset="-34"/>
              </a:rPr>
              <a:t>7. Actionable Business Implications</a:t>
            </a:r>
            <a:endParaRPr lang="en-US" sz="2800" noProof="0" dirty="0">
              <a:latin typeface="EucrosiaUPC" panose="02020603050405020304" pitchFamily="18" charset="-34"/>
              <a:cs typeface="EucrosiaUPC" panose="02020603050405020304" pitchFamily="18" charset="-34"/>
            </a:endParaRPr>
          </a:p>
        </p:txBody>
      </p:sp>
      <p:sp>
        <p:nvSpPr>
          <p:cNvPr id="28" name="Shape 1">
            <a:extLst>
              <a:ext uri="{FF2B5EF4-FFF2-40B4-BE49-F238E27FC236}">
                <a16:creationId xmlns:a16="http://schemas.microsoft.com/office/drawing/2014/main" id="{66841F68-79FF-A903-4F17-76CFE7A60478}"/>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US" noProof="0" dirty="0"/>
          </a:p>
        </p:txBody>
      </p:sp>
      <p:sp>
        <p:nvSpPr>
          <p:cNvPr id="30" name="Text 2">
            <a:extLst>
              <a:ext uri="{FF2B5EF4-FFF2-40B4-BE49-F238E27FC236}">
                <a16:creationId xmlns:a16="http://schemas.microsoft.com/office/drawing/2014/main" id="{B084CA6B-FD76-6C14-DD65-911886F72CE0}"/>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US" sz="1300" b="1" noProof="0" dirty="0">
                <a:solidFill>
                  <a:srgbClr val="CADCFC"/>
                </a:solidFill>
              </a:rPr>
              <a:t>10</a:t>
            </a:r>
            <a:endParaRPr lang="en-US" sz="1300" noProof="0" dirty="0"/>
          </a:p>
        </p:txBody>
      </p:sp>
      <p:sp>
        <p:nvSpPr>
          <p:cNvPr id="24" name="Text 0">
            <a:extLst>
              <a:ext uri="{FF2B5EF4-FFF2-40B4-BE49-F238E27FC236}">
                <a16:creationId xmlns:a16="http://schemas.microsoft.com/office/drawing/2014/main" id="{60ADDE25-45F1-EBB5-49A0-B12C319ADE83}"/>
              </a:ext>
            </a:extLst>
          </p:cNvPr>
          <p:cNvSpPr/>
          <p:nvPr/>
        </p:nvSpPr>
        <p:spPr>
          <a:xfrm>
            <a:off x="274319" y="42203"/>
            <a:ext cx="1939110"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CONCLUSIONS</a:t>
            </a:r>
            <a:endParaRPr lang="en-US" sz="900" noProof="0" dirty="0"/>
          </a:p>
        </p:txBody>
      </p:sp>
      <p:sp>
        <p:nvSpPr>
          <p:cNvPr id="23" name="Text 1">
            <a:extLst>
              <a:ext uri="{FF2B5EF4-FFF2-40B4-BE49-F238E27FC236}">
                <a16:creationId xmlns:a16="http://schemas.microsoft.com/office/drawing/2014/main" id="{81B03B1B-1C3B-3C87-9357-0429C79CC27D}"/>
              </a:ext>
            </a:extLst>
          </p:cNvPr>
          <p:cNvSpPr/>
          <p:nvPr/>
        </p:nvSpPr>
        <p:spPr>
          <a:xfrm>
            <a:off x="548640" y="365760"/>
            <a:ext cx="7315200" cy="292608"/>
          </a:xfrm>
          <a:prstGeom prst="rect">
            <a:avLst/>
          </a:prstGeom>
          <a:noFill/>
          <a:ln/>
        </p:spPr>
        <p:txBody>
          <a:bodyPr wrap="square" lIns="0" tIns="0" rIns="0" bIns="0" rtlCol="0" anchor="ctr"/>
          <a:lstStyle/>
          <a:p>
            <a:pPr marL="0" indent="0">
              <a:buNone/>
            </a:pPr>
            <a:endParaRPr lang="en-US" sz="1250" noProof="0" dirty="0"/>
          </a:p>
        </p:txBody>
      </p:sp>
      <p:sp>
        <p:nvSpPr>
          <p:cNvPr id="29" name="Shape 3">
            <a:extLst>
              <a:ext uri="{FF2B5EF4-FFF2-40B4-BE49-F238E27FC236}">
                <a16:creationId xmlns:a16="http://schemas.microsoft.com/office/drawing/2014/main" id="{2B5DB04F-B74B-E62D-4BA0-80F8A9F87545}"/>
              </a:ext>
            </a:extLst>
          </p:cNvPr>
          <p:cNvSpPr/>
          <p:nvPr/>
        </p:nvSpPr>
        <p:spPr>
          <a:xfrm>
            <a:off x="548640" y="948228"/>
            <a:ext cx="2254033" cy="1425498"/>
          </a:xfrm>
          <a:prstGeom prst="roundRect">
            <a:avLst>
              <a:gd name="adj" fmla="val 4865"/>
            </a:avLst>
          </a:prstGeom>
          <a:solidFill>
            <a:srgbClr val="1E2761"/>
          </a:solidFill>
          <a:ln/>
        </p:spPr>
        <p:txBody>
          <a:bodyPr/>
          <a:lstStyle/>
          <a:p>
            <a:endParaRPr lang="en-US" noProof="0" dirty="0">
              <a:latin typeface="Cambria" panose="02040503050406030204" pitchFamily="18" charset="0"/>
              <a:ea typeface="Cambria" panose="02040503050406030204" pitchFamily="18" charset="0"/>
            </a:endParaRPr>
          </a:p>
        </p:txBody>
      </p:sp>
      <p:sp>
        <p:nvSpPr>
          <p:cNvPr id="32" name="Shape 4">
            <a:extLst>
              <a:ext uri="{FF2B5EF4-FFF2-40B4-BE49-F238E27FC236}">
                <a16:creationId xmlns:a16="http://schemas.microsoft.com/office/drawing/2014/main" id="{4E52A844-D4C8-F97D-8667-F3493735B8D3}"/>
              </a:ext>
            </a:extLst>
          </p:cNvPr>
          <p:cNvSpPr/>
          <p:nvPr/>
        </p:nvSpPr>
        <p:spPr>
          <a:xfrm>
            <a:off x="749808" y="1075056"/>
            <a:ext cx="243096" cy="243096"/>
          </a:xfrm>
          <a:prstGeom prst="ellipse">
            <a:avLst/>
          </a:prstGeom>
          <a:solidFill>
            <a:srgbClr val="AED8E6"/>
          </a:solidFill>
          <a:ln/>
        </p:spPr>
        <p:txBody>
          <a:bodyPr/>
          <a:lstStyle/>
          <a:p>
            <a:endParaRPr lang="en-US" noProof="0" dirty="0">
              <a:latin typeface="Cambria" panose="02040503050406030204" pitchFamily="18" charset="0"/>
              <a:ea typeface="Cambria" panose="02040503050406030204" pitchFamily="18" charset="0"/>
            </a:endParaRPr>
          </a:p>
        </p:txBody>
      </p:sp>
      <p:sp>
        <p:nvSpPr>
          <p:cNvPr id="34" name="Text 5">
            <a:extLst>
              <a:ext uri="{FF2B5EF4-FFF2-40B4-BE49-F238E27FC236}">
                <a16:creationId xmlns:a16="http://schemas.microsoft.com/office/drawing/2014/main" id="{6F629016-970A-53B1-176E-59B38BDB7E81}"/>
              </a:ext>
            </a:extLst>
          </p:cNvPr>
          <p:cNvSpPr/>
          <p:nvPr/>
        </p:nvSpPr>
        <p:spPr>
          <a:xfrm>
            <a:off x="1072077" y="1013724"/>
            <a:ext cx="1443266" cy="365760"/>
          </a:xfrm>
          <a:prstGeom prst="rect">
            <a:avLst/>
          </a:prstGeom>
          <a:noFill/>
          <a:ln/>
        </p:spPr>
        <p:txBody>
          <a:bodyPr wrap="square" lIns="0" tIns="0" rIns="0" bIns="0" rtlCol="0" anchor="ctr"/>
          <a:lstStyle/>
          <a:p>
            <a:pPr marL="0" indent="0">
              <a:buNone/>
            </a:pPr>
            <a:r>
              <a:rPr lang="en-US" sz="1400" b="1" noProof="0" dirty="0">
                <a:solidFill>
                  <a:srgbClr val="FFFFFF"/>
                </a:solidFill>
                <a:latin typeface="Cambria" panose="02040503050406030204" pitchFamily="18" charset="0"/>
                <a:ea typeface="Cambria" panose="02040503050406030204" pitchFamily="18" charset="0"/>
                <a:cs typeface="Cambria" pitchFamily="34" charset="-120"/>
              </a:rPr>
              <a:t>Reduce</a:t>
            </a:r>
            <a:endParaRPr lang="en-US" sz="1400" noProof="0" dirty="0">
              <a:latin typeface="Cambria" panose="02040503050406030204" pitchFamily="18" charset="0"/>
              <a:ea typeface="Cambria" panose="02040503050406030204" pitchFamily="18" charset="0"/>
            </a:endParaRPr>
          </a:p>
        </p:txBody>
      </p:sp>
      <p:sp>
        <p:nvSpPr>
          <p:cNvPr id="36" name="Text 6">
            <a:extLst>
              <a:ext uri="{FF2B5EF4-FFF2-40B4-BE49-F238E27FC236}">
                <a16:creationId xmlns:a16="http://schemas.microsoft.com/office/drawing/2014/main" id="{EB6394EF-0D6C-7028-3712-447DEB0542FC}"/>
              </a:ext>
            </a:extLst>
          </p:cNvPr>
          <p:cNvSpPr/>
          <p:nvPr/>
        </p:nvSpPr>
        <p:spPr>
          <a:xfrm>
            <a:off x="749808" y="1434564"/>
            <a:ext cx="1837275" cy="671159"/>
          </a:xfrm>
          <a:prstGeom prst="rect">
            <a:avLst/>
          </a:prstGeom>
          <a:noFill/>
          <a:ln/>
        </p:spPr>
        <p:txBody>
          <a:bodyPr wrap="square" lIns="0" tIns="0" rIns="0" bIns="0" rtlCol="0" anchor="ctr"/>
          <a:lstStyle/>
          <a:p>
            <a:pPr marL="0" indent="0">
              <a:lnSpc>
                <a:spcPct val="115000"/>
              </a:lnSpc>
              <a:buNone/>
            </a:pPr>
            <a:r>
              <a:rPr lang="en-US" sz="1000" noProof="0" dirty="0">
                <a:solidFill>
                  <a:srgbClr val="CADCE0"/>
                </a:solidFill>
                <a:latin typeface="Cambria" panose="02040503050406030204" pitchFamily="18" charset="0"/>
                <a:ea typeface="Cambria" panose="02040503050406030204" pitchFamily="18" charset="0"/>
                <a:cs typeface="Calibri" pitchFamily="34" charset="-120"/>
              </a:rPr>
              <a:t>Trim exposure on GOOGLE_DISPLAY, </a:t>
            </a:r>
            <a:r>
              <a:rPr lang="en-US" sz="1000" noProof="0" dirty="0" err="1">
                <a:solidFill>
                  <a:srgbClr val="CADCE0"/>
                </a:solidFill>
                <a:latin typeface="Cambria" panose="02040503050406030204" pitchFamily="18" charset="0"/>
                <a:ea typeface="Cambria" panose="02040503050406030204" pitchFamily="18" charset="0"/>
                <a:cs typeface="Calibri" pitchFamily="34" charset="-120"/>
              </a:rPr>
              <a:t>mROI</a:t>
            </a:r>
            <a:r>
              <a:rPr lang="en-US" sz="1000" noProof="0" dirty="0">
                <a:solidFill>
                  <a:srgbClr val="CADCE0"/>
                </a:solidFill>
                <a:latin typeface="Cambria" panose="02040503050406030204" pitchFamily="18" charset="0"/>
                <a:ea typeface="Cambria" panose="02040503050406030204" pitchFamily="18" charset="0"/>
                <a:cs typeface="Calibri" pitchFamily="34" charset="-120"/>
              </a:rPr>
              <a:t> below 1 confirms it is already saturated</a:t>
            </a:r>
            <a:endParaRPr lang="en-US" sz="1000" noProof="0" dirty="0">
              <a:latin typeface="Cambria" panose="02040503050406030204" pitchFamily="18" charset="0"/>
              <a:ea typeface="Cambria" panose="02040503050406030204" pitchFamily="18" charset="0"/>
            </a:endParaRPr>
          </a:p>
        </p:txBody>
      </p:sp>
      <p:sp>
        <p:nvSpPr>
          <p:cNvPr id="38" name="Shape 7">
            <a:extLst>
              <a:ext uri="{FF2B5EF4-FFF2-40B4-BE49-F238E27FC236}">
                <a16:creationId xmlns:a16="http://schemas.microsoft.com/office/drawing/2014/main" id="{FE8F5E22-7A68-FF1C-08C3-25908C0A69E6}"/>
              </a:ext>
            </a:extLst>
          </p:cNvPr>
          <p:cNvSpPr/>
          <p:nvPr/>
        </p:nvSpPr>
        <p:spPr>
          <a:xfrm>
            <a:off x="3017521" y="948228"/>
            <a:ext cx="3189990" cy="1425498"/>
          </a:xfrm>
          <a:prstGeom prst="roundRect">
            <a:avLst>
              <a:gd name="adj" fmla="val 4865"/>
            </a:avLst>
          </a:prstGeom>
          <a:solidFill>
            <a:srgbClr val="1E2761"/>
          </a:solidFill>
          <a:ln/>
        </p:spPr>
        <p:txBody>
          <a:bodyPr/>
          <a:lstStyle/>
          <a:p>
            <a:endParaRPr lang="en-US" noProof="0" dirty="0">
              <a:latin typeface="Cambria" panose="02040503050406030204" pitchFamily="18" charset="0"/>
              <a:ea typeface="Cambria" panose="02040503050406030204" pitchFamily="18" charset="0"/>
            </a:endParaRPr>
          </a:p>
        </p:txBody>
      </p:sp>
      <p:sp>
        <p:nvSpPr>
          <p:cNvPr id="40" name="Shape 8">
            <a:extLst>
              <a:ext uri="{FF2B5EF4-FFF2-40B4-BE49-F238E27FC236}">
                <a16:creationId xmlns:a16="http://schemas.microsoft.com/office/drawing/2014/main" id="{FB1654E3-8D8A-9D67-E436-9EA5B95B8FFC}"/>
              </a:ext>
            </a:extLst>
          </p:cNvPr>
          <p:cNvSpPr/>
          <p:nvPr/>
        </p:nvSpPr>
        <p:spPr>
          <a:xfrm>
            <a:off x="3189323" y="1075056"/>
            <a:ext cx="243096" cy="243096"/>
          </a:xfrm>
          <a:prstGeom prst="ellipse">
            <a:avLst/>
          </a:prstGeom>
          <a:solidFill>
            <a:srgbClr val="CADCFC"/>
          </a:solidFill>
          <a:ln/>
        </p:spPr>
        <p:txBody>
          <a:bodyPr/>
          <a:lstStyle/>
          <a:p>
            <a:endParaRPr lang="en-US" noProof="0" dirty="0">
              <a:latin typeface="Cambria" panose="02040503050406030204" pitchFamily="18" charset="0"/>
              <a:ea typeface="Cambria" panose="02040503050406030204" pitchFamily="18" charset="0"/>
            </a:endParaRPr>
          </a:p>
        </p:txBody>
      </p:sp>
      <p:sp>
        <p:nvSpPr>
          <p:cNvPr id="42" name="Text 9">
            <a:extLst>
              <a:ext uri="{FF2B5EF4-FFF2-40B4-BE49-F238E27FC236}">
                <a16:creationId xmlns:a16="http://schemas.microsoft.com/office/drawing/2014/main" id="{A62C4CB5-CF2F-42D1-BA3A-E93AC689E3A7}"/>
              </a:ext>
            </a:extLst>
          </p:cNvPr>
          <p:cNvSpPr/>
          <p:nvPr/>
        </p:nvSpPr>
        <p:spPr>
          <a:xfrm>
            <a:off x="3579987" y="1019226"/>
            <a:ext cx="1443266" cy="365760"/>
          </a:xfrm>
          <a:prstGeom prst="rect">
            <a:avLst/>
          </a:prstGeom>
          <a:noFill/>
          <a:ln/>
        </p:spPr>
        <p:txBody>
          <a:bodyPr wrap="square" lIns="0" tIns="0" rIns="0" bIns="0" rtlCol="0" anchor="ctr"/>
          <a:lstStyle/>
          <a:p>
            <a:pPr marL="0" indent="0">
              <a:buNone/>
            </a:pPr>
            <a:r>
              <a:rPr lang="en-US" sz="1400" b="1" noProof="0" dirty="0">
                <a:solidFill>
                  <a:srgbClr val="FFFFFF"/>
                </a:solidFill>
                <a:latin typeface="Cambria" panose="02040503050406030204" pitchFamily="18" charset="0"/>
                <a:ea typeface="Cambria" panose="02040503050406030204" pitchFamily="18" charset="0"/>
                <a:cs typeface="Cambria" pitchFamily="34" charset="-120"/>
              </a:rPr>
              <a:t>Reallocate</a:t>
            </a:r>
            <a:endParaRPr lang="en-US" sz="1400" noProof="0" dirty="0">
              <a:latin typeface="Cambria" panose="02040503050406030204" pitchFamily="18" charset="0"/>
              <a:ea typeface="Cambria" panose="02040503050406030204" pitchFamily="18" charset="0"/>
            </a:endParaRPr>
          </a:p>
        </p:txBody>
      </p:sp>
      <p:sp>
        <p:nvSpPr>
          <p:cNvPr id="44" name="Text 10">
            <a:extLst>
              <a:ext uri="{FF2B5EF4-FFF2-40B4-BE49-F238E27FC236}">
                <a16:creationId xmlns:a16="http://schemas.microsoft.com/office/drawing/2014/main" id="{B16C4F8F-8BB8-0A81-9659-143F97983FCA}"/>
              </a:ext>
            </a:extLst>
          </p:cNvPr>
          <p:cNvSpPr/>
          <p:nvPr/>
        </p:nvSpPr>
        <p:spPr>
          <a:xfrm>
            <a:off x="3181814" y="1415244"/>
            <a:ext cx="2926376" cy="837306"/>
          </a:xfrm>
          <a:prstGeom prst="rect">
            <a:avLst/>
          </a:prstGeom>
          <a:noFill/>
          <a:ln/>
        </p:spPr>
        <p:txBody>
          <a:bodyPr wrap="square" lIns="0" tIns="0" rIns="0" bIns="0" rtlCol="0" anchor="ctr"/>
          <a:lstStyle/>
          <a:p>
            <a:pPr>
              <a:lnSpc>
                <a:spcPct val="115000"/>
              </a:lnSpc>
            </a:pPr>
            <a:r>
              <a:rPr lang="it-IT" sz="1000" dirty="0">
                <a:solidFill>
                  <a:srgbClr val="CADCE0"/>
                </a:solidFill>
                <a:latin typeface="Cambria" panose="02040503050406030204" pitchFamily="18" charset="0"/>
                <a:ea typeface="Cambria" panose="02040503050406030204" pitchFamily="18" charset="0"/>
                <a:cs typeface="Calibri" pitchFamily="34" charset="-120"/>
              </a:rPr>
              <a:t>Shift </a:t>
            </a:r>
            <a:r>
              <a:rPr lang="it-IT" sz="1000" dirty="0" err="1">
                <a:solidFill>
                  <a:srgbClr val="CADCE0"/>
                </a:solidFill>
                <a:latin typeface="Cambria" panose="02040503050406030204" pitchFamily="18" charset="0"/>
                <a:ea typeface="Cambria" panose="02040503050406030204" pitchFamily="18" charset="0"/>
                <a:cs typeface="Calibri" pitchFamily="34" charset="-120"/>
              </a:rPr>
              <a:t>freed</a:t>
            </a:r>
            <a:r>
              <a:rPr lang="it-IT" sz="1000" dirty="0">
                <a:solidFill>
                  <a:srgbClr val="CADCE0"/>
                </a:solidFill>
                <a:latin typeface="Cambria" panose="02040503050406030204" pitchFamily="18" charset="0"/>
                <a:ea typeface="Cambria" panose="02040503050406030204" pitchFamily="18" charset="0"/>
                <a:cs typeface="Calibri" pitchFamily="34" charset="-120"/>
              </a:rPr>
              <a:t> and </a:t>
            </a:r>
            <a:r>
              <a:rPr lang="it-IT" sz="1000" dirty="0" err="1">
                <a:solidFill>
                  <a:srgbClr val="CADCE0"/>
                </a:solidFill>
                <a:latin typeface="Cambria" panose="02040503050406030204" pitchFamily="18" charset="0"/>
                <a:ea typeface="Cambria" panose="02040503050406030204" pitchFamily="18" charset="0"/>
                <a:cs typeface="Calibri" pitchFamily="34" charset="-120"/>
              </a:rPr>
              <a:t>incremental</a:t>
            </a:r>
            <a:r>
              <a:rPr lang="it-IT" sz="1000" dirty="0">
                <a:solidFill>
                  <a:srgbClr val="CADCE0"/>
                </a:solidFill>
                <a:latin typeface="Cambria" panose="02040503050406030204" pitchFamily="18" charset="0"/>
                <a:ea typeface="Cambria" panose="02040503050406030204" pitchFamily="18" charset="0"/>
                <a:cs typeface="Calibri" pitchFamily="34" charset="-120"/>
              </a:rPr>
              <a:t> budget </a:t>
            </a:r>
            <a:r>
              <a:rPr lang="it-IT" sz="1000" dirty="0" err="1">
                <a:solidFill>
                  <a:srgbClr val="CADCE0"/>
                </a:solidFill>
                <a:latin typeface="Cambria" panose="02040503050406030204" pitchFamily="18" charset="0"/>
                <a:ea typeface="Cambria" panose="02040503050406030204" pitchFamily="18" charset="0"/>
                <a:cs typeface="Calibri" pitchFamily="34" charset="-120"/>
              </a:rPr>
              <a:t>toward</a:t>
            </a:r>
            <a:r>
              <a:rPr lang="it-IT" sz="1000" dirty="0">
                <a:solidFill>
                  <a:srgbClr val="CADCE0"/>
                </a:solidFill>
                <a:latin typeface="Cambria" panose="02040503050406030204" pitchFamily="18" charset="0"/>
                <a:ea typeface="Cambria" panose="02040503050406030204" pitchFamily="18" charset="0"/>
                <a:cs typeface="Calibri" pitchFamily="34" charset="-120"/>
              </a:rPr>
              <a:t> META_FACEBOOK and META_OTHER. The budget </a:t>
            </a:r>
            <a:r>
              <a:rPr lang="it-IT" sz="1000" dirty="0" err="1">
                <a:solidFill>
                  <a:srgbClr val="CADCE0"/>
                </a:solidFill>
                <a:latin typeface="Cambria" panose="02040503050406030204" pitchFamily="18" charset="0"/>
                <a:ea typeface="Cambria" panose="02040503050406030204" pitchFamily="18" charset="0"/>
                <a:cs typeface="Calibri" pitchFamily="34" charset="-120"/>
              </a:rPr>
              <a:t>optimizer</a:t>
            </a:r>
            <a:r>
              <a:rPr lang="it-IT" sz="1000" dirty="0">
                <a:solidFill>
                  <a:srgbClr val="CADCE0"/>
                </a:solidFill>
                <a:latin typeface="Cambria" panose="02040503050406030204" pitchFamily="18" charset="0"/>
                <a:ea typeface="Cambria" panose="02040503050406030204" pitchFamily="18" charset="0"/>
                <a:cs typeface="Calibri" pitchFamily="34" charset="-120"/>
              </a:rPr>
              <a:t> </a:t>
            </a:r>
            <a:r>
              <a:rPr lang="it-IT" sz="1000" dirty="0" err="1">
                <a:solidFill>
                  <a:srgbClr val="CADCE0"/>
                </a:solidFill>
                <a:latin typeface="Cambria" panose="02040503050406030204" pitchFamily="18" charset="0"/>
                <a:ea typeface="Cambria" panose="02040503050406030204" pitchFamily="18" charset="0"/>
                <a:cs typeface="Calibri" pitchFamily="34" charset="-120"/>
              </a:rPr>
              <a:t>confirms</a:t>
            </a:r>
            <a:r>
              <a:rPr lang="it-IT" sz="1000" dirty="0">
                <a:solidFill>
                  <a:srgbClr val="CADCE0"/>
                </a:solidFill>
                <a:latin typeface="Cambria" panose="02040503050406030204" pitchFamily="18" charset="0"/>
                <a:ea typeface="Cambria" panose="02040503050406030204" pitchFamily="18" charset="0"/>
                <a:cs typeface="Calibri" pitchFamily="34" charset="-120"/>
              </a:rPr>
              <a:t> </a:t>
            </a:r>
            <a:r>
              <a:rPr lang="it-IT" sz="1000" dirty="0" err="1">
                <a:solidFill>
                  <a:srgbClr val="CADCE0"/>
                </a:solidFill>
                <a:latin typeface="Cambria" panose="02040503050406030204" pitchFamily="18" charset="0"/>
                <a:ea typeface="Cambria" panose="02040503050406030204" pitchFamily="18" charset="0"/>
                <a:cs typeface="Calibri" pitchFamily="34" charset="-120"/>
              </a:rPr>
              <a:t>this</a:t>
            </a:r>
            <a:r>
              <a:rPr lang="it-IT" sz="1000" dirty="0">
                <a:solidFill>
                  <a:srgbClr val="CADCE0"/>
                </a:solidFill>
                <a:latin typeface="Cambria" panose="02040503050406030204" pitchFamily="18" charset="0"/>
                <a:ea typeface="Cambria" panose="02040503050406030204" pitchFamily="18" charset="0"/>
                <a:cs typeface="Calibri" pitchFamily="34" charset="-120"/>
              </a:rPr>
              <a:t> </a:t>
            </a:r>
            <a:r>
              <a:rPr lang="it-IT" sz="1000" dirty="0" err="1">
                <a:solidFill>
                  <a:srgbClr val="CADCE0"/>
                </a:solidFill>
                <a:latin typeface="Cambria" panose="02040503050406030204" pitchFamily="18" charset="0"/>
                <a:ea typeface="Cambria" panose="02040503050406030204" pitchFamily="18" charset="0"/>
                <a:cs typeface="Calibri" pitchFamily="34" charset="-120"/>
              </a:rPr>
              <a:t>direction</a:t>
            </a:r>
            <a:r>
              <a:rPr lang="it-IT" sz="1000" dirty="0">
                <a:solidFill>
                  <a:srgbClr val="CADCE0"/>
                </a:solidFill>
                <a:latin typeface="Cambria" panose="02040503050406030204" pitchFamily="18" charset="0"/>
                <a:ea typeface="Cambria" panose="02040503050406030204" pitchFamily="18" charset="0"/>
                <a:cs typeface="Calibri" pitchFamily="34" charset="-120"/>
              </a:rPr>
              <a:t>: +$700k on META_FACEBOOK and +$10k on META_OTHER generate an </a:t>
            </a:r>
            <a:r>
              <a:rPr lang="it-IT" sz="1000" dirty="0" err="1">
                <a:solidFill>
                  <a:srgbClr val="CADCE0"/>
                </a:solidFill>
                <a:latin typeface="Cambria" panose="02040503050406030204" pitchFamily="18" charset="0"/>
                <a:ea typeface="Cambria" panose="02040503050406030204" pitchFamily="18" charset="0"/>
                <a:cs typeface="Calibri" pitchFamily="34" charset="-120"/>
              </a:rPr>
              <a:t>additional</a:t>
            </a:r>
            <a:r>
              <a:rPr lang="it-IT" sz="1000" dirty="0">
                <a:solidFill>
                  <a:srgbClr val="CADCE0"/>
                </a:solidFill>
                <a:latin typeface="Cambria" panose="02040503050406030204" pitchFamily="18" charset="0"/>
                <a:ea typeface="Cambria" panose="02040503050406030204" pitchFamily="18" charset="0"/>
                <a:cs typeface="Calibri" pitchFamily="34" charset="-120"/>
              </a:rPr>
              <a:t> $419k </a:t>
            </a:r>
            <a:r>
              <a:rPr lang="it-IT" sz="900" dirty="0">
                <a:solidFill>
                  <a:srgbClr val="CADCE0"/>
                </a:solidFill>
                <a:latin typeface="Cambria" panose="02040503050406030204" pitchFamily="18" charset="0"/>
                <a:ea typeface="Cambria" panose="02040503050406030204" pitchFamily="18" charset="0"/>
                <a:cs typeface="Calibri" pitchFamily="34" charset="-120"/>
              </a:rPr>
              <a:t>in</a:t>
            </a:r>
            <a:r>
              <a:rPr lang="it-IT" sz="1000" dirty="0">
                <a:solidFill>
                  <a:srgbClr val="CADCE0"/>
                </a:solidFill>
                <a:latin typeface="Cambria" panose="02040503050406030204" pitchFamily="18" charset="0"/>
                <a:ea typeface="Cambria" panose="02040503050406030204" pitchFamily="18" charset="0"/>
                <a:cs typeface="Calibri" pitchFamily="34" charset="-120"/>
              </a:rPr>
              <a:t> revenue (+1.4%)</a:t>
            </a:r>
            <a:endParaRPr lang="en-US" sz="1000" dirty="0">
              <a:solidFill>
                <a:srgbClr val="CADCE0"/>
              </a:solidFill>
              <a:latin typeface="Cambria" panose="02040503050406030204" pitchFamily="18" charset="0"/>
              <a:ea typeface="Cambria" panose="02040503050406030204" pitchFamily="18" charset="0"/>
              <a:cs typeface="Calibri" pitchFamily="34" charset="-120"/>
            </a:endParaRPr>
          </a:p>
        </p:txBody>
      </p:sp>
      <p:sp>
        <p:nvSpPr>
          <p:cNvPr id="46" name="Shape 11">
            <a:extLst>
              <a:ext uri="{FF2B5EF4-FFF2-40B4-BE49-F238E27FC236}">
                <a16:creationId xmlns:a16="http://schemas.microsoft.com/office/drawing/2014/main" id="{C664F243-505C-3F8B-19B4-338CA6D91E35}"/>
              </a:ext>
            </a:extLst>
          </p:cNvPr>
          <p:cNvSpPr/>
          <p:nvPr/>
        </p:nvSpPr>
        <p:spPr>
          <a:xfrm>
            <a:off x="6309358" y="948228"/>
            <a:ext cx="2468881" cy="1425498"/>
          </a:xfrm>
          <a:prstGeom prst="roundRect">
            <a:avLst>
              <a:gd name="adj" fmla="val 4865"/>
            </a:avLst>
          </a:prstGeom>
          <a:solidFill>
            <a:srgbClr val="1E2761"/>
          </a:solidFill>
          <a:ln/>
        </p:spPr>
        <p:txBody>
          <a:bodyPr/>
          <a:lstStyle/>
          <a:p>
            <a:endParaRPr lang="en-US" noProof="0" dirty="0">
              <a:latin typeface="Cambria" panose="02040503050406030204" pitchFamily="18" charset="0"/>
              <a:ea typeface="Cambria" panose="02040503050406030204" pitchFamily="18" charset="0"/>
            </a:endParaRPr>
          </a:p>
        </p:txBody>
      </p:sp>
      <p:sp>
        <p:nvSpPr>
          <p:cNvPr id="48" name="Shape 12">
            <a:extLst>
              <a:ext uri="{FF2B5EF4-FFF2-40B4-BE49-F238E27FC236}">
                <a16:creationId xmlns:a16="http://schemas.microsoft.com/office/drawing/2014/main" id="{0428FB47-3D99-8B24-E0B2-30E0BB57BB82}"/>
              </a:ext>
            </a:extLst>
          </p:cNvPr>
          <p:cNvSpPr/>
          <p:nvPr/>
        </p:nvSpPr>
        <p:spPr>
          <a:xfrm>
            <a:off x="6506065" y="1075056"/>
            <a:ext cx="243096" cy="243096"/>
          </a:xfrm>
          <a:prstGeom prst="ellipse">
            <a:avLst/>
          </a:prstGeom>
          <a:solidFill>
            <a:srgbClr val="0070C0"/>
          </a:solidFill>
          <a:ln/>
        </p:spPr>
        <p:txBody>
          <a:bodyPr/>
          <a:lstStyle/>
          <a:p>
            <a:endParaRPr lang="en-US" noProof="0" dirty="0">
              <a:latin typeface="Cambria" panose="02040503050406030204" pitchFamily="18" charset="0"/>
              <a:ea typeface="Cambria" panose="02040503050406030204" pitchFamily="18" charset="0"/>
            </a:endParaRPr>
          </a:p>
        </p:txBody>
      </p:sp>
      <p:sp>
        <p:nvSpPr>
          <p:cNvPr id="50" name="Text 13">
            <a:extLst>
              <a:ext uri="{FF2B5EF4-FFF2-40B4-BE49-F238E27FC236}">
                <a16:creationId xmlns:a16="http://schemas.microsoft.com/office/drawing/2014/main" id="{85C9343E-76FD-B9D2-7EEB-E6B94827D822}"/>
              </a:ext>
            </a:extLst>
          </p:cNvPr>
          <p:cNvSpPr/>
          <p:nvPr/>
        </p:nvSpPr>
        <p:spPr>
          <a:xfrm>
            <a:off x="6909144" y="1019226"/>
            <a:ext cx="1443266" cy="365760"/>
          </a:xfrm>
          <a:prstGeom prst="rect">
            <a:avLst/>
          </a:prstGeom>
          <a:noFill/>
          <a:ln/>
        </p:spPr>
        <p:txBody>
          <a:bodyPr wrap="square" lIns="0" tIns="0" rIns="0" bIns="0" rtlCol="0" anchor="ctr"/>
          <a:lstStyle/>
          <a:p>
            <a:pPr marL="0" indent="0">
              <a:buNone/>
            </a:pPr>
            <a:r>
              <a:rPr lang="en-US" sz="1400" b="1" noProof="0" dirty="0">
                <a:solidFill>
                  <a:srgbClr val="FFFFFF"/>
                </a:solidFill>
                <a:latin typeface="Cambria" panose="02040503050406030204" pitchFamily="18" charset="0"/>
                <a:ea typeface="Cambria" panose="02040503050406030204" pitchFamily="18" charset="0"/>
                <a:cs typeface="Cambria" pitchFamily="34" charset="-120"/>
              </a:rPr>
              <a:t>Prioritize</a:t>
            </a:r>
            <a:endParaRPr lang="en-US" sz="1400" noProof="0" dirty="0">
              <a:latin typeface="Cambria" panose="02040503050406030204" pitchFamily="18" charset="0"/>
              <a:ea typeface="Cambria" panose="02040503050406030204" pitchFamily="18" charset="0"/>
            </a:endParaRPr>
          </a:p>
        </p:txBody>
      </p:sp>
      <p:sp>
        <p:nvSpPr>
          <p:cNvPr id="52" name="Text 14">
            <a:extLst>
              <a:ext uri="{FF2B5EF4-FFF2-40B4-BE49-F238E27FC236}">
                <a16:creationId xmlns:a16="http://schemas.microsoft.com/office/drawing/2014/main" id="{4E48828D-EA61-A7E1-6A8D-B29FCA3F4992}"/>
              </a:ext>
            </a:extLst>
          </p:cNvPr>
          <p:cNvSpPr/>
          <p:nvPr/>
        </p:nvSpPr>
        <p:spPr>
          <a:xfrm>
            <a:off x="6510526" y="1455984"/>
            <a:ext cx="2066545" cy="528935"/>
          </a:xfrm>
          <a:prstGeom prst="rect">
            <a:avLst/>
          </a:prstGeom>
          <a:noFill/>
          <a:ln/>
        </p:spPr>
        <p:txBody>
          <a:bodyPr wrap="square" lIns="0" tIns="0" rIns="0" bIns="0" rtlCol="0" anchor="ctr"/>
          <a:lstStyle/>
          <a:p>
            <a:pPr marL="0" indent="0">
              <a:lnSpc>
                <a:spcPct val="115000"/>
              </a:lnSpc>
              <a:buNone/>
            </a:pPr>
            <a:r>
              <a:rPr lang="en-US" sz="1000" noProof="0" dirty="0">
                <a:solidFill>
                  <a:srgbClr val="CADCE0"/>
                </a:solidFill>
                <a:latin typeface="Cambria" panose="02040503050406030204" pitchFamily="18" charset="0"/>
                <a:ea typeface="Cambria" panose="02040503050406030204" pitchFamily="18" charset="0"/>
                <a:cs typeface="Calibri" pitchFamily="34" charset="-120"/>
              </a:rPr>
              <a:t>META_OTHER first on ROI and </a:t>
            </a:r>
            <a:r>
              <a:rPr lang="en-US" sz="1000" noProof="0" dirty="0" err="1">
                <a:solidFill>
                  <a:srgbClr val="CADCE0"/>
                </a:solidFill>
                <a:latin typeface="Cambria" panose="02040503050406030204" pitchFamily="18" charset="0"/>
                <a:ea typeface="Cambria" panose="02040503050406030204" pitchFamily="18" charset="0"/>
                <a:cs typeface="Calibri" pitchFamily="34" charset="-120"/>
              </a:rPr>
              <a:t>mROI</a:t>
            </a:r>
            <a:r>
              <a:rPr lang="en-US" sz="1000" noProof="0" dirty="0">
                <a:solidFill>
                  <a:srgbClr val="CADCE0"/>
                </a:solidFill>
                <a:latin typeface="Cambria" panose="02040503050406030204" pitchFamily="18" charset="0"/>
                <a:ea typeface="Cambria" panose="02040503050406030204" pitchFamily="18" charset="0"/>
                <a:cs typeface="Calibri" pitchFamily="34" charset="-120"/>
              </a:rPr>
              <a:t>, but pace the shift to respect its scale limits</a:t>
            </a:r>
            <a:endParaRPr lang="en-US" sz="1000" noProof="0" dirty="0">
              <a:latin typeface="Cambria" panose="02040503050406030204" pitchFamily="18" charset="0"/>
              <a:ea typeface="Cambria" panose="02040503050406030204" pitchFamily="18" charset="0"/>
            </a:endParaRPr>
          </a:p>
        </p:txBody>
      </p:sp>
      <p:sp>
        <p:nvSpPr>
          <p:cNvPr id="5" name="Text 2">
            <a:extLst>
              <a:ext uri="{FF2B5EF4-FFF2-40B4-BE49-F238E27FC236}">
                <a16:creationId xmlns:a16="http://schemas.microsoft.com/office/drawing/2014/main" id="{E62E654D-821E-334E-7223-0BE44006D168}"/>
              </a:ext>
            </a:extLst>
          </p:cNvPr>
          <p:cNvSpPr/>
          <p:nvPr/>
        </p:nvSpPr>
        <p:spPr>
          <a:xfrm>
            <a:off x="457200" y="2543990"/>
            <a:ext cx="3931920" cy="149525"/>
          </a:xfrm>
          <a:prstGeom prst="rect">
            <a:avLst/>
          </a:prstGeom>
          <a:noFill/>
          <a:ln/>
        </p:spPr>
        <p:txBody>
          <a:bodyPr wrap="square" lIns="0" tIns="0" rIns="0" bIns="0" rtlCol="0" anchor="ctr"/>
          <a:lstStyle/>
          <a:p>
            <a:pPr algn="ctr"/>
            <a:r>
              <a:rPr lang="en-US" sz="1200" b="1" kern="0" spc="200" dirty="0">
                <a:solidFill>
                  <a:srgbClr val="3A5BA0"/>
                </a:solidFill>
                <a:latin typeface="Cambria" panose="02040503050406030204" pitchFamily="18" charset="0"/>
                <a:ea typeface="Cambria" panose="02040503050406030204" pitchFamily="18" charset="0"/>
                <a:cs typeface="Calibri" pitchFamily="34" charset="-120"/>
              </a:rPr>
              <a:t>LIMITATIONS</a:t>
            </a:r>
          </a:p>
        </p:txBody>
      </p:sp>
      <p:sp>
        <p:nvSpPr>
          <p:cNvPr id="7" name="Text 3">
            <a:extLst>
              <a:ext uri="{FF2B5EF4-FFF2-40B4-BE49-F238E27FC236}">
                <a16:creationId xmlns:a16="http://schemas.microsoft.com/office/drawing/2014/main" id="{3F72D42B-9847-8FE2-30DD-04897D15AB12}"/>
              </a:ext>
            </a:extLst>
          </p:cNvPr>
          <p:cNvSpPr/>
          <p:nvPr/>
        </p:nvSpPr>
        <p:spPr>
          <a:xfrm>
            <a:off x="457200" y="2761044"/>
            <a:ext cx="3977640" cy="2241210"/>
          </a:xfrm>
          <a:prstGeom prst="rect">
            <a:avLst/>
          </a:prstGeom>
          <a:noFill/>
          <a:ln/>
        </p:spPr>
        <p:txBody>
          <a:bodyPr wrap="square" lIns="0" tIns="0" rIns="0" bIns="0" rtlCol="0" anchor="ctr"/>
          <a:lstStyle/>
          <a:p>
            <a:pPr marL="342900" indent="-342900">
              <a:spcAft>
                <a:spcPts val="1000"/>
              </a:spcAft>
              <a:buSzPct val="100000"/>
              <a:buChar char="•"/>
            </a:pPr>
            <a:r>
              <a:rPr lang="en-US" sz="1000" dirty="0">
                <a:solidFill>
                  <a:srgbClr val="1E293B"/>
                </a:solidFill>
                <a:latin typeface="Cambria" panose="02040503050406030204" pitchFamily="18" charset="0"/>
                <a:ea typeface="Cambria" panose="02040503050406030204" pitchFamily="18" charset="0"/>
                <a:cs typeface="Calibri" pitchFamily="34" charset="-120"/>
              </a:rPr>
              <a:t>MAPE at the geo level (~22%) is higher than national, so territory-specific predictions carry more uncertainty than the aggregate view.</a:t>
            </a:r>
          </a:p>
          <a:p>
            <a:pPr marL="342900" indent="-342900">
              <a:spcAft>
                <a:spcPts val="1000"/>
              </a:spcAft>
              <a:buSzPct val="100000"/>
              <a:buChar char="•"/>
            </a:pPr>
            <a:r>
              <a:rPr lang="en-US" sz="1000" dirty="0">
                <a:solidFill>
                  <a:srgbClr val="1E293B"/>
                </a:solidFill>
                <a:latin typeface="Cambria" panose="02040503050406030204" pitchFamily="18" charset="0"/>
                <a:ea typeface="Cambria" panose="02040503050406030204" pitchFamily="18" charset="0"/>
                <a:cs typeface="Calibri" pitchFamily="34" charset="-120"/>
              </a:rPr>
              <a:t>The </a:t>
            </a:r>
            <a:r>
              <a:rPr lang="en-US" sz="1000" dirty="0" err="1">
                <a:solidFill>
                  <a:srgbClr val="1E293B"/>
                </a:solidFill>
                <a:latin typeface="Cambria" panose="02040503050406030204" pitchFamily="18" charset="0"/>
                <a:ea typeface="Cambria" panose="02040503050406030204" pitchFamily="18" charset="0"/>
                <a:cs typeface="Calibri" pitchFamily="34" charset="-120"/>
              </a:rPr>
              <a:t>mROI</a:t>
            </a:r>
            <a:r>
              <a:rPr lang="en-US" sz="1000" dirty="0">
                <a:solidFill>
                  <a:srgbClr val="1E293B"/>
                </a:solidFill>
                <a:latin typeface="Cambria" panose="02040503050406030204" pitchFamily="18" charset="0"/>
                <a:ea typeface="Cambria" panose="02040503050406030204" pitchFamily="18" charset="0"/>
                <a:cs typeface="Calibri" pitchFamily="34" charset="-120"/>
              </a:rPr>
              <a:t>-optimized scenario shows that efficiency metrics alone can mislead without a scalability check, the same caution likely applies to any newly scaled channel.</a:t>
            </a:r>
            <a:endParaRPr lang="en-US" sz="1000" dirty="0">
              <a:latin typeface="Cambria" panose="02040503050406030204" pitchFamily="18" charset="0"/>
              <a:ea typeface="Cambria" panose="02040503050406030204" pitchFamily="18" charset="0"/>
            </a:endParaRPr>
          </a:p>
          <a:p>
            <a:pPr marL="342900" indent="-342900">
              <a:spcAft>
                <a:spcPts val="1000"/>
              </a:spcAft>
              <a:buSzPct val="100000"/>
              <a:buChar char="•"/>
            </a:pPr>
            <a:r>
              <a:rPr lang="en-US" sz="1000" dirty="0">
                <a:solidFill>
                  <a:srgbClr val="1E293B"/>
                </a:solidFill>
                <a:latin typeface="Cambria" panose="02040503050406030204" pitchFamily="18" charset="0"/>
                <a:ea typeface="Cambria" panose="02040503050406030204" pitchFamily="18" charset="0"/>
                <a:cs typeface="Calibri" pitchFamily="34" charset="-120"/>
              </a:rPr>
              <a:t>ROI priors are informed by empirical training-period ROI, so results reflect recent market conditions and may shift if channel dynamics change materially.</a:t>
            </a:r>
          </a:p>
          <a:p>
            <a:pPr marL="342900" indent="-342900">
              <a:spcAft>
                <a:spcPts val="1000"/>
              </a:spcAft>
              <a:buSzPct val="100000"/>
              <a:buChar char="•"/>
            </a:pPr>
            <a:r>
              <a:rPr lang="it-IT" sz="1000" dirty="0">
                <a:latin typeface="Cambria" panose="02040503050406030204" pitchFamily="18" charset="0"/>
                <a:ea typeface="Cambria" panose="02040503050406030204" pitchFamily="18" charset="0"/>
              </a:rPr>
              <a:t>The budget </a:t>
            </a:r>
            <a:r>
              <a:rPr lang="it-IT" sz="1000" dirty="0" err="1">
                <a:latin typeface="Cambria" panose="02040503050406030204" pitchFamily="18" charset="0"/>
                <a:ea typeface="Cambria" panose="02040503050406030204" pitchFamily="18" charset="0"/>
              </a:rPr>
              <a:t>optimizer</a:t>
            </a:r>
            <a:r>
              <a:rPr lang="it-IT" sz="1000" dirty="0">
                <a:latin typeface="Cambria" panose="02040503050406030204" pitchFamily="18" charset="0"/>
                <a:ea typeface="Cambria" panose="02040503050406030204" pitchFamily="18" charset="0"/>
              </a:rPr>
              <a:t> </a:t>
            </a:r>
            <a:r>
              <a:rPr lang="it-IT" sz="1000" dirty="0" err="1">
                <a:latin typeface="Cambria" panose="02040503050406030204" pitchFamily="18" charset="0"/>
                <a:ea typeface="Cambria" panose="02040503050406030204" pitchFamily="18" charset="0"/>
              </a:rPr>
              <a:t>operates</a:t>
            </a:r>
            <a:r>
              <a:rPr lang="it-IT" sz="1000" dirty="0">
                <a:latin typeface="Cambria" panose="02040503050406030204" pitchFamily="18" charset="0"/>
                <a:ea typeface="Cambria" panose="02040503050406030204" pitchFamily="18" charset="0"/>
              </a:rPr>
              <a:t> under </a:t>
            </a:r>
            <a:r>
              <a:rPr lang="it-IT" sz="1000" dirty="0" err="1">
                <a:latin typeface="Cambria" panose="02040503050406030204" pitchFamily="18" charset="0"/>
                <a:ea typeface="Cambria" panose="02040503050406030204" pitchFamily="18" charset="0"/>
              </a:rPr>
              <a:t>spend</a:t>
            </a:r>
            <a:r>
              <a:rPr lang="it-IT" sz="1000" dirty="0">
                <a:latin typeface="Cambria" panose="02040503050406030204" pitchFamily="18" charset="0"/>
                <a:ea typeface="Cambria" panose="02040503050406030204" pitchFamily="18" charset="0"/>
              </a:rPr>
              <a:t> </a:t>
            </a:r>
            <a:r>
              <a:rPr lang="it-IT" sz="1000" dirty="0" err="1">
                <a:latin typeface="Cambria" panose="02040503050406030204" pitchFamily="18" charset="0"/>
                <a:ea typeface="Cambria" panose="02040503050406030204" pitchFamily="18" charset="0"/>
              </a:rPr>
              <a:t>constraints</a:t>
            </a:r>
            <a:r>
              <a:rPr lang="it-IT" sz="1000" dirty="0">
                <a:latin typeface="Cambria" panose="02040503050406030204" pitchFamily="18" charset="0"/>
                <a:ea typeface="Cambria" panose="02040503050406030204" pitchFamily="18" charset="0"/>
              </a:rPr>
              <a:t> (±50% per </a:t>
            </a:r>
            <a:r>
              <a:rPr lang="it-IT" sz="1000" dirty="0" err="1">
                <a:latin typeface="Cambria" panose="02040503050406030204" pitchFamily="18" charset="0"/>
                <a:ea typeface="Cambria" panose="02040503050406030204" pitchFamily="18" charset="0"/>
              </a:rPr>
              <a:t>channel</a:t>
            </a:r>
            <a:r>
              <a:rPr lang="it-IT" sz="1000" dirty="0">
                <a:latin typeface="Cambria" panose="02040503050406030204" pitchFamily="18" charset="0"/>
                <a:ea typeface="Cambria" panose="02040503050406030204" pitchFamily="18" charset="0"/>
              </a:rPr>
              <a:t>), so the </a:t>
            </a:r>
            <a:r>
              <a:rPr lang="it-IT" sz="1000" dirty="0" err="1">
                <a:latin typeface="Cambria" panose="02040503050406030204" pitchFamily="18" charset="0"/>
                <a:ea typeface="Cambria" panose="02040503050406030204" pitchFamily="18" charset="0"/>
              </a:rPr>
              <a:t>optimal</a:t>
            </a:r>
            <a:r>
              <a:rPr lang="it-IT" sz="1000" dirty="0">
                <a:latin typeface="Cambria" panose="02040503050406030204" pitchFamily="18" charset="0"/>
                <a:ea typeface="Cambria" panose="02040503050406030204" pitchFamily="18" charset="0"/>
              </a:rPr>
              <a:t> </a:t>
            </a:r>
            <a:r>
              <a:rPr lang="it-IT" sz="1000" dirty="0" err="1">
                <a:latin typeface="Cambria" panose="02040503050406030204" pitchFamily="18" charset="0"/>
                <a:ea typeface="Cambria" panose="02040503050406030204" pitchFamily="18" charset="0"/>
              </a:rPr>
              <a:t>solution</a:t>
            </a:r>
            <a:r>
              <a:rPr lang="it-IT" sz="1000" dirty="0">
                <a:latin typeface="Cambria" panose="02040503050406030204" pitchFamily="18" charset="0"/>
                <a:ea typeface="Cambria" panose="02040503050406030204" pitchFamily="18" charset="0"/>
              </a:rPr>
              <a:t> </a:t>
            </a:r>
            <a:r>
              <a:rPr lang="it-IT" sz="1000" dirty="0" err="1">
                <a:latin typeface="Cambria" panose="02040503050406030204" pitchFamily="18" charset="0"/>
                <a:ea typeface="Cambria" panose="02040503050406030204" pitchFamily="18" charset="0"/>
              </a:rPr>
              <a:t>is</a:t>
            </a:r>
            <a:r>
              <a:rPr lang="it-IT" sz="1000" dirty="0">
                <a:latin typeface="Cambria" panose="02040503050406030204" pitchFamily="18" charset="0"/>
                <a:ea typeface="Cambria" panose="02040503050406030204" pitchFamily="18" charset="0"/>
              </a:rPr>
              <a:t> </a:t>
            </a:r>
            <a:r>
              <a:rPr lang="it-IT" sz="1000" dirty="0" err="1">
                <a:latin typeface="Cambria" panose="02040503050406030204" pitchFamily="18" charset="0"/>
                <a:ea typeface="Cambria" panose="02040503050406030204" pitchFamily="18" charset="0"/>
              </a:rPr>
              <a:t>bounded</a:t>
            </a:r>
            <a:r>
              <a:rPr lang="it-IT" sz="1000" dirty="0">
                <a:latin typeface="Cambria" panose="02040503050406030204" pitchFamily="18" charset="0"/>
                <a:ea typeface="Cambria" panose="02040503050406030204" pitchFamily="18" charset="0"/>
              </a:rPr>
              <a:t> by </a:t>
            </a:r>
            <a:r>
              <a:rPr lang="it-IT" sz="1000" dirty="0" err="1">
                <a:latin typeface="Cambria" panose="02040503050406030204" pitchFamily="18" charset="0"/>
                <a:ea typeface="Cambria" panose="02040503050406030204" pitchFamily="18" charset="0"/>
              </a:rPr>
              <a:t>historical</a:t>
            </a:r>
            <a:r>
              <a:rPr lang="it-IT" sz="1000" dirty="0">
                <a:latin typeface="Cambria" panose="02040503050406030204" pitchFamily="18" charset="0"/>
                <a:ea typeface="Cambria" panose="02040503050406030204" pitchFamily="18" charset="0"/>
              </a:rPr>
              <a:t> patterns and </a:t>
            </a:r>
            <a:r>
              <a:rPr lang="it-IT" sz="1000" dirty="0" err="1">
                <a:latin typeface="Cambria" panose="02040503050406030204" pitchFamily="18" charset="0"/>
                <a:ea typeface="Cambria" panose="02040503050406030204" pitchFamily="18" charset="0"/>
              </a:rPr>
              <a:t>may</a:t>
            </a:r>
            <a:r>
              <a:rPr lang="it-IT" sz="1000" dirty="0">
                <a:latin typeface="Cambria" panose="02040503050406030204" pitchFamily="18" charset="0"/>
                <a:ea typeface="Cambria" panose="02040503050406030204" pitchFamily="18" charset="0"/>
              </a:rPr>
              <a:t> </a:t>
            </a:r>
            <a:r>
              <a:rPr lang="it-IT" sz="1000" dirty="0" err="1">
                <a:latin typeface="Cambria" panose="02040503050406030204" pitchFamily="18" charset="0"/>
                <a:ea typeface="Cambria" panose="02040503050406030204" pitchFamily="18" charset="0"/>
              </a:rPr>
              <a:t>underestimate</a:t>
            </a:r>
            <a:r>
              <a:rPr lang="it-IT" sz="1000" dirty="0">
                <a:latin typeface="Cambria" panose="02040503050406030204" pitchFamily="18" charset="0"/>
                <a:ea typeface="Cambria" panose="02040503050406030204" pitchFamily="18" charset="0"/>
              </a:rPr>
              <a:t> gains </a:t>
            </a:r>
            <a:r>
              <a:rPr lang="it-IT" sz="1000" dirty="0" err="1">
                <a:latin typeface="Cambria" panose="02040503050406030204" pitchFamily="18" charset="0"/>
                <a:ea typeface="Cambria" panose="02040503050406030204" pitchFamily="18" charset="0"/>
              </a:rPr>
              <a:t>achievable</a:t>
            </a:r>
            <a:r>
              <a:rPr lang="it-IT" sz="1000" dirty="0">
                <a:latin typeface="Cambria" panose="02040503050406030204" pitchFamily="18" charset="0"/>
                <a:ea typeface="Cambria" panose="02040503050406030204" pitchFamily="18" charset="0"/>
              </a:rPr>
              <a:t> with more aggressive </a:t>
            </a:r>
            <a:r>
              <a:rPr lang="it-IT" sz="1000" dirty="0" err="1">
                <a:latin typeface="Cambria" panose="02040503050406030204" pitchFamily="18" charset="0"/>
                <a:ea typeface="Cambria" panose="02040503050406030204" pitchFamily="18" charset="0"/>
              </a:rPr>
              <a:t>reallocation</a:t>
            </a:r>
            <a:r>
              <a:rPr lang="it-IT" sz="1000" dirty="0">
                <a:latin typeface="Cambria" panose="02040503050406030204" pitchFamily="18" charset="0"/>
                <a:ea typeface="Cambria" panose="02040503050406030204" pitchFamily="18" charset="0"/>
              </a:rPr>
              <a:t>.</a:t>
            </a:r>
            <a:endParaRPr lang="en-US" sz="1000" dirty="0">
              <a:latin typeface="Cambria" panose="02040503050406030204" pitchFamily="18" charset="0"/>
              <a:ea typeface="Cambria" panose="02040503050406030204" pitchFamily="18" charset="0"/>
            </a:endParaRPr>
          </a:p>
        </p:txBody>
      </p:sp>
      <p:sp>
        <p:nvSpPr>
          <p:cNvPr id="9" name="Shape 4">
            <a:extLst>
              <a:ext uri="{FF2B5EF4-FFF2-40B4-BE49-F238E27FC236}">
                <a16:creationId xmlns:a16="http://schemas.microsoft.com/office/drawing/2014/main" id="{82835174-D3B5-D060-7A06-7C16E5E878AD}"/>
              </a:ext>
            </a:extLst>
          </p:cNvPr>
          <p:cNvSpPr/>
          <p:nvPr/>
        </p:nvSpPr>
        <p:spPr>
          <a:xfrm>
            <a:off x="4617720" y="2889778"/>
            <a:ext cx="0" cy="1495255"/>
          </a:xfrm>
          <a:prstGeom prst="line">
            <a:avLst/>
          </a:prstGeom>
          <a:noFill/>
          <a:ln w="15875">
            <a:solidFill>
              <a:srgbClr val="DCE7E6"/>
            </a:solidFill>
            <a:prstDash val="solid"/>
          </a:ln>
        </p:spPr>
        <p:txBody>
          <a:bodyPr/>
          <a:lstStyle/>
          <a:p>
            <a:endParaRPr lang="it-IT" sz="1000">
              <a:latin typeface="Cambria" panose="02040503050406030204" pitchFamily="18" charset="0"/>
              <a:ea typeface="Cambria" panose="02040503050406030204" pitchFamily="18" charset="0"/>
            </a:endParaRPr>
          </a:p>
        </p:txBody>
      </p:sp>
      <p:sp>
        <p:nvSpPr>
          <p:cNvPr id="13" name="Text 6">
            <a:extLst>
              <a:ext uri="{FF2B5EF4-FFF2-40B4-BE49-F238E27FC236}">
                <a16:creationId xmlns:a16="http://schemas.microsoft.com/office/drawing/2014/main" id="{7F67B7BF-87A7-A7F4-3D46-3C1AED1BE2B0}"/>
              </a:ext>
            </a:extLst>
          </p:cNvPr>
          <p:cNvSpPr/>
          <p:nvPr/>
        </p:nvSpPr>
        <p:spPr>
          <a:xfrm>
            <a:off x="4846320" y="2761043"/>
            <a:ext cx="3886200" cy="2241209"/>
          </a:xfrm>
          <a:prstGeom prst="rect">
            <a:avLst/>
          </a:prstGeom>
          <a:noFill/>
          <a:ln/>
        </p:spPr>
        <p:txBody>
          <a:bodyPr wrap="square" lIns="0" tIns="0" rIns="0" bIns="0" rtlCol="0" anchor="ctr"/>
          <a:lstStyle/>
          <a:p>
            <a:pPr marL="342900" indent="-342900">
              <a:spcAft>
                <a:spcPts val="1000"/>
              </a:spcAft>
              <a:buSzPct val="100000"/>
              <a:buChar char="•"/>
            </a:pPr>
            <a:r>
              <a:rPr lang="en-US" sz="1000" dirty="0">
                <a:solidFill>
                  <a:srgbClr val="1E293B"/>
                </a:solidFill>
                <a:latin typeface="Cambria" panose="02040503050406030204" pitchFamily="18" charset="0"/>
                <a:ea typeface="Cambria" panose="02040503050406030204" pitchFamily="18" charset="0"/>
                <a:cs typeface="Calibri" pitchFamily="34" charset="-120"/>
              </a:rPr>
              <a:t>Pilot the saturation-aware reallocation at reduced scale before a full quarter-level shift.</a:t>
            </a:r>
            <a:endParaRPr lang="en-US" sz="1000" dirty="0">
              <a:latin typeface="Cambria" panose="02040503050406030204" pitchFamily="18" charset="0"/>
              <a:ea typeface="Cambria" panose="02040503050406030204" pitchFamily="18" charset="0"/>
            </a:endParaRPr>
          </a:p>
          <a:p>
            <a:pPr marL="342900" indent="-342900">
              <a:spcAft>
                <a:spcPts val="1000"/>
              </a:spcAft>
              <a:buSzPct val="100000"/>
              <a:buChar char="•"/>
            </a:pPr>
            <a:r>
              <a:rPr lang="en-US" sz="1000" dirty="0">
                <a:solidFill>
                  <a:srgbClr val="1E293B"/>
                </a:solidFill>
                <a:latin typeface="Cambria" panose="02040503050406030204" pitchFamily="18" charset="0"/>
                <a:ea typeface="Cambria" panose="02040503050406030204" pitchFamily="18" charset="0"/>
                <a:cs typeface="Calibri" pitchFamily="34" charset="-120"/>
              </a:rPr>
              <a:t>Re-run ROI, mROI, and scenario simulation on a rolling basis as new spend and revenue data arrive.</a:t>
            </a:r>
            <a:endParaRPr lang="en-US" sz="1000" dirty="0">
              <a:latin typeface="Cambria" panose="02040503050406030204" pitchFamily="18" charset="0"/>
              <a:ea typeface="Cambria" panose="02040503050406030204" pitchFamily="18" charset="0"/>
            </a:endParaRPr>
          </a:p>
          <a:p>
            <a:pPr marL="342900" indent="-342900">
              <a:spcAft>
                <a:spcPts val="1000"/>
              </a:spcAft>
              <a:buSzPct val="100000"/>
              <a:buChar char="•"/>
            </a:pPr>
            <a:r>
              <a:rPr lang="en-US" sz="1000" dirty="0">
                <a:solidFill>
                  <a:srgbClr val="1E293B"/>
                </a:solidFill>
                <a:latin typeface="Cambria" panose="02040503050406030204" pitchFamily="18" charset="0"/>
                <a:ea typeface="Cambria" panose="02040503050406030204" pitchFamily="18" charset="0"/>
                <a:cs typeface="Calibri" pitchFamily="34" charset="-120"/>
              </a:rPr>
              <a:t>Extend the SHAP-style explainability layer to monitor whether channel contribution rankings stay stable as budgets shift.</a:t>
            </a:r>
            <a:endParaRPr lang="en-US" sz="1000" dirty="0">
              <a:latin typeface="Cambria" panose="02040503050406030204" pitchFamily="18" charset="0"/>
              <a:ea typeface="Cambria" panose="02040503050406030204" pitchFamily="18" charset="0"/>
            </a:endParaRPr>
          </a:p>
          <a:p>
            <a:pPr marL="342900" indent="-342900">
              <a:spcAft>
                <a:spcPts val="1000"/>
              </a:spcAft>
              <a:buSzPct val="100000"/>
              <a:buChar char="•"/>
            </a:pPr>
            <a:r>
              <a:rPr lang="en-US" sz="1000" dirty="0">
                <a:solidFill>
                  <a:srgbClr val="1E293B"/>
                </a:solidFill>
                <a:latin typeface="Cambria" panose="02040503050406030204" pitchFamily="18" charset="0"/>
                <a:ea typeface="Cambria" panose="02040503050406030204" pitchFamily="18" charset="0"/>
                <a:cs typeface="Calibri" pitchFamily="34" charset="-120"/>
              </a:rPr>
              <a:t>Evaluate whether additional organizations warrant their own MMM once the single-firm workflow is validated in production.</a:t>
            </a:r>
          </a:p>
          <a:p>
            <a:pPr marL="342900" indent="-342900">
              <a:spcAft>
                <a:spcPts val="1000"/>
              </a:spcAft>
              <a:buSzPct val="100000"/>
              <a:buChar char="•"/>
            </a:pPr>
            <a:r>
              <a:rPr lang="it-IT" sz="1000" dirty="0"/>
              <a:t>Use the </a:t>
            </a:r>
            <a:r>
              <a:rPr lang="it-IT" sz="1000" dirty="0" err="1"/>
              <a:t>optimizer</a:t>
            </a:r>
            <a:r>
              <a:rPr lang="it-IT" sz="1000" dirty="0"/>
              <a:t> output </a:t>
            </a:r>
            <a:r>
              <a:rPr lang="it-IT" sz="1000" dirty="0" err="1"/>
              <a:t>as</a:t>
            </a:r>
            <a:r>
              <a:rPr lang="it-IT" sz="1000" dirty="0"/>
              <a:t> the baseline for </a:t>
            </a:r>
            <a:r>
              <a:rPr lang="it-IT" sz="1000" dirty="0" err="1"/>
              <a:t>next</a:t>
            </a:r>
            <a:r>
              <a:rPr lang="it-IT" sz="1000" dirty="0"/>
              <a:t> </a:t>
            </a:r>
            <a:r>
              <a:rPr lang="it-IT" sz="1000" dirty="0" err="1"/>
              <a:t>quarter's</a:t>
            </a:r>
            <a:r>
              <a:rPr lang="it-IT" sz="1000" dirty="0"/>
              <a:t> budget plan: the +$700k shift </a:t>
            </a:r>
            <a:r>
              <a:rPr lang="it-IT" sz="1000" dirty="0" err="1"/>
              <a:t>toward</a:t>
            </a:r>
            <a:r>
              <a:rPr lang="it-IT" sz="1000" dirty="0"/>
              <a:t> META_FACEBOOK and the progressive </a:t>
            </a:r>
            <a:r>
              <a:rPr lang="it-IT" sz="1000" dirty="0" err="1"/>
              <a:t>increase</a:t>
            </a:r>
            <a:r>
              <a:rPr lang="it-IT" sz="1000" dirty="0"/>
              <a:t> on META_OTHER are the </a:t>
            </a:r>
            <a:r>
              <a:rPr lang="it-IT" sz="1000" dirty="0" err="1"/>
              <a:t>two</a:t>
            </a:r>
            <a:r>
              <a:rPr lang="it-IT" sz="1000" dirty="0"/>
              <a:t> </a:t>
            </a:r>
            <a:r>
              <a:rPr lang="it-IT" sz="1000" dirty="0" err="1"/>
              <a:t>highest</a:t>
            </a:r>
            <a:r>
              <a:rPr lang="it-IT" sz="1000" dirty="0"/>
              <a:t>-confidence </a:t>
            </a:r>
            <a:r>
              <a:rPr lang="it-IT" sz="1000" dirty="0" err="1"/>
              <a:t>moves</a:t>
            </a:r>
            <a:r>
              <a:rPr lang="it-IT" sz="1000" dirty="0"/>
              <a:t> the model supports.</a:t>
            </a:r>
            <a:endParaRPr lang="en-US" sz="1000" dirty="0">
              <a:latin typeface="Cambria" panose="02040503050406030204" pitchFamily="18" charset="0"/>
              <a:ea typeface="Cambria" panose="02040503050406030204" pitchFamily="18" charset="0"/>
            </a:endParaRPr>
          </a:p>
        </p:txBody>
      </p:sp>
      <p:sp>
        <p:nvSpPr>
          <p:cNvPr id="15" name="Text 2">
            <a:extLst>
              <a:ext uri="{FF2B5EF4-FFF2-40B4-BE49-F238E27FC236}">
                <a16:creationId xmlns:a16="http://schemas.microsoft.com/office/drawing/2014/main" id="{0FC311D3-0515-060A-0943-25B195DFD68A}"/>
              </a:ext>
            </a:extLst>
          </p:cNvPr>
          <p:cNvSpPr/>
          <p:nvPr/>
        </p:nvSpPr>
        <p:spPr>
          <a:xfrm>
            <a:off x="4686300" y="2546865"/>
            <a:ext cx="3931920" cy="149525"/>
          </a:xfrm>
          <a:prstGeom prst="rect">
            <a:avLst/>
          </a:prstGeom>
          <a:noFill/>
          <a:ln/>
        </p:spPr>
        <p:txBody>
          <a:bodyPr wrap="square" lIns="0" tIns="0" rIns="0" bIns="0" rtlCol="0" anchor="ctr"/>
          <a:lstStyle/>
          <a:p>
            <a:pPr algn="ctr"/>
            <a:r>
              <a:rPr lang="en-US" sz="1200" b="1" kern="0" spc="200" dirty="0">
                <a:solidFill>
                  <a:srgbClr val="3A5BA0"/>
                </a:solidFill>
                <a:latin typeface="Cambria" panose="02040503050406030204" pitchFamily="18" charset="0"/>
                <a:ea typeface="Cambria" panose="02040503050406030204" pitchFamily="18" charset="0"/>
                <a:cs typeface="Calibri" pitchFamily="34" charset="-120"/>
              </a:rPr>
              <a:t>NEXT STEPS</a:t>
            </a:r>
          </a:p>
        </p:txBody>
      </p:sp>
    </p:spTree>
    <p:extLst>
      <p:ext uri="{BB962C8B-B14F-4D97-AF65-F5344CB8AC3E}">
        <p14:creationId xmlns:p14="http://schemas.microsoft.com/office/powerpoint/2010/main" val="274464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0520E4BB-D40A-F1E1-2419-1923543E60F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2D028FB-B174-EC27-680A-69428A28B823}"/>
              </a:ext>
            </a:extLst>
          </p:cNvPr>
          <p:cNvSpPr/>
          <p:nvPr/>
        </p:nvSpPr>
        <p:spPr>
          <a:xfrm>
            <a:off x="457200" y="914400"/>
            <a:ext cx="3200400" cy="274320"/>
          </a:xfrm>
          <a:prstGeom prst="rect">
            <a:avLst/>
          </a:prstGeom>
          <a:noFill/>
          <a:ln/>
        </p:spPr>
        <p:txBody>
          <a:bodyPr wrap="square" lIns="0" tIns="0" rIns="0" bIns="0" rtlCol="0" anchor="ctr"/>
          <a:lstStyle/>
          <a:p>
            <a:r>
              <a:rPr lang="en-US" sz="900" b="1" kern="0" spc="200" noProof="0" dirty="0">
                <a:solidFill>
                  <a:srgbClr val="CADCFC"/>
                </a:solidFill>
                <a:latin typeface="Cambria" panose="02040503050406030204" pitchFamily="18" charset="0"/>
                <a:ea typeface="Cambria" panose="02040503050406030204" pitchFamily="18" charset="0"/>
              </a:rPr>
              <a:t>MARKETING</a:t>
            </a:r>
            <a:r>
              <a:rPr lang="en-US" sz="900" b="1" kern="0" spc="200" noProof="0" dirty="0">
                <a:solidFill>
                  <a:srgbClr val="CADCFC"/>
                </a:solidFill>
              </a:rPr>
              <a:t> ANALYTICS — PROJECT</a:t>
            </a:r>
            <a:endParaRPr lang="en-US" sz="900" noProof="0" dirty="0"/>
          </a:p>
        </p:txBody>
      </p:sp>
      <p:sp>
        <p:nvSpPr>
          <p:cNvPr id="5" name="Text 3">
            <a:extLst>
              <a:ext uri="{FF2B5EF4-FFF2-40B4-BE49-F238E27FC236}">
                <a16:creationId xmlns:a16="http://schemas.microsoft.com/office/drawing/2014/main" id="{A77FD61D-3E6B-65CF-22AF-3331D33C4265}"/>
              </a:ext>
            </a:extLst>
          </p:cNvPr>
          <p:cNvSpPr/>
          <p:nvPr/>
        </p:nvSpPr>
        <p:spPr>
          <a:xfrm>
            <a:off x="457200" y="1783080"/>
            <a:ext cx="6858000" cy="1005840"/>
          </a:xfrm>
          <a:prstGeom prst="rect">
            <a:avLst/>
          </a:prstGeom>
          <a:noFill/>
          <a:ln/>
        </p:spPr>
        <p:txBody>
          <a:bodyPr wrap="square" lIns="0" tIns="0" rIns="0" bIns="0" rtlCol="0" anchor="ctr"/>
          <a:lstStyle/>
          <a:p>
            <a:pPr marL="0" indent="0" algn="l">
              <a:buNone/>
            </a:pPr>
            <a:r>
              <a:rPr lang="en-US" sz="9600" b="1" noProof="0" dirty="0">
                <a:solidFill>
                  <a:srgbClr val="FFFFFF"/>
                </a:solidFill>
                <a:latin typeface="EucrosiaUPC" panose="02020603050405020304" pitchFamily="18" charset="-34"/>
                <a:ea typeface="Calibri" pitchFamily="34" charset="-122"/>
                <a:cs typeface="EucrosiaUPC" panose="02020603050405020304" pitchFamily="18" charset="-34"/>
              </a:rPr>
              <a:t>Thank you</a:t>
            </a:r>
            <a:endParaRPr lang="en-US" sz="9600" noProof="0" dirty="0">
              <a:latin typeface="EucrosiaUPC" panose="02020603050405020304" pitchFamily="18" charset="-34"/>
              <a:cs typeface="EucrosiaUPC" panose="02020603050405020304" pitchFamily="18" charset="-34"/>
            </a:endParaRPr>
          </a:p>
        </p:txBody>
      </p:sp>
      <p:sp>
        <p:nvSpPr>
          <p:cNvPr id="6" name="Text 4">
            <a:extLst>
              <a:ext uri="{FF2B5EF4-FFF2-40B4-BE49-F238E27FC236}">
                <a16:creationId xmlns:a16="http://schemas.microsoft.com/office/drawing/2014/main" id="{1E789521-FAC6-79FC-3D94-18134BF0DBC7}"/>
              </a:ext>
            </a:extLst>
          </p:cNvPr>
          <p:cNvSpPr/>
          <p:nvPr/>
        </p:nvSpPr>
        <p:spPr>
          <a:xfrm>
            <a:off x="457200" y="3515456"/>
            <a:ext cx="5943600" cy="498349"/>
          </a:xfrm>
          <a:prstGeom prst="rect">
            <a:avLst/>
          </a:prstGeom>
          <a:noFill/>
          <a:ln/>
        </p:spPr>
        <p:txBody>
          <a:bodyPr wrap="square" lIns="0" tIns="0" rIns="0" bIns="0" rtlCol="0" anchor="ctr"/>
          <a:lstStyle/>
          <a:p>
            <a:r>
              <a:rPr lang="en-US" sz="1300" i="1" noProof="0" dirty="0">
                <a:solidFill>
                  <a:srgbClr val="CADCFC"/>
                </a:solidFill>
                <a:latin typeface="Cambria" panose="02040503050406030204" pitchFamily="18" charset="0"/>
                <a:ea typeface="Cambria" panose="02040503050406030204" pitchFamily="18" charset="0"/>
                <a:cs typeface="Calibri" pitchFamily="34" charset="-120"/>
              </a:rPr>
              <a:t>A Meridian MMM study with SHAP explainability, built on daily multi-territory marketing and sales data for a selected organization.</a:t>
            </a:r>
          </a:p>
        </p:txBody>
      </p:sp>
      <p:sp>
        <p:nvSpPr>
          <p:cNvPr id="7" name="Shape 5">
            <a:extLst>
              <a:ext uri="{FF2B5EF4-FFF2-40B4-BE49-F238E27FC236}">
                <a16:creationId xmlns:a16="http://schemas.microsoft.com/office/drawing/2014/main" id="{8BCAD734-BF02-F981-9737-2F2A39BC4214}"/>
              </a:ext>
            </a:extLst>
          </p:cNvPr>
          <p:cNvSpPr/>
          <p:nvPr/>
        </p:nvSpPr>
        <p:spPr>
          <a:xfrm>
            <a:off x="457200" y="4096512"/>
            <a:ext cx="3200400" cy="0"/>
          </a:xfrm>
          <a:prstGeom prst="line">
            <a:avLst/>
          </a:prstGeom>
          <a:noFill/>
          <a:ln w="25400">
            <a:solidFill>
              <a:srgbClr val="3A7BD5"/>
            </a:solidFill>
            <a:prstDash val="solid"/>
          </a:ln>
        </p:spPr>
        <p:txBody>
          <a:bodyPr/>
          <a:lstStyle/>
          <a:p>
            <a:endParaRPr lang="en-US" noProof="0" dirty="0"/>
          </a:p>
        </p:txBody>
      </p:sp>
      <p:sp>
        <p:nvSpPr>
          <p:cNvPr id="8" name="Text 6">
            <a:extLst>
              <a:ext uri="{FF2B5EF4-FFF2-40B4-BE49-F238E27FC236}">
                <a16:creationId xmlns:a16="http://schemas.microsoft.com/office/drawing/2014/main" id="{EF979122-A143-725B-104C-D7D8EC0B3286}"/>
              </a:ext>
            </a:extLst>
          </p:cNvPr>
          <p:cNvSpPr/>
          <p:nvPr/>
        </p:nvSpPr>
        <p:spPr>
          <a:xfrm>
            <a:off x="457200" y="4157472"/>
            <a:ext cx="4572000" cy="256032"/>
          </a:xfrm>
          <a:prstGeom prst="rect">
            <a:avLst/>
          </a:prstGeom>
          <a:noFill/>
          <a:ln/>
        </p:spPr>
        <p:txBody>
          <a:bodyPr wrap="square" lIns="0" tIns="0" rIns="0" bIns="0" rtlCol="0" anchor="ctr"/>
          <a:lstStyle/>
          <a:p>
            <a:pPr marL="0" indent="0" algn="l">
              <a:buNone/>
            </a:pPr>
            <a:r>
              <a:rPr lang="en-US" sz="1100" noProof="0" dirty="0">
                <a:solidFill>
                  <a:schemeClr val="bg1"/>
                </a:solidFill>
                <a:latin typeface="Cambria" panose="02040503050406030204" pitchFamily="18" charset="0"/>
                <a:ea typeface="Cambria" panose="02040503050406030204" pitchFamily="18" charset="0"/>
              </a:rPr>
              <a:t>Presented to: Professor Luigi Capone</a:t>
            </a:r>
          </a:p>
        </p:txBody>
      </p:sp>
      <p:sp>
        <p:nvSpPr>
          <p:cNvPr id="15" name="Text 6">
            <a:extLst>
              <a:ext uri="{FF2B5EF4-FFF2-40B4-BE49-F238E27FC236}">
                <a16:creationId xmlns:a16="http://schemas.microsoft.com/office/drawing/2014/main" id="{77004C30-4107-26FA-8F58-D177AAF1016E}"/>
              </a:ext>
            </a:extLst>
          </p:cNvPr>
          <p:cNvSpPr/>
          <p:nvPr/>
        </p:nvSpPr>
        <p:spPr>
          <a:xfrm>
            <a:off x="457200" y="4368487"/>
            <a:ext cx="4572000" cy="256032"/>
          </a:xfrm>
          <a:prstGeom prst="rect">
            <a:avLst/>
          </a:prstGeom>
          <a:noFill/>
          <a:ln/>
        </p:spPr>
        <p:txBody>
          <a:bodyPr wrap="square" lIns="0" tIns="0" rIns="0" bIns="0" rtlCol="0" anchor="ctr"/>
          <a:lstStyle/>
          <a:p>
            <a:pPr marL="0" indent="0" algn="l">
              <a:buNone/>
            </a:pPr>
            <a:r>
              <a:rPr lang="en-US" sz="1100" noProof="0" dirty="0">
                <a:solidFill>
                  <a:schemeClr val="bg1"/>
                </a:solidFill>
                <a:latin typeface="Cambria" panose="02040503050406030204" pitchFamily="18" charset="0"/>
                <a:ea typeface="Cambria" panose="02040503050406030204" pitchFamily="18" charset="0"/>
              </a:rPr>
              <a:t>Student: Colombini Francesco – ID:944941</a:t>
            </a:r>
          </a:p>
        </p:txBody>
      </p:sp>
      <p:sp>
        <p:nvSpPr>
          <p:cNvPr id="2" name="Text 3">
            <a:extLst>
              <a:ext uri="{FF2B5EF4-FFF2-40B4-BE49-F238E27FC236}">
                <a16:creationId xmlns:a16="http://schemas.microsoft.com/office/drawing/2014/main" id="{D5772690-5CC0-1B43-0ADA-F5607B11CBE2}"/>
              </a:ext>
            </a:extLst>
          </p:cNvPr>
          <p:cNvSpPr/>
          <p:nvPr/>
        </p:nvSpPr>
        <p:spPr>
          <a:xfrm>
            <a:off x="457200" y="3103976"/>
            <a:ext cx="6858000" cy="411480"/>
          </a:xfrm>
          <a:prstGeom prst="rect">
            <a:avLst/>
          </a:prstGeom>
          <a:noFill/>
          <a:ln/>
        </p:spPr>
        <p:txBody>
          <a:bodyPr wrap="square" lIns="0" tIns="0" rIns="0" bIns="0" rtlCol="0" anchor="ctr"/>
          <a:lstStyle/>
          <a:p>
            <a:r>
              <a:rPr lang="en-US" sz="4000" b="1" noProof="0" dirty="0">
                <a:solidFill>
                  <a:srgbClr val="FFFFFF"/>
                </a:solidFill>
                <a:latin typeface="EucrosiaUPC" panose="02020603050405020304" pitchFamily="18" charset="-34"/>
                <a:ea typeface="Cambria" pitchFamily="34" charset="-122"/>
                <a:cs typeface="EucrosiaUPC" panose="02020603050405020304" pitchFamily="18" charset="-34"/>
              </a:rPr>
              <a:t>Marketing Mix Modelling</a:t>
            </a:r>
            <a:endParaRPr lang="en-US" sz="4000" noProof="0" dirty="0">
              <a:latin typeface="EucrosiaUPC" panose="02020603050405020304" pitchFamily="18" charset="-34"/>
              <a:cs typeface="EucrosiaUPC" panose="02020603050405020304" pitchFamily="18" charset="-34"/>
            </a:endParaRPr>
          </a:p>
        </p:txBody>
      </p:sp>
    </p:spTree>
    <p:extLst>
      <p:ext uri="{BB962C8B-B14F-4D97-AF65-F5344CB8AC3E}">
        <p14:creationId xmlns:p14="http://schemas.microsoft.com/office/powerpoint/2010/main" val="4057254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746</TotalTime>
  <Words>2070</Words>
  <Application>Microsoft Office PowerPoint</Application>
  <PresentationFormat>Presentazione su schermo (16:9)</PresentationFormat>
  <Paragraphs>251</Paragraphs>
  <Slides>12</Slides>
  <Notes>10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12</vt:i4>
      </vt:variant>
    </vt:vector>
  </HeadingPairs>
  <TitlesOfParts>
    <vt:vector size="17" baseType="lpstr">
      <vt:lpstr>Arial</vt:lpstr>
      <vt:lpstr>Calibri</vt:lpstr>
      <vt:lpstr>Cambria</vt:lpstr>
      <vt:lpstr>EucrosiaUPC</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Lifetime Value Analysis — Marketing Analytics HW2</dc:title>
  <dc:subject>PptxGenJS Presentation</dc:subject>
  <dc:creator>Francesco</dc:creator>
  <cp:lastModifiedBy>Francesco Colombini</cp:lastModifiedBy>
  <cp:revision>43</cp:revision>
  <dcterms:created xsi:type="dcterms:W3CDTF">2026-06-11T06:18:33Z</dcterms:created>
  <dcterms:modified xsi:type="dcterms:W3CDTF">2026-07-12T14:13:36Z</dcterms:modified>
</cp:coreProperties>
</file>