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9" r:id="rId4"/>
    <p:sldId id="260" r:id="rId5"/>
    <p:sldId id="261" r:id="rId6"/>
    <p:sldId id="262"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86F"/>
    <a:srgbClr val="2D9B6F"/>
    <a:srgbClr val="027E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542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I describe the two datasets used and the preprocessing choices made. Both datasets share the same 14 features — age, income, tenure, monthly spend, campaign type and churn label. No missing values were present in either dataset. The preprocessing pipeline was kept separate for numerical and categorical variables to avoid any data leakage: all transformers were fit on training data only, then applied to the test 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marketing heart of the project. A data scientist might select a model based on AUC alone, but a marketing analyst has to think about what the model's output is used for. High precision means your retention budget is not wasted on loyal customers. High recall means you're not letting real churners slip through uncontacted. The key advantage of Logistic Regression here is not just that it wins on AUC — it's that its coefficients are directly usable: they tell you that, for example, a customer with a very low loyalty score and low tenure is being pushed towards churn by those specific variables, which then informs which message or incentive to send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1 shows a balanced churn rate around 52%, so the model had to genuinely learn from both classes. Its AUC of 0.899 is solid for a linear model. Dataset 2 has a much higher churn rate of 87%, which gives the model a stronger signal — reflected in the near-perfect AUC of 0.969 and precision of 98.9%. The confusion matrices show that in both cases the false-positive rate is well controlled.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predictive features align with intuition — customers with low loyalty scores, shorter tenure, and lower spend are the most likely to churn. The choice of Logistic Regression over Random Forest was validated empirically by cross-dataset AUC comparison. The main technical takeaways are: proper train-test separation, systematic handling of class imbalance, and building a single reproducible pipeline from raw data to predictions.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0DA42-01C7-51D8-C675-E5739DD1D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37CB1-39D4-3B15-CD14-60A9D396FE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15C631-1B67-A0E6-FC12-D575ED6D52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C64C07-DAB4-5EBB-55F8-72982C7B74F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164590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457200" y="914400"/>
            <a:ext cx="2968283" cy="274320"/>
          </a:xfrm>
          <a:prstGeom prst="rect">
            <a:avLst/>
          </a:prstGeom>
          <a:noFill/>
          <a:ln/>
        </p:spPr>
        <p:txBody>
          <a:bodyPr wrap="square" lIns="0" tIns="0" rIns="0" bIns="0" rtlCol="0" anchor="ctr"/>
          <a:lstStyle/>
          <a:p>
            <a:pPr marL="0" indent="0" algn="l">
              <a:buNone/>
            </a:pPr>
            <a:r>
              <a:rPr lang="en-US" sz="900" b="1" kern="0" spc="200" dirty="0">
                <a:solidFill>
                  <a:srgbClr val="CADCFC"/>
                </a:solidFill>
                <a:latin typeface="Cambria" panose="02040503050406030204" pitchFamily="18" charset="0"/>
                <a:ea typeface="Cambria" panose="02040503050406030204" pitchFamily="18" charset="0"/>
              </a:rPr>
              <a:t>MARKETING</a:t>
            </a:r>
            <a:r>
              <a:rPr lang="en-US" sz="900" b="1" kern="0" spc="200" dirty="0">
                <a:solidFill>
                  <a:srgbClr val="CADCFC"/>
                </a:solidFill>
              </a:rPr>
              <a:t> ANALYTICS — HOMEWORK 1</a:t>
            </a:r>
            <a:endParaRPr lang="en-US" sz="900" dirty="0"/>
          </a:p>
        </p:txBody>
      </p:sp>
      <p:sp>
        <p:nvSpPr>
          <p:cNvPr id="5" name="Text 3"/>
          <p:cNvSpPr/>
          <p:nvPr/>
        </p:nvSpPr>
        <p:spPr>
          <a:xfrm>
            <a:off x="457200" y="1280160"/>
            <a:ext cx="6858000" cy="1005840"/>
          </a:xfrm>
          <a:prstGeom prst="rect">
            <a:avLst/>
          </a:prstGeom>
          <a:noFill/>
          <a:ln/>
        </p:spPr>
        <p:txBody>
          <a:bodyPr wrap="square" lIns="0" tIns="0" rIns="0" bIns="0" rtlCol="0" anchor="ctr"/>
          <a:lstStyle/>
          <a:p>
            <a:pPr marL="0" indent="0" algn="l">
              <a:buNone/>
            </a:pPr>
            <a:r>
              <a:rPr lang="en-US" sz="6000" b="1" dirty="0">
                <a:solidFill>
                  <a:srgbClr val="FFFFFF"/>
                </a:solidFill>
                <a:latin typeface="EucrosiaUPC" panose="020B0502040204020203" pitchFamily="18" charset="-34"/>
                <a:ea typeface="Calibri" pitchFamily="34" charset="-122"/>
                <a:cs typeface="EucrosiaUPC" panose="020B0502040204020203" pitchFamily="18" charset="-34"/>
              </a:rPr>
              <a:t>Customer Churn Prediction</a:t>
            </a:r>
            <a:endParaRPr lang="en-US" sz="6000" dirty="0">
              <a:latin typeface="EucrosiaUPC" panose="020B0502040204020203" pitchFamily="18" charset="-34"/>
              <a:cs typeface="EucrosiaUPC" panose="020B0502040204020203" pitchFamily="18" charset="-34"/>
            </a:endParaRPr>
          </a:p>
        </p:txBody>
      </p:sp>
      <p:sp>
        <p:nvSpPr>
          <p:cNvPr id="6" name="Text 4"/>
          <p:cNvSpPr/>
          <p:nvPr/>
        </p:nvSpPr>
        <p:spPr>
          <a:xfrm>
            <a:off x="453683" y="2036825"/>
            <a:ext cx="5943600" cy="498349"/>
          </a:xfrm>
          <a:prstGeom prst="rect">
            <a:avLst/>
          </a:prstGeom>
          <a:noFill/>
          <a:ln/>
        </p:spPr>
        <p:txBody>
          <a:bodyPr wrap="square" lIns="0" tIns="0" rIns="0" bIns="0" rtlCol="0" anchor="ctr"/>
          <a:lstStyle/>
          <a:p>
            <a:pPr marL="0" indent="0" algn="l">
              <a:buNone/>
            </a:pPr>
            <a:r>
              <a:rPr lang="en-US" sz="1300" dirty="0">
                <a:solidFill>
                  <a:srgbClr val="CADCFC"/>
                </a:solidFill>
                <a:latin typeface="Cambria" panose="02040503050406030204" pitchFamily="18" charset="0"/>
                <a:ea typeface="Cambria" panose="02040503050406030204" pitchFamily="18" charset="0"/>
              </a:rPr>
              <a:t>A supervised machine learning pipeline for binary churn classification</a:t>
            </a:r>
            <a:endParaRPr lang="en-US" sz="1300" dirty="0">
              <a:latin typeface="Cambria" panose="02040503050406030204" pitchFamily="18" charset="0"/>
              <a:ea typeface="Cambria" panose="02040503050406030204" pitchFamily="18" charset="0"/>
            </a:endParaRPr>
          </a:p>
          <a:p>
            <a:pPr marL="0" indent="0" algn="l">
              <a:buNone/>
            </a:pPr>
            <a:r>
              <a:rPr lang="en-US" sz="1300" dirty="0">
                <a:solidFill>
                  <a:srgbClr val="CADCFC"/>
                </a:solidFill>
                <a:latin typeface="Cambria" panose="02040503050406030204" pitchFamily="18" charset="0"/>
                <a:ea typeface="Cambria" panose="02040503050406030204" pitchFamily="18" charset="0"/>
              </a:rPr>
              <a:t>using Logistic Regression and Random Forest across two datasets.</a:t>
            </a:r>
            <a:endParaRPr lang="en-US" sz="1300" dirty="0">
              <a:latin typeface="Cambria" panose="02040503050406030204" pitchFamily="18" charset="0"/>
              <a:ea typeface="Cambria" panose="02040503050406030204" pitchFamily="18" charset="0"/>
            </a:endParaRPr>
          </a:p>
        </p:txBody>
      </p:sp>
      <p:sp>
        <p:nvSpPr>
          <p:cNvPr id="7" name="Shape 5"/>
          <p:cNvSpPr/>
          <p:nvPr/>
        </p:nvSpPr>
        <p:spPr>
          <a:xfrm>
            <a:off x="457200" y="3310128"/>
            <a:ext cx="3200400" cy="0"/>
          </a:xfrm>
          <a:prstGeom prst="line">
            <a:avLst/>
          </a:prstGeom>
          <a:noFill/>
          <a:ln w="25400">
            <a:solidFill>
              <a:srgbClr val="3A7BD5"/>
            </a:solidFill>
            <a:prstDash val="solid"/>
          </a:ln>
        </p:spPr>
        <p:txBody>
          <a:bodyPr/>
          <a:lstStyle/>
          <a:p>
            <a:endParaRPr lang="it-IT"/>
          </a:p>
        </p:txBody>
      </p:sp>
      <p:sp>
        <p:nvSpPr>
          <p:cNvPr id="8" name="Text 6"/>
          <p:cNvSpPr/>
          <p:nvPr/>
        </p:nvSpPr>
        <p:spPr>
          <a:xfrm>
            <a:off x="457200" y="3493008"/>
            <a:ext cx="4572000" cy="256032"/>
          </a:xfrm>
          <a:prstGeom prst="rect">
            <a:avLst/>
          </a:prstGeom>
          <a:noFill/>
          <a:ln/>
        </p:spPr>
        <p:txBody>
          <a:bodyPr wrap="square" lIns="0" tIns="0" rIns="0" bIns="0" rtlCol="0" anchor="ctr"/>
          <a:lstStyle/>
          <a:p>
            <a:pPr marL="0" indent="0" algn="l">
              <a:buNone/>
            </a:pPr>
            <a:r>
              <a:rPr lang="en-US" sz="1100" dirty="0">
                <a:solidFill>
                  <a:srgbClr val="6B7A99"/>
                </a:solidFill>
                <a:latin typeface="Cambria" panose="02040503050406030204" pitchFamily="18" charset="0"/>
                <a:ea typeface="Cambria" panose="02040503050406030204" pitchFamily="18" charset="0"/>
              </a:rPr>
              <a:t>Presented to: Professor Luigi Capone</a:t>
            </a:r>
            <a:endParaRPr lang="en-US" sz="1100" dirty="0">
              <a:latin typeface="Cambria" panose="02040503050406030204" pitchFamily="18" charset="0"/>
              <a:ea typeface="Cambria" panose="02040503050406030204" pitchFamily="18" charset="0"/>
            </a:endParaRPr>
          </a:p>
        </p:txBody>
      </p:sp>
      <p:sp>
        <p:nvSpPr>
          <p:cNvPr id="9" name="Text 7"/>
          <p:cNvSpPr/>
          <p:nvPr/>
        </p:nvSpPr>
        <p:spPr>
          <a:xfrm>
            <a:off x="457200" y="3785616"/>
            <a:ext cx="4572000" cy="256032"/>
          </a:xfrm>
          <a:prstGeom prst="rect">
            <a:avLst/>
          </a:prstGeom>
          <a:noFill/>
          <a:ln/>
        </p:spPr>
        <p:txBody>
          <a:bodyPr wrap="square" lIns="0" tIns="0" rIns="0" bIns="0" rtlCol="0" anchor="ctr"/>
          <a:lstStyle/>
          <a:p>
            <a:pPr marL="0" indent="0" algn="l">
              <a:buNone/>
            </a:pPr>
            <a:r>
              <a:rPr lang="en-US" sz="1100" dirty="0">
                <a:solidFill>
                  <a:srgbClr val="6B7A99"/>
                </a:solidFill>
                <a:latin typeface="Cambria" panose="02040503050406030204" pitchFamily="18" charset="0"/>
                <a:ea typeface="Cambria" panose="02040503050406030204" pitchFamily="18" charset="0"/>
              </a:rPr>
              <a:t>Tools: Python - scikit-learn - pandas - matplotlib</a:t>
            </a:r>
            <a:endParaRPr lang="en-US" sz="1100" dirty="0">
              <a:latin typeface="Cambria" panose="02040503050406030204" pitchFamily="18" charset="0"/>
              <a:ea typeface="Cambria" panose="02040503050406030204" pitchFamily="18" charset="0"/>
            </a:endParaRPr>
          </a:p>
        </p:txBody>
      </p:sp>
      <p:sp>
        <p:nvSpPr>
          <p:cNvPr id="10" name="Text 8"/>
          <p:cNvSpPr/>
          <p:nvPr/>
        </p:nvSpPr>
        <p:spPr>
          <a:xfrm>
            <a:off x="457200" y="4078224"/>
            <a:ext cx="4572000" cy="256032"/>
          </a:xfrm>
          <a:prstGeom prst="rect">
            <a:avLst/>
          </a:prstGeom>
          <a:noFill/>
          <a:ln/>
        </p:spPr>
        <p:txBody>
          <a:bodyPr wrap="square" lIns="0" tIns="0" rIns="0" bIns="0" rtlCol="0" anchor="ctr"/>
          <a:lstStyle/>
          <a:p>
            <a:pPr marL="0" indent="0" algn="l">
              <a:buNone/>
            </a:pPr>
            <a:r>
              <a:rPr lang="en-US" sz="1100" dirty="0">
                <a:solidFill>
                  <a:srgbClr val="6B7A99"/>
                </a:solidFill>
                <a:latin typeface="Cambria" panose="02040503050406030204" pitchFamily="18" charset="0"/>
                <a:ea typeface="Cambria" panose="02040503050406030204" pitchFamily="18" charset="0"/>
              </a:rPr>
              <a:t>Models evaluated: Logistic Regression - Random Forest</a:t>
            </a:r>
            <a:endParaRPr lang="en-US" sz="1100" dirty="0">
              <a:latin typeface="Cambria" panose="02040503050406030204" pitchFamily="18" charset="0"/>
              <a:ea typeface="Cambria" panose="02040503050406030204" pitchFamily="18" charset="0"/>
            </a:endParaRPr>
          </a:p>
        </p:txBody>
      </p:sp>
      <p:sp>
        <p:nvSpPr>
          <p:cNvPr id="15" name="Text 6">
            <a:extLst>
              <a:ext uri="{FF2B5EF4-FFF2-40B4-BE49-F238E27FC236}">
                <a16:creationId xmlns:a16="http://schemas.microsoft.com/office/drawing/2014/main" id="{6699D8A9-8213-3941-655A-3B6F555D2B32}"/>
              </a:ext>
            </a:extLst>
          </p:cNvPr>
          <p:cNvSpPr/>
          <p:nvPr/>
        </p:nvSpPr>
        <p:spPr>
          <a:xfrm>
            <a:off x="457200" y="4368487"/>
            <a:ext cx="4572000" cy="256032"/>
          </a:xfrm>
          <a:prstGeom prst="rect">
            <a:avLst/>
          </a:prstGeom>
          <a:noFill/>
          <a:ln/>
        </p:spPr>
        <p:txBody>
          <a:bodyPr wrap="square" lIns="0" tIns="0" rIns="0" bIns="0" rtlCol="0" anchor="ctr"/>
          <a:lstStyle/>
          <a:p>
            <a:pPr marL="0" indent="0" algn="l">
              <a:buNone/>
            </a:pPr>
            <a:r>
              <a:rPr lang="en-US" sz="1100" dirty="0">
                <a:solidFill>
                  <a:schemeClr val="bg1">
                    <a:lumMod val="75000"/>
                  </a:schemeClr>
                </a:solidFill>
                <a:latin typeface="Cambria" panose="02040503050406030204" pitchFamily="18" charset="0"/>
                <a:ea typeface="Cambria" panose="02040503050406030204" pitchFamily="18" charset="0"/>
              </a:rPr>
              <a:t>Student: Colombini Francesco – ID:944941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it-IT"/>
          </a:p>
        </p:txBody>
      </p:sp>
      <p:sp>
        <p:nvSpPr>
          <p:cNvPr id="3" name="Shape 1"/>
          <p:cNvSpPr/>
          <p:nvPr/>
        </p:nvSpPr>
        <p:spPr>
          <a:xfrm>
            <a:off x="8183880" y="201168"/>
            <a:ext cx="502920" cy="502920"/>
          </a:xfrm>
          <a:prstGeom prst="rect">
            <a:avLst/>
          </a:prstGeom>
          <a:solidFill>
            <a:srgbClr val="2A3880"/>
          </a:solidFill>
          <a:ln w="12700">
            <a:solidFill>
              <a:srgbClr val="2A3880"/>
            </a:solidFill>
            <a:prstDash val="solid"/>
          </a:ln>
        </p:spPr>
        <p:txBody>
          <a:bodyPr/>
          <a:lstStyle/>
          <a:p>
            <a:endParaRPr lang="it-IT"/>
          </a:p>
        </p:txBody>
      </p:sp>
      <p:sp>
        <p:nvSpPr>
          <p:cNvPr id="4" name="Text 2"/>
          <p:cNvSpPr/>
          <p:nvPr/>
        </p:nvSpPr>
        <p:spPr>
          <a:xfrm>
            <a:off x="8183880" y="201168"/>
            <a:ext cx="502920" cy="502920"/>
          </a:xfrm>
          <a:prstGeom prst="rect">
            <a:avLst/>
          </a:prstGeom>
          <a:noFill/>
          <a:ln/>
        </p:spPr>
        <p:txBody>
          <a:bodyPr wrap="square" lIns="0" tIns="0" rIns="0" bIns="0" rtlCol="0" anchor="ctr"/>
          <a:lstStyle/>
          <a:p>
            <a:pPr marL="0" indent="0" algn="ctr">
              <a:buNone/>
            </a:pPr>
            <a:r>
              <a:rPr lang="en-US" sz="1300" b="1" dirty="0">
                <a:solidFill>
                  <a:srgbClr val="CADCFC"/>
                </a:solidFill>
              </a:rPr>
              <a:t>02</a:t>
            </a:r>
            <a:endParaRPr lang="en-US" sz="1300" dirty="0"/>
          </a:p>
        </p:txBody>
      </p:sp>
      <p:sp>
        <p:nvSpPr>
          <p:cNvPr id="5" name="Text 3"/>
          <p:cNvSpPr/>
          <p:nvPr/>
        </p:nvSpPr>
        <p:spPr>
          <a:xfrm>
            <a:off x="457200" y="146304"/>
            <a:ext cx="7589520" cy="237744"/>
          </a:xfrm>
          <a:prstGeom prst="rect">
            <a:avLst/>
          </a:prstGeom>
          <a:noFill/>
          <a:ln/>
        </p:spPr>
        <p:txBody>
          <a:bodyPr wrap="square" lIns="0" tIns="0" rIns="0" bIns="0" rtlCol="0" anchor="ctr"/>
          <a:lstStyle/>
          <a:p>
            <a:pPr marL="0" indent="0" algn="l">
              <a:buNone/>
            </a:pPr>
            <a:r>
              <a:rPr lang="en-US" sz="800" b="1" kern="0" spc="200" dirty="0">
                <a:solidFill>
                  <a:srgbClr val="CADCFC"/>
                </a:solidFill>
              </a:rPr>
              <a:t>STEP 1, 2 &amp; 3 — DATA LOADING, PREPROCESSING &amp; MODEL SELECTION</a:t>
            </a:r>
            <a:endParaRPr lang="en-US" sz="800" dirty="0"/>
          </a:p>
        </p:txBody>
      </p:sp>
      <p:sp>
        <p:nvSpPr>
          <p:cNvPr id="6" name="Text 4"/>
          <p:cNvSpPr/>
          <p:nvPr/>
        </p:nvSpPr>
        <p:spPr>
          <a:xfrm>
            <a:off x="457200" y="402336"/>
            <a:ext cx="75895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EucrosiaUPC" panose="02020603050405020304" pitchFamily="18" charset="-34"/>
                <a:ea typeface="Calibri" pitchFamily="34" charset="-122"/>
                <a:cs typeface="EucrosiaUPC" panose="02020603050405020304" pitchFamily="18" charset="-34"/>
              </a:rPr>
              <a:t>Dataset Overview, Preprocessing Pipeline &amp; Model Selection</a:t>
            </a:r>
            <a:endParaRPr lang="en-US" sz="2800" dirty="0">
              <a:latin typeface="EucrosiaUPC" panose="02020603050405020304" pitchFamily="18" charset="-34"/>
              <a:cs typeface="EucrosiaUPC" panose="02020603050405020304" pitchFamily="18" charset="-34"/>
            </a:endParaRPr>
          </a:p>
        </p:txBody>
      </p:sp>
      <p:sp>
        <p:nvSpPr>
          <p:cNvPr id="7" name="Text 5"/>
          <p:cNvSpPr/>
          <p:nvPr/>
        </p:nvSpPr>
        <p:spPr>
          <a:xfrm>
            <a:off x="457200" y="1097280"/>
            <a:ext cx="384048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anose="02040503050406030204" pitchFamily="18" charset="0"/>
                <a:ea typeface="Cambria" panose="02040503050406030204" pitchFamily="18" charset="0"/>
              </a:rPr>
              <a:t>Datasets</a:t>
            </a:r>
            <a:endParaRPr lang="en-US" sz="1400" dirty="0">
              <a:latin typeface="Cambria" panose="02040503050406030204" pitchFamily="18" charset="0"/>
              <a:ea typeface="Cambria" panose="02040503050406030204" pitchFamily="18" charset="0"/>
            </a:endParaRPr>
          </a:p>
        </p:txBody>
      </p:sp>
      <p:sp>
        <p:nvSpPr>
          <p:cNvPr id="8" name="Shape 6"/>
          <p:cNvSpPr/>
          <p:nvPr/>
        </p:nvSpPr>
        <p:spPr>
          <a:xfrm>
            <a:off x="457201" y="1417320"/>
            <a:ext cx="3840480" cy="995172"/>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9" name="Shape 7"/>
          <p:cNvSpPr/>
          <p:nvPr/>
        </p:nvSpPr>
        <p:spPr>
          <a:xfrm>
            <a:off x="457201" y="1417320"/>
            <a:ext cx="45720" cy="995172"/>
          </a:xfrm>
          <a:prstGeom prst="rect">
            <a:avLst/>
          </a:prstGeom>
          <a:solidFill>
            <a:srgbClr val="3A7BD5"/>
          </a:solidFill>
          <a:ln w="12700">
            <a:solidFill>
              <a:srgbClr val="3A7BD5"/>
            </a:solidFill>
            <a:prstDash val="solid"/>
          </a:ln>
        </p:spPr>
        <p:txBody>
          <a:bodyPr/>
          <a:lstStyle/>
          <a:p>
            <a:endParaRPr lang="it-IT"/>
          </a:p>
        </p:txBody>
      </p:sp>
      <p:sp>
        <p:nvSpPr>
          <p:cNvPr id="10" name="Text 8"/>
          <p:cNvSpPr/>
          <p:nvPr/>
        </p:nvSpPr>
        <p:spPr>
          <a:xfrm>
            <a:off x="652273" y="1471422"/>
            <a:ext cx="1731030" cy="274320"/>
          </a:xfrm>
          <a:prstGeom prst="rect">
            <a:avLst/>
          </a:prstGeom>
          <a:noFill/>
          <a:ln/>
        </p:spPr>
        <p:txBody>
          <a:bodyPr wrap="square" lIns="0" tIns="0" rIns="0" bIns="0" rtlCol="0" anchor="ctr"/>
          <a:lstStyle/>
          <a:p>
            <a:pPr marL="0" indent="0">
              <a:buNone/>
            </a:pPr>
            <a:r>
              <a:rPr lang="en-US" sz="1200" b="1" dirty="0">
                <a:solidFill>
                  <a:srgbClr val="1E2761"/>
                </a:solidFill>
              </a:rPr>
              <a:t>Dataset 1</a:t>
            </a:r>
            <a:endParaRPr lang="en-US" sz="1200" dirty="0"/>
          </a:p>
        </p:txBody>
      </p:sp>
      <p:sp>
        <p:nvSpPr>
          <p:cNvPr id="11" name="Text 9"/>
          <p:cNvSpPr/>
          <p:nvPr/>
        </p:nvSpPr>
        <p:spPr>
          <a:xfrm>
            <a:off x="652273" y="1727454"/>
            <a:ext cx="1688826" cy="201168"/>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Training set: 32,000 rows</a:t>
            </a:r>
            <a:endParaRPr lang="en-US" sz="1100" dirty="0">
              <a:latin typeface="Cambria" panose="02040503050406030204" pitchFamily="18" charset="0"/>
              <a:ea typeface="Cambria" panose="02040503050406030204" pitchFamily="18" charset="0"/>
            </a:endParaRPr>
          </a:p>
        </p:txBody>
      </p:sp>
      <p:sp>
        <p:nvSpPr>
          <p:cNvPr id="12" name="Text 10"/>
          <p:cNvSpPr/>
          <p:nvPr/>
        </p:nvSpPr>
        <p:spPr>
          <a:xfrm>
            <a:off x="652273" y="1882902"/>
            <a:ext cx="1731030" cy="228600"/>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Test set: 8,000 rows</a:t>
            </a:r>
            <a:endParaRPr lang="en-US" sz="1100" dirty="0">
              <a:latin typeface="Cambria" panose="02040503050406030204" pitchFamily="18" charset="0"/>
              <a:ea typeface="Cambria" panose="02040503050406030204" pitchFamily="18" charset="0"/>
            </a:endParaRPr>
          </a:p>
        </p:txBody>
      </p:sp>
      <p:sp>
        <p:nvSpPr>
          <p:cNvPr id="13" name="Text 11"/>
          <p:cNvSpPr/>
          <p:nvPr/>
        </p:nvSpPr>
        <p:spPr>
          <a:xfrm>
            <a:off x="645943" y="2065782"/>
            <a:ext cx="1737360" cy="228600"/>
          </a:xfrm>
          <a:prstGeom prst="rect">
            <a:avLst/>
          </a:prstGeom>
          <a:noFill/>
          <a:ln/>
        </p:spPr>
        <p:txBody>
          <a:bodyPr wrap="square" lIns="0" tIns="0" rIns="0" bIns="0" rtlCol="0" anchor="ctr"/>
          <a:lstStyle/>
          <a:p>
            <a:pPr marL="0" indent="0">
              <a:buNone/>
            </a:pPr>
            <a:r>
              <a:rPr lang="en-US" sz="1100" b="1" dirty="0">
                <a:solidFill>
                  <a:srgbClr val="3A7BD5"/>
                </a:solidFill>
                <a:latin typeface="Cambria" panose="02040503050406030204" pitchFamily="18" charset="0"/>
                <a:ea typeface="Cambria" panose="02040503050406030204" pitchFamily="18" charset="0"/>
              </a:rPr>
              <a:t>51.9% churn rate</a:t>
            </a:r>
            <a:endParaRPr lang="en-US" sz="1100" dirty="0">
              <a:latin typeface="Cambria" panose="02040503050406030204" pitchFamily="18" charset="0"/>
              <a:ea typeface="Cambria" panose="02040503050406030204" pitchFamily="18" charset="0"/>
            </a:endParaRPr>
          </a:p>
        </p:txBody>
      </p:sp>
      <p:sp>
        <p:nvSpPr>
          <p:cNvPr id="15" name="Shape 13"/>
          <p:cNvSpPr/>
          <p:nvPr/>
        </p:nvSpPr>
        <p:spPr>
          <a:xfrm>
            <a:off x="4248445" y="1417320"/>
            <a:ext cx="45720" cy="995172"/>
          </a:xfrm>
          <a:prstGeom prst="rect">
            <a:avLst/>
          </a:prstGeom>
          <a:solidFill>
            <a:srgbClr val="3A7BD5"/>
          </a:solidFill>
          <a:ln w="12700">
            <a:solidFill>
              <a:srgbClr val="3A7BD5"/>
            </a:solidFill>
            <a:prstDash val="solid"/>
          </a:ln>
        </p:spPr>
        <p:txBody>
          <a:bodyPr/>
          <a:lstStyle/>
          <a:p>
            <a:endParaRPr lang="it-IT"/>
          </a:p>
        </p:txBody>
      </p:sp>
      <p:sp>
        <p:nvSpPr>
          <p:cNvPr id="20" name="Text 18"/>
          <p:cNvSpPr/>
          <p:nvPr/>
        </p:nvSpPr>
        <p:spPr>
          <a:xfrm>
            <a:off x="445947" y="2438166"/>
            <a:ext cx="1684020" cy="320040"/>
          </a:xfrm>
          <a:prstGeom prst="rect">
            <a:avLst/>
          </a:prstGeom>
          <a:noFill/>
          <a:ln/>
        </p:spPr>
        <p:txBody>
          <a:bodyPr wrap="square" lIns="0" tIns="0" rIns="0" bIns="0" rtlCol="0" anchor="ctr"/>
          <a:lstStyle/>
          <a:p>
            <a:pPr marL="0" indent="0">
              <a:buNone/>
            </a:pPr>
            <a:r>
              <a:rPr lang="en-US" sz="1400" b="1" dirty="0">
                <a:solidFill>
                  <a:srgbClr val="1E2761"/>
                </a:solidFill>
              </a:rPr>
              <a:t>Preprocessing Pipeline</a:t>
            </a:r>
            <a:endParaRPr lang="en-US" sz="1400" dirty="0"/>
          </a:p>
        </p:txBody>
      </p:sp>
      <p:sp>
        <p:nvSpPr>
          <p:cNvPr id="21" name="Shape 19"/>
          <p:cNvSpPr/>
          <p:nvPr/>
        </p:nvSpPr>
        <p:spPr>
          <a:xfrm>
            <a:off x="438913" y="2787396"/>
            <a:ext cx="292608" cy="292608"/>
          </a:xfrm>
          <a:prstGeom prst="ellipse">
            <a:avLst/>
          </a:prstGeom>
          <a:solidFill>
            <a:srgbClr val="3A7BD5"/>
          </a:solidFill>
          <a:ln w="12700">
            <a:solidFill>
              <a:srgbClr val="3A7BD5"/>
            </a:solidFill>
            <a:prstDash val="solid"/>
          </a:ln>
        </p:spPr>
        <p:txBody>
          <a:bodyPr/>
          <a:lstStyle/>
          <a:p>
            <a:endParaRPr lang="it-IT"/>
          </a:p>
        </p:txBody>
      </p:sp>
      <p:sp>
        <p:nvSpPr>
          <p:cNvPr id="22" name="Text 20"/>
          <p:cNvSpPr/>
          <p:nvPr/>
        </p:nvSpPr>
        <p:spPr>
          <a:xfrm>
            <a:off x="438913" y="278739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1</a:t>
            </a:r>
            <a:endParaRPr lang="en-US" sz="1000" dirty="0"/>
          </a:p>
        </p:txBody>
      </p:sp>
      <p:sp>
        <p:nvSpPr>
          <p:cNvPr id="23" name="Text 21"/>
          <p:cNvSpPr/>
          <p:nvPr/>
        </p:nvSpPr>
        <p:spPr>
          <a:xfrm>
            <a:off x="822961" y="2787396"/>
            <a:ext cx="3657600" cy="217932"/>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80 / 20 Train–Test Split</a:t>
            </a:r>
            <a:endParaRPr lang="en-US" sz="1000" dirty="0">
              <a:latin typeface="Cambria" panose="02040503050406030204" pitchFamily="18" charset="0"/>
              <a:ea typeface="Cambria" panose="02040503050406030204" pitchFamily="18" charset="0"/>
            </a:endParaRPr>
          </a:p>
        </p:txBody>
      </p:sp>
      <p:sp>
        <p:nvSpPr>
          <p:cNvPr id="24" name="Text 22"/>
          <p:cNvSpPr/>
          <p:nvPr/>
        </p:nvSpPr>
        <p:spPr>
          <a:xfrm>
            <a:off x="822961" y="2962656"/>
            <a:ext cx="3657600" cy="306324"/>
          </a:xfrm>
          <a:prstGeom prst="rect">
            <a:avLst/>
          </a:prstGeom>
          <a:noFill/>
          <a:ln/>
        </p:spPr>
        <p:txBody>
          <a:bodyPr wrap="square" lIns="0" tIns="0" rIns="0" bIns="0" rtlCol="0" anchor="ctr"/>
          <a:lstStyle/>
          <a:p>
            <a:pPr marL="0" indent="0">
              <a:buNone/>
            </a:pPr>
            <a:r>
              <a:rPr lang="en-US" sz="1000" dirty="0">
                <a:solidFill>
                  <a:srgbClr val="6B7A99"/>
                </a:solidFill>
                <a:latin typeface="Cambria" panose="02040503050406030204" pitchFamily="18" charset="0"/>
                <a:ea typeface="Cambria" panose="02040503050406030204" pitchFamily="18" charset="0"/>
              </a:rPr>
              <a:t>Random split with seed=23 for reproducibility. </a:t>
            </a:r>
            <a:br>
              <a:rPr lang="en-US" sz="1000" dirty="0">
                <a:solidFill>
                  <a:srgbClr val="6B7A99"/>
                </a:solidFill>
                <a:latin typeface="Cambria" panose="02040503050406030204" pitchFamily="18" charset="0"/>
                <a:ea typeface="Cambria" panose="02040503050406030204" pitchFamily="18" charset="0"/>
              </a:rPr>
            </a:br>
            <a:r>
              <a:rPr lang="en-US" sz="1000" dirty="0">
                <a:solidFill>
                  <a:srgbClr val="6B7A99"/>
                </a:solidFill>
                <a:latin typeface="Cambria" panose="02040503050406030204" pitchFamily="18" charset="0"/>
                <a:ea typeface="Cambria" panose="02040503050406030204" pitchFamily="18" charset="0"/>
              </a:rPr>
              <a:t>Stratification preserves churn ratio in both sets.</a:t>
            </a:r>
            <a:endParaRPr lang="en-US" sz="1000" dirty="0">
              <a:latin typeface="Cambria" panose="02040503050406030204" pitchFamily="18" charset="0"/>
              <a:ea typeface="Cambria" panose="02040503050406030204" pitchFamily="18" charset="0"/>
            </a:endParaRPr>
          </a:p>
        </p:txBody>
      </p:sp>
      <p:sp>
        <p:nvSpPr>
          <p:cNvPr id="25" name="Shape 23"/>
          <p:cNvSpPr/>
          <p:nvPr/>
        </p:nvSpPr>
        <p:spPr>
          <a:xfrm>
            <a:off x="438913" y="3381756"/>
            <a:ext cx="292608" cy="292608"/>
          </a:xfrm>
          <a:prstGeom prst="ellipse">
            <a:avLst/>
          </a:prstGeom>
          <a:solidFill>
            <a:srgbClr val="3A7BD5"/>
          </a:solidFill>
          <a:ln w="12700">
            <a:solidFill>
              <a:srgbClr val="3A7BD5"/>
            </a:solidFill>
            <a:prstDash val="solid"/>
          </a:ln>
        </p:spPr>
        <p:txBody>
          <a:bodyPr/>
          <a:lstStyle/>
          <a:p>
            <a:endParaRPr lang="it-IT"/>
          </a:p>
        </p:txBody>
      </p:sp>
      <p:sp>
        <p:nvSpPr>
          <p:cNvPr id="26" name="Text 24"/>
          <p:cNvSpPr/>
          <p:nvPr/>
        </p:nvSpPr>
        <p:spPr>
          <a:xfrm>
            <a:off x="438913" y="338175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2</a:t>
            </a:r>
            <a:endParaRPr lang="en-US" sz="1000" dirty="0"/>
          </a:p>
        </p:txBody>
      </p:sp>
      <p:sp>
        <p:nvSpPr>
          <p:cNvPr id="27" name="Text 25"/>
          <p:cNvSpPr/>
          <p:nvPr/>
        </p:nvSpPr>
        <p:spPr>
          <a:xfrm>
            <a:off x="822961" y="3400044"/>
            <a:ext cx="3657600" cy="168402"/>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Column-type Detection</a:t>
            </a:r>
            <a:endParaRPr lang="en-US" sz="1000" dirty="0">
              <a:latin typeface="Cambria" panose="02040503050406030204" pitchFamily="18" charset="0"/>
              <a:ea typeface="Cambria" panose="02040503050406030204" pitchFamily="18" charset="0"/>
            </a:endParaRPr>
          </a:p>
        </p:txBody>
      </p:sp>
      <p:sp>
        <p:nvSpPr>
          <p:cNvPr id="28" name="Text 26"/>
          <p:cNvSpPr/>
          <p:nvPr/>
        </p:nvSpPr>
        <p:spPr>
          <a:xfrm>
            <a:off x="822961" y="3579114"/>
            <a:ext cx="3121151" cy="255270"/>
          </a:xfrm>
          <a:prstGeom prst="rect">
            <a:avLst/>
          </a:prstGeom>
          <a:noFill/>
          <a:ln/>
        </p:spPr>
        <p:txBody>
          <a:bodyPr wrap="square" lIns="0" tIns="0" rIns="0" bIns="0" rtlCol="0" anchor="ctr"/>
          <a:lstStyle/>
          <a:p>
            <a:pPr marL="0" indent="0">
              <a:buNone/>
            </a:pPr>
            <a:r>
              <a:rPr lang="en-US" sz="1000" dirty="0">
                <a:solidFill>
                  <a:srgbClr val="6B7A99"/>
                </a:solidFill>
                <a:latin typeface="Cambria" panose="02040503050406030204" pitchFamily="18" charset="0"/>
                <a:ea typeface="Cambria" panose="02040503050406030204" pitchFamily="18" charset="0"/>
              </a:rPr>
              <a:t>Numerical vs. categorical columns identified automatically via dtype inspection.</a:t>
            </a:r>
            <a:endParaRPr lang="en-US" sz="1000" dirty="0">
              <a:latin typeface="Cambria" panose="02040503050406030204" pitchFamily="18" charset="0"/>
              <a:ea typeface="Cambria" panose="02040503050406030204" pitchFamily="18" charset="0"/>
            </a:endParaRPr>
          </a:p>
        </p:txBody>
      </p:sp>
      <p:sp>
        <p:nvSpPr>
          <p:cNvPr id="29" name="Shape 27"/>
          <p:cNvSpPr/>
          <p:nvPr/>
        </p:nvSpPr>
        <p:spPr>
          <a:xfrm>
            <a:off x="438913" y="3989832"/>
            <a:ext cx="292608" cy="292608"/>
          </a:xfrm>
          <a:prstGeom prst="ellipse">
            <a:avLst/>
          </a:prstGeom>
          <a:solidFill>
            <a:srgbClr val="3A7BD5"/>
          </a:solidFill>
          <a:ln w="12700">
            <a:solidFill>
              <a:srgbClr val="3A7BD5"/>
            </a:solidFill>
            <a:prstDash val="solid"/>
          </a:ln>
        </p:spPr>
        <p:txBody>
          <a:bodyPr/>
          <a:lstStyle/>
          <a:p>
            <a:endParaRPr lang="it-IT"/>
          </a:p>
        </p:txBody>
      </p:sp>
      <p:sp>
        <p:nvSpPr>
          <p:cNvPr id="30" name="Text 28"/>
          <p:cNvSpPr/>
          <p:nvPr/>
        </p:nvSpPr>
        <p:spPr>
          <a:xfrm>
            <a:off x="438913" y="398983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3</a:t>
            </a:r>
            <a:endParaRPr lang="en-US" sz="1000" dirty="0"/>
          </a:p>
        </p:txBody>
      </p:sp>
      <p:sp>
        <p:nvSpPr>
          <p:cNvPr id="31" name="Text 29"/>
          <p:cNvSpPr/>
          <p:nvPr/>
        </p:nvSpPr>
        <p:spPr>
          <a:xfrm>
            <a:off x="822961" y="3990594"/>
            <a:ext cx="3657600" cy="168402"/>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Numerical Pipeline</a:t>
            </a:r>
            <a:endParaRPr lang="en-US" sz="1000" dirty="0">
              <a:latin typeface="Cambria" panose="02040503050406030204" pitchFamily="18" charset="0"/>
              <a:ea typeface="Cambria" panose="02040503050406030204" pitchFamily="18" charset="0"/>
            </a:endParaRPr>
          </a:p>
        </p:txBody>
      </p:sp>
      <p:sp>
        <p:nvSpPr>
          <p:cNvPr id="32" name="Text 30"/>
          <p:cNvSpPr/>
          <p:nvPr/>
        </p:nvSpPr>
        <p:spPr>
          <a:xfrm>
            <a:off x="822961" y="4153662"/>
            <a:ext cx="3059722" cy="292608"/>
          </a:xfrm>
          <a:prstGeom prst="rect">
            <a:avLst/>
          </a:prstGeom>
          <a:noFill/>
          <a:ln/>
        </p:spPr>
        <p:txBody>
          <a:bodyPr wrap="square" lIns="0" tIns="0" rIns="0" bIns="0" rtlCol="0" anchor="ctr"/>
          <a:lstStyle/>
          <a:p>
            <a:pPr marL="0" indent="0">
              <a:buNone/>
            </a:pPr>
            <a:r>
              <a:rPr lang="en-US" sz="1000" dirty="0">
                <a:solidFill>
                  <a:srgbClr val="6B7A99"/>
                </a:solidFill>
                <a:latin typeface="Cambria" panose="02040503050406030204" pitchFamily="18" charset="0"/>
                <a:ea typeface="Cambria" panose="02040503050406030204" pitchFamily="18" charset="0"/>
              </a:rPr>
              <a:t>Median imputation for missing values → StandardScaler normalisation.</a:t>
            </a:r>
            <a:endParaRPr lang="en-US" sz="1000" dirty="0">
              <a:latin typeface="Cambria" panose="02040503050406030204" pitchFamily="18" charset="0"/>
              <a:ea typeface="Cambria" panose="02040503050406030204" pitchFamily="18" charset="0"/>
            </a:endParaRPr>
          </a:p>
        </p:txBody>
      </p:sp>
      <p:sp>
        <p:nvSpPr>
          <p:cNvPr id="33" name="Shape 31"/>
          <p:cNvSpPr/>
          <p:nvPr/>
        </p:nvSpPr>
        <p:spPr>
          <a:xfrm>
            <a:off x="438912" y="4503420"/>
            <a:ext cx="292608" cy="292608"/>
          </a:xfrm>
          <a:prstGeom prst="ellipse">
            <a:avLst/>
          </a:prstGeom>
          <a:solidFill>
            <a:srgbClr val="3A7BD5"/>
          </a:solidFill>
          <a:ln w="12700">
            <a:solidFill>
              <a:srgbClr val="3A7BD5"/>
            </a:solidFill>
            <a:prstDash val="solid"/>
          </a:ln>
        </p:spPr>
        <p:txBody>
          <a:bodyPr/>
          <a:lstStyle/>
          <a:p>
            <a:endParaRPr lang="it-IT"/>
          </a:p>
        </p:txBody>
      </p:sp>
      <p:sp>
        <p:nvSpPr>
          <p:cNvPr id="34" name="Text 32"/>
          <p:cNvSpPr/>
          <p:nvPr/>
        </p:nvSpPr>
        <p:spPr>
          <a:xfrm>
            <a:off x="438912" y="450342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rPr>
              <a:t>4</a:t>
            </a:r>
            <a:endParaRPr lang="en-US" sz="1000" dirty="0"/>
          </a:p>
        </p:txBody>
      </p:sp>
      <p:sp>
        <p:nvSpPr>
          <p:cNvPr id="35" name="Text 33"/>
          <p:cNvSpPr/>
          <p:nvPr/>
        </p:nvSpPr>
        <p:spPr>
          <a:xfrm>
            <a:off x="822961" y="4503420"/>
            <a:ext cx="2987039" cy="146304"/>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Categorical Pipeline</a:t>
            </a:r>
            <a:endParaRPr lang="en-US" sz="1000" dirty="0">
              <a:latin typeface="Cambria" panose="02040503050406030204" pitchFamily="18" charset="0"/>
              <a:ea typeface="Cambria" panose="02040503050406030204" pitchFamily="18" charset="0"/>
            </a:endParaRPr>
          </a:p>
        </p:txBody>
      </p:sp>
      <p:sp>
        <p:nvSpPr>
          <p:cNvPr id="36" name="Text 34"/>
          <p:cNvSpPr/>
          <p:nvPr/>
        </p:nvSpPr>
        <p:spPr>
          <a:xfrm>
            <a:off x="822961" y="4649724"/>
            <a:ext cx="3474720" cy="303506"/>
          </a:xfrm>
          <a:prstGeom prst="rect">
            <a:avLst/>
          </a:prstGeom>
          <a:noFill/>
          <a:ln/>
        </p:spPr>
        <p:txBody>
          <a:bodyPr wrap="square" lIns="0" tIns="0" rIns="0" bIns="0" rtlCol="0" anchor="ctr"/>
          <a:lstStyle/>
          <a:p>
            <a:pPr marL="0" indent="0">
              <a:buNone/>
            </a:pPr>
            <a:r>
              <a:rPr lang="en-US" sz="1000" dirty="0">
                <a:solidFill>
                  <a:srgbClr val="6B7A99"/>
                </a:solidFill>
                <a:latin typeface="Cambria" panose="02040503050406030204" pitchFamily="18" charset="0"/>
                <a:ea typeface="Cambria" panose="02040503050406030204" pitchFamily="18" charset="0"/>
              </a:rPr>
              <a:t>Mode imputation → OneHotEncoder (handle_unknown='ignore').</a:t>
            </a:r>
            <a:endParaRPr lang="en-US" sz="1000" dirty="0">
              <a:latin typeface="Cambria" panose="02040503050406030204" pitchFamily="18" charset="0"/>
              <a:ea typeface="Cambria" panose="02040503050406030204" pitchFamily="18" charset="0"/>
            </a:endParaRPr>
          </a:p>
        </p:txBody>
      </p:sp>
      <p:sp>
        <p:nvSpPr>
          <p:cNvPr id="37" name="Text 8">
            <a:extLst>
              <a:ext uri="{FF2B5EF4-FFF2-40B4-BE49-F238E27FC236}">
                <a16:creationId xmlns:a16="http://schemas.microsoft.com/office/drawing/2014/main" id="{A250EB48-54C2-BF9D-7ACF-C7357E7487B6}"/>
              </a:ext>
            </a:extLst>
          </p:cNvPr>
          <p:cNvSpPr/>
          <p:nvPr/>
        </p:nvSpPr>
        <p:spPr>
          <a:xfrm>
            <a:off x="2341099" y="1462278"/>
            <a:ext cx="1731030" cy="274320"/>
          </a:xfrm>
          <a:prstGeom prst="rect">
            <a:avLst/>
          </a:prstGeom>
          <a:noFill/>
          <a:ln/>
        </p:spPr>
        <p:txBody>
          <a:bodyPr wrap="square" lIns="0" tIns="0" rIns="0" bIns="0" rtlCol="0" anchor="ctr"/>
          <a:lstStyle/>
          <a:p>
            <a:pPr marL="0" indent="0" algn="r">
              <a:buNone/>
            </a:pPr>
            <a:r>
              <a:rPr lang="en-US" sz="1200" b="1" dirty="0">
                <a:solidFill>
                  <a:srgbClr val="1E2761"/>
                </a:solidFill>
                <a:latin typeface="Cambria" panose="02040503050406030204" pitchFamily="18" charset="0"/>
                <a:ea typeface="Cambria" panose="02040503050406030204" pitchFamily="18" charset="0"/>
              </a:rPr>
              <a:t>Dataset 2</a:t>
            </a:r>
            <a:endParaRPr lang="en-US" sz="1200" dirty="0">
              <a:latin typeface="Cambria" panose="02040503050406030204" pitchFamily="18" charset="0"/>
              <a:ea typeface="Cambria" panose="02040503050406030204" pitchFamily="18" charset="0"/>
            </a:endParaRPr>
          </a:p>
        </p:txBody>
      </p:sp>
      <p:sp>
        <p:nvSpPr>
          <p:cNvPr id="38" name="Text 9">
            <a:extLst>
              <a:ext uri="{FF2B5EF4-FFF2-40B4-BE49-F238E27FC236}">
                <a16:creationId xmlns:a16="http://schemas.microsoft.com/office/drawing/2014/main" id="{A9BE10BD-E022-DC52-19AB-66430733BA44}"/>
              </a:ext>
            </a:extLst>
          </p:cNvPr>
          <p:cNvSpPr/>
          <p:nvPr/>
        </p:nvSpPr>
        <p:spPr>
          <a:xfrm>
            <a:off x="2341099" y="1718310"/>
            <a:ext cx="1688826" cy="201168"/>
          </a:xfrm>
          <a:prstGeom prst="rect">
            <a:avLst/>
          </a:prstGeom>
          <a:noFill/>
          <a:ln/>
        </p:spPr>
        <p:txBody>
          <a:bodyPr wrap="square" lIns="0" tIns="0" rIns="0" bIns="0" rtlCol="0" anchor="ctr"/>
          <a:lstStyle/>
          <a:p>
            <a:pPr marL="0" indent="0" algn="r">
              <a:buNone/>
            </a:pPr>
            <a:r>
              <a:rPr lang="en-US" sz="1100" dirty="0">
                <a:solidFill>
                  <a:srgbClr val="1A1A2E"/>
                </a:solidFill>
                <a:latin typeface="Cambria" panose="02040503050406030204" pitchFamily="18" charset="0"/>
                <a:ea typeface="Cambria" panose="02040503050406030204" pitchFamily="18" charset="0"/>
              </a:rPr>
              <a:t>Training set: 40,000 rows</a:t>
            </a:r>
            <a:endParaRPr lang="en-US" sz="1100" dirty="0">
              <a:latin typeface="Cambria" panose="02040503050406030204" pitchFamily="18" charset="0"/>
              <a:ea typeface="Cambria" panose="02040503050406030204" pitchFamily="18" charset="0"/>
            </a:endParaRPr>
          </a:p>
        </p:txBody>
      </p:sp>
      <p:sp>
        <p:nvSpPr>
          <p:cNvPr id="39" name="Text 10">
            <a:extLst>
              <a:ext uri="{FF2B5EF4-FFF2-40B4-BE49-F238E27FC236}">
                <a16:creationId xmlns:a16="http://schemas.microsoft.com/office/drawing/2014/main" id="{FC13C807-AA05-91C3-4DED-552ED298B37E}"/>
              </a:ext>
            </a:extLst>
          </p:cNvPr>
          <p:cNvSpPr/>
          <p:nvPr/>
        </p:nvSpPr>
        <p:spPr>
          <a:xfrm>
            <a:off x="2341099" y="1873758"/>
            <a:ext cx="1731030" cy="228600"/>
          </a:xfrm>
          <a:prstGeom prst="rect">
            <a:avLst/>
          </a:prstGeom>
          <a:noFill/>
          <a:ln/>
        </p:spPr>
        <p:txBody>
          <a:bodyPr wrap="square" lIns="0" tIns="0" rIns="0" bIns="0" rtlCol="0" anchor="ctr"/>
          <a:lstStyle/>
          <a:p>
            <a:pPr marL="0" indent="0" algn="r">
              <a:buNone/>
            </a:pPr>
            <a:r>
              <a:rPr lang="en-US" sz="1100" dirty="0">
                <a:solidFill>
                  <a:srgbClr val="1A1A2E"/>
                </a:solidFill>
                <a:latin typeface="Cambria" panose="02040503050406030204" pitchFamily="18" charset="0"/>
                <a:ea typeface="Cambria" panose="02040503050406030204" pitchFamily="18" charset="0"/>
              </a:rPr>
              <a:t>Test set: 10,000 rows</a:t>
            </a:r>
            <a:endParaRPr lang="en-US" sz="1100" dirty="0">
              <a:latin typeface="Cambria" panose="02040503050406030204" pitchFamily="18" charset="0"/>
              <a:ea typeface="Cambria" panose="02040503050406030204" pitchFamily="18" charset="0"/>
            </a:endParaRPr>
          </a:p>
        </p:txBody>
      </p:sp>
      <p:sp>
        <p:nvSpPr>
          <p:cNvPr id="40" name="Text 11">
            <a:extLst>
              <a:ext uri="{FF2B5EF4-FFF2-40B4-BE49-F238E27FC236}">
                <a16:creationId xmlns:a16="http://schemas.microsoft.com/office/drawing/2014/main" id="{DA37DEA3-E88A-0692-31C8-A2DCECD02926}"/>
              </a:ext>
            </a:extLst>
          </p:cNvPr>
          <p:cNvSpPr/>
          <p:nvPr/>
        </p:nvSpPr>
        <p:spPr>
          <a:xfrm>
            <a:off x="2334769" y="2056638"/>
            <a:ext cx="1737360" cy="228600"/>
          </a:xfrm>
          <a:prstGeom prst="rect">
            <a:avLst/>
          </a:prstGeom>
          <a:noFill/>
          <a:ln/>
        </p:spPr>
        <p:txBody>
          <a:bodyPr wrap="square" lIns="0" tIns="0" rIns="0" bIns="0" rtlCol="0" anchor="ctr"/>
          <a:lstStyle/>
          <a:p>
            <a:pPr marL="0" indent="0" algn="r">
              <a:buNone/>
            </a:pPr>
            <a:r>
              <a:rPr lang="en-US" sz="1100" b="1" dirty="0">
                <a:solidFill>
                  <a:srgbClr val="3A7BD5"/>
                </a:solidFill>
                <a:latin typeface="Cambria" panose="02040503050406030204" pitchFamily="18" charset="0"/>
                <a:ea typeface="Cambria" panose="02040503050406030204" pitchFamily="18" charset="0"/>
              </a:rPr>
              <a:t>87,1% churn rate</a:t>
            </a:r>
            <a:endParaRPr lang="en-US" sz="1100" dirty="0">
              <a:latin typeface="Cambria" panose="02040503050406030204" pitchFamily="18" charset="0"/>
              <a:ea typeface="Cambria" panose="02040503050406030204" pitchFamily="18" charset="0"/>
            </a:endParaRPr>
          </a:p>
        </p:txBody>
      </p:sp>
      <p:sp>
        <p:nvSpPr>
          <p:cNvPr id="42" name="CasellaDiTesto 41">
            <a:extLst>
              <a:ext uri="{FF2B5EF4-FFF2-40B4-BE49-F238E27FC236}">
                <a16:creationId xmlns:a16="http://schemas.microsoft.com/office/drawing/2014/main" id="{437E0D2A-0C21-CB51-29AE-7B6EFEE53BBA}"/>
              </a:ext>
            </a:extLst>
          </p:cNvPr>
          <p:cNvSpPr txBox="1"/>
          <p:nvPr/>
        </p:nvSpPr>
        <p:spPr>
          <a:xfrm>
            <a:off x="5141740" y="1100718"/>
            <a:ext cx="3464167" cy="276999"/>
          </a:xfrm>
          <a:prstGeom prst="rect">
            <a:avLst/>
          </a:prstGeom>
          <a:noFill/>
        </p:spPr>
        <p:txBody>
          <a:bodyPr wrap="square">
            <a:spAutoFit/>
          </a:bodyPr>
          <a:lstStyle/>
          <a:p>
            <a:pPr marL="0" indent="0" algn="r">
              <a:buNone/>
            </a:pPr>
            <a:r>
              <a:rPr lang="en-US" sz="1200" b="1" dirty="0">
                <a:solidFill>
                  <a:srgbClr val="1E2761"/>
                </a:solidFill>
                <a:latin typeface="Cambria" panose="02040503050406030204" pitchFamily="18" charset="0"/>
                <a:ea typeface="Cambria" panose="02040503050406030204" pitchFamily="18" charset="0"/>
              </a:rPr>
              <a:t>Model Architecture &amp; Selection</a:t>
            </a:r>
          </a:p>
        </p:txBody>
      </p:sp>
      <p:sp>
        <p:nvSpPr>
          <p:cNvPr id="43" name="Text 5">
            <a:extLst>
              <a:ext uri="{FF2B5EF4-FFF2-40B4-BE49-F238E27FC236}">
                <a16:creationId xmlns:a16="http://schemas.microsoft.com/office/drawing/2014/main" id="{13D68276-592C-0550-B8BB-C755C601B597}"/>
              </a:ext>
            </a:extLst>
          </p:cNvPr>
          <p:cNvSpPr/>
          <p:nvPr/>
        </p:nvSpPr>
        <p:spPr>
          <a:xfrm>
            <a:off x="5254282" y="1323191"/>
            <a:ext cx="3237445" cy="667387"/>
          </a:xfrm>
          <a:prstGeom prst="rect">
            <a:avLst/>
          </a:prstGeom>
          <a:noFill/>
          <a:ln/>
        </p:spPr>
        <p:txBody>
          <a:bodyPr wrap="square" lIns="0" tIns="0" rIns="0" bIns="0" rtlCol="0" anchor="ctr"/>
          <a:lstStyle/>
          <a:p>
            <a:pPr marL="0" indent="0" algn="r">
              <a:buNone/>
            </a:pPr>
            <a:r>
              <a:rPr lang="en-US" sz="1100" dirty="0">
                <a:solidFill>
                  <a:srgbClr val="1A1A2E"/>
                </a:solidFill>
                <a:latin typeface="Cambria" panose="02040503050406030204" pitchFamily="18" charset="0"/>
                <a:ea typeface="Cambria" panose="02040503050406030204" pitchFamily="18" charset="0"/>
              </a:rPr>
              <a:t>Two classifiers were trained end-to-end inside a single scikit-learn Pipeline combining preprocessing + model. The best model per dataset was selected by ROC AUC on the held-out test set.</a:t>
            </a:r>
            <a:endParaRPr lang="en-US" sz="1100" dirty="0">
              <a:latin typeface="Cambria" panose="02040503050406030204" pitchFamily="18" charset="0"/>
              <a:ea typeface="Cambria" panose="02040503050406030204" pitchFamily="18" charset="0"/>
            </a:endParaRPr>
          </a:p>
        </p:txBody>
      </p:sp>
      <p:sp>
        <p:nvSpPr>
          <p:cNvPr id="44" name="Shape 6">
            <a:extLst>
              <a:ext uri="{FF2B5EF4-FFF2-40B4-BE49-F238E27FC236}">
                <a16:creationId xmlns:a16="http://schemas.microsoft.com/office/drawing/2014/main" id="{0E2A8D36-978A-9532-142B-C8FE617F255F}"/>
              </a:ext>
            </a:extLst>
          </p:cNvPr>
          <p:cNvSpPr/>
          <p:nvPr/>
        </p:nvSpPr>
        <p:spPr>
          <a:xfrm>
            <a:off x="4628269" y="2056638"/>
            <a:ext cx="3977640" cy="1096285"/>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45" name="Shape 7">
            <a:extLst>
              <a:ext uri="{FF2B5EF4-FFF2-40B4-BE49-F238E27FC236}">
                <a16:creationId xmlns:a16="http://schemas.microsoft.com/office/drawing/2014/main" id="{598ED2A5-2D58-BE7D-D2CE-328DBBB28A6A}"/>
              </a:ext>
            </a:extLst>
          </p:cNvPr>
          <p:cNvSpPr/>
          <p:nvPr/>
        </p:nvSpPr>
        <p:spPr>
          <a:xfrm>
            <a:off x="4628269" y="2056638"/>
            <a:ext cx="45719" cy="1264686"/>
          </a:xfrm>
          <a:prstGeom prst="rect">
            <a:avLst/>
          </a:prstGeom>
          <a:solidFill>
            <a:srgbClr val="6B7A99"/>
          </a:solidFill>
          <a:ln w="12700">
            <a:solidFill>
              <a:srgbClr val="6B7A99"/>
            </a:solidFill>
            <a:prstDash val="solid"/>
          </a:ln>
        </p:spPr>
        <p:txBody>
          <a:bodyPr/>
          <a:lstStyle/>
          <a:p>
            <a:endParaRPr lang="it-IT"/>
          </a:p>
        </p:txBody>
      </p:sp>
      <p:sp>
        <p:nvSpPr>
          <p:cNvPr id="46" name="Shape 8">
            <a:extLst>
              <a:ext uri="{FF2B5EF4-FFF2-40B4-BE49-F238E27FC236}">
                <a16:creationId xmlns:a16="http://schemas.microsoft.com/office/drawing/2014/main" id="{2406B1F2-A3D1-9E11-29BB-F0AF4D37E17F}"/>
              </a:ext>
            </a:extLst>
          </p:cNvPr>
          <p:cNvSpPr/>
          <p:nvPr/>
        </p:nvSpPr>
        <p:spPr>
          <a:xfrm>
            <a:off x="7097149" y="2138934"/>
            <a:ext cx="1371600" cy="256032"/>
          </a:xfrm>
          <a:prstGeom prst="rect">
            <a:avLst/>
          </a:prstGeom>
          <a:solidFill>
            <a:srgbClr val="6B7A99"/>
          </a:solidFill>
          <a:ln w="12700">
            <a:solidFill>
              <a:srgbClr val="6B7A99"/>
            </a:solidFill>
            <a:prstDash val="solid"/>
          </a:ln>
        </p:spPr>
        <p:txBody>
          <a:bodyPr/>
          <a:lstStyle/>
          <a:p>
            <a:endParaRPr lang="it-IT"/>
          </a:p>
        </p:txBody>
      </p:sp>
      <p:sp>
        <p:nvSpPr>
          <p:cNvPr id="47" name="Text 9">
            <a:extLst>
              <a:ext uri="{FF2B5EF4-FFF2-40B4-BE49-F238E27FC236}">
                <a16:creationId xmlns:a16="http://schemas.microsoft.com/office/drawing/2014/main" id="{62741552-9A1D-362E-F1B4-ADC0816ACD9D}"/>
              </a:ext>
            </a:extLst>
          </p:cNvPr>
          <p:cNvSpPr/>
          <p:nvPr/>
        </p:nvSpPr>
        <p:spPr>
          <a:xfrm>
            <a:off x="7097149" y="2138934"/>
            <a:ext cx="1371600" cy="256032"/>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mbria" panose="02040503050406030204" pitchFamily="18" charset="0"/>
                <a:ea typeface="Cambria" panose="02040503050406030204" pitchFamily="18" charset="0"/>
              </a:rPr>
              <a:t>BASELINE</a:t>
            </a:r>
            <a:endParaRPr lang="en-US" sz="800" dirty="0">
              <a:latin typeface="Cambria" panose="02040503050406030204" pitchFamily="18" charset="0"/>
              <a:ea typeface="Cambria" panose="02040503050406030204" pitchFamily="18" charset="0"/>
            </a:endParaRPr>
          </a:p>
        </p:txBody>
      </p:sp>
      <p:sp>
        <p:nvSpPr>
          <p:cNvPr id="48" name="Text 10">
            <a:extLst>
              <a:ext uri="{FF2B5EF4-FFF2-40B4-BE49-F238E27FC236}">
                <a16:creationId xmlns:a16="http://schemas.microsoft.com/office/drawing/2014/main" id="{057F043F-2146-769D-5AD3-0D8D66D78584}"/>
              </a:ext>
            </a:extLst>
          </p:cNvPr>
          <p:cNvSpPr/>
          <p:nvPr/>
        </p:nvSpPr>
        <p:spPr>
          <a:xfrm>
            <a:off x="4765429" y="2138934"/>
            <a:ext cx="2331720" cy="310896"/>
          </a:xfrm>
          <a:prstGeom prst="rect">
            <a:avLst/>
          </a:prstGeom>
          <a:noFill/>
          <a:ln/>
        </p:spPr>
        <p:txBody>
          <a:bodyPr wrap="square" lIns="0" tIns="0" rIns="0" bIns="0" rtlCol="0" anchor="ctr"/>
          <a:lstStyle/>
          <a:p>
            <a:pPr marL="0" indent="0">
              <a:buNone/>
            </a:pPr>
            <a:r>
              <a:rPr lang="en-US" sz="1200" b="1" dirty="0">
                <a:solidFill>
                  <a:srgbClr val="1E2761"/>
                </a:solidFill>
                <a:latin typeface="Cambria" panose="02040503050406030204" pitchFamily="18" charset="0"/>
                <a:ea typeface="Cambria" panose="02040503050406030204" pitchFamily="18" charset="0"/>
                <a:cs typeface="Calibri" pitchFamily="34" charset="-120"/>
              </a:rPr>
              <a:t>Random Forest</a:t>
            </a:r>
            <a:endParaRPr lang="en-US" sz="1200" dirty="0">
              <a:latin typeface="Cambria" panose="02040503050406030204" pitchFamily="18" charset="0"/>
              <a:ea typeface="Cambria" panose="02040503050406030204" pitchFamily="18" charset="0"/>
            </a:endParaRPr>
          </a:p>
        </p:txBody>
      </p:sp>
      <p:sp>
        <p:nvSpPr>
          <p:cNvPr id="49" name="Text 11">
            <a:extLst>
              <a:ext uri="{FF2B5EF4-FFF2-40B4-BE49-F238E27FC236}">
                <a16:creationId xmlns:a16="http://schemas.microsoft.com/office/drawing/2014/main" id="{F4FAD903-9117-B5F6-068C-5723C126C059}"/>
              </a:ext>
            </a:extLst>
          </p:cNvPr>
          <p:cNvSpPr/>
          <p:nvPr/>
        </p:nvSpPr>
        <p:spPr>
          <a:xfrm>
            <a:off x="4765429" y="2414167"/>
            <a:ext cx="1685044" cy="132588"/>
          </a:xfrm>
          <a:prstGeom prst="rect">
            <a:avLst/>
          </a:prstGeom>
          <a:noFill/>
          <a:ln/>
        </p:spPr>
        <p:txBody>
          <a:bodyPr wrap="square" lIns="0" tIns="0" rIns="0" bIns="0" rtlCol="0" anchor="ctr"/>
          <a:lstStyle/>
          <a:p>
            <a:pPr marL="0" indent="0">
              <a:buNone/>
            </a:pPr>
            <a:r>
              <a:rPr lang="en-US" sz="900" b="1" kern="0" spc="100" dirty="0">
                <a:solidFill>
                  <a:srgbClr val="6B7A99"/>
                </a:solidFill>
                <a:latin typeface="Cambria" panose="02040503050406030204" pitchFamily="18" charset="0"/>
                <a:ea typeface="Cambria" panose="02040503050406030204" pitchFamily="18" charset="0"/>
              </a:rPr>
              <a:t>Key parameters</a:t>
            </a:r>
            <a:endParaRPr lang="en-US" sz="900" dirty="0">
              <a:latin typeface="Cambria" panose="02040503050406030204" pitchFamily="18" charset="0"/>
              <a:ea typeface="Cambria" panose="02040503050406030204" pitchFamily="18" charset="0"/>
            </a:endParaRPr>
          </a:p>
        </p:txBody>
      </p:sp>
      <p:sp>
        <p:nvSpPr>
          <p:cNvPr id="50" name="Text 12">
            <a:extLst>
              <a:ext uri="{FF2B5EF4-FFF2-40B4-BE49-F238E27FC236}">
                <a16:creationId xmlns:a16="http://schemas.microsoft.com/office/drawing/2014/main" id="{B7A1E04E-01D3-A7DA-3D1D-8D50FC3326BC}"/>
              </a:ext>
            </a:extLst>
          </p:cNvPr>
          <p:cNvSpPr/>
          <p:nvPr/>
        </p:nvSpPr>
        <p:spPr>
          <a:xfrm>
            <a:off x="4783016" y="2615947"/>
            <a:ext cx="1605915" cy="15544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n_estimators: default (100)</a:t>
            </a:r>
            <a:endParaRPr lang="en-US" sz="1000" dirty="0">
              <a:latin typeface="Cambria" panose="02040503050406030204" pitchFamily="18" charset="0"/>
              <a:ea typeface="Cambria" panose="02040503050406030204" pitchFamily="18" charset="0"/>
            </a:endParaRPr>
          </a:p>
        </p:txBody>
      </p:sp>
      <p:sp>
        <p:nvSpPr>
          <p:cNvPr id="51" name="Text 13">
            <a:extLst>
              <a:ext uri="{FF2B5EF4-FFF2-40B4-BE49-F238E27FC236}">
                <a16:creationId xmlns:a16="http://schemas.microsoft.com/office/drawing/2014/main" id="{2024D88B-53B4-44B1-285F-7EB82D952169}"/>
              </a:ext>
            </a:extLst>
          </p:cNvPr>
          <p:cNvSpPr/>
          <p:nvPr/>
        </p:nvSpPr>
        <p:spPr>
          <a:xfrm>
            <a:off x="4783016" y="2777192"/>
            <a:ext cx="1605915" cy="14888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class_weight: 'balanced'</a:t>
            </a:r>
            <a:endParaRPr lang="en-US" sz="1000" dirty="0">
              <a:latin typeface="Cambria" panose="02040503050406030204" pitchFamily="18" charset="0"/>
              <a:ea typeface="Cambria" panose="02040503050406030204" pitchFamily="18" charset="0"/>
            </a:endParaRPr>
          </a:p>
        </p:txBody>
      </p:sp>
      <p:sp>
        <p:nvSpPr>
          <p:cNvPr id="52" name="Text 14">
            <a:extLst>
              <a:ext uri="{FF2B5EF4-FFF2-40B4-BE49-F238E27FC236}">
                <a16:creationId xmlns:a16="http://schemas.microsoft.com/office/drawing/2014/main" id="{BEE7B29C-44E4-073B-17AD-A5DF0E4ADAEA}"/>
              </a:ext>
            </a:extLst>
          </p:cNvPr>
          <p:cNvSpPr/>
          <p:nvPr/>
        </p:nvSpPr>
        <p:spPr>
          <a:xfrm>
            <a:off x="4783016" y="2917696"/>
            <a:ext cx="1606689" cy="14888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random_state: 101</a:t>
            </a:r>
            <a:endParaRPr lang="en-US" sz="1000" dirty="0">
              <a:latin typeface="Cambria" panose="02040503050406030204" pitchFamily="18" charset="0"/>
              <a:ea typeface="Cambria" panose="02040503050406030204" pitchFamily="18" charset="0"/>
            </a:endParaRPr>
          </a:p>
        </p:txBody>
      </p:sp>
      <p:sp>
        <p:nvSpPr>
          <p:cNvPr id="53" name="Text 15">
            <a:extLst>
              <a:ext uri="{FF2B5EF4-FFF2-40B4-BE49-F238E27FC236}">
                <a16:creationId xmlns:a16="http://schemas.microsoft.com/office/drawing/2014/main" id="{D3971B6D-91FD-CEC7-3CA2-0EFBCDC2625C}"/>
              </a:ext>
            </a:extLst>
          </p:cNvPr>
          <p:cNvSpPr/>
          <p:nvPr/>
        </p:nvSpPr>
        <p:spPr>
          <a:xfrm>
            <a:off x="7410568" y="2409086"/>
            <a:ext cx="1062110" cy="132588"/>
          </a:xfrm>
          <a:prstGeom prst="rect">
            <a:avLst/>
          </a:prstGeom>
          <a:noFill/>
          <a:ln/>
        </p:spPr>
        <p:txBody>
          <a:bodyPr wrap="square" lIns="0" tIns="0" rIns="0" bIns="0" rtlCol="0" anchor="ctr"/>
          <a:lstStyle/>
          <a:p>
            <a:pPr marL="0" indent="0" algn="r">
              <a:buNone/>
            </a:pPr>
            <a:endParaRPr lang="en-US" sz="900" dirty="0"/>
          </a:p>
        </p:txBody>
      </p:sp>
      <p:sp>
        <p:nvSpPr>
          <p:cNvPr id="54" name="Text 16">
            <a:extLst>
              <a:ext uri="{FF2B5EF4-FFF2-40B4-BE49-F238E27FC236}">
                <a16:creationId xmlns:a16="http://schemas.microsoft.com/office/drawing/2014/main" id="{E9EEF504-A846-E33C-6C25-FDDDDE904F0C}"/>
              </a:ext>
            </a:extLst>
          </p:cNvPr>
          <p:cNvSpPr/>
          <p:nvPr/>
        </p:nvSpPr>
        <p:spPr>
          <a:xfrm>
            <a:off x="6641900" y="2477240"/>
            <a:ext cx="1830777" cy="524910"/>
          </a:xfrm>
          <a:prstGeom prst="rect">
            <a:avLst/>
          </a:prstGeom>
          <a:noFill/>
          <a:ln/>
        </p:spPr>
        <p:txBody>
          <a:bodyPr wrap="square" lIns="0" tIns="0" rIns="0" bIns="0" rtlCol="0" anchor="ctr"/>
          <a:lstStyle/>
          <a:p>
            <a:pPr marL="0" indent="0" algn="r">
              <a:buNone/>
            </a:pPr>
            <a:r>
              <a:rPr lang="en-US" sz="1000" dirty="0">
                <a:solidFill>
                  <a:srgbClr val="1A1A2E"/>
                </a:solidFill>
                <a:latin typeface="Cambria" panose="02040503050406030204" pitchFamily="18" charset="0"/>
                <a:ea typeface="Cambria" panose="02040503050406030204" pitchFamily="18" charset="0"/>
              </a:rPr>
              <a:t>Captures non-linear feature interactions; robust to outliers; no scaling required. Used as a strong baseline.</a:t>
            </a:r>
            <a:endParaRPr lang="en-US" sz="1000" dirty="0">
              <a:latin typeface="Cambria" panose="02040503050406030204" pitchFamily="18" charset="0"/>
              <a:ea typeface="Cambria" panose="02040503050406030204" pitchFamily="18" charset="0"/>
            </a:endParaRPr>
          </a:p>
        </p:txBody>
      </p:sp>
      <p:sp>
        <p:nvSpPr>
          <p:cNvPr id="55" name="Shape 17">
            <a:extLst>
              <a:ext uri="{FF2B5EF4-FFF2-40B4-BE49-F238E27FC236}">
                <a16:creationId xmlns:a16="http://schemas.microsoft.com/office/drawing/2014/main" id="{1CA84959-4E2E-CB47-0C89-0860F27826CD}"/>
              </a:ext>
            </a:extLst>
          </p:cNvPr>
          <p:cNvSpPr/>
          <p:nvPr/>
        </p:nvSpPr>
        <p:spPr>
          <a:xfrm>
            <a:off x="4628269" y="3134466"/>
            <a:ext cx="3977640" cy="252389"/>
          </a:xfrm>
          <a:prstGeom prst="rect">
            <a:avLst/>
          </a:prstGeom>
          <a:solidFill>
            <a:srgbClr val="1E2761"/>
          </a:solidFill>
          <a:ln w="12700">
            <a:solidFill>
              <a:srgbClr val="1E2761"/>
            </a:solidFill>
            <a:prstDash val="solid"/>
          </a:ln>
        </p:spPr>
        <p:txBody>
          <a:bodyPr/>
          <a:lstStyle/>
          <a:p>
            <a:endParaRPr lang="it-IT"/>
          </a:p>
        </p:txBody>
      </p:sp>
      <p:sp>
        <p:nvSpPr>
          <p:cNvPr id="56" name="Text 18">
            <a:extLst>
              <a:ext uri="{FF2B5EF4-FFF2-40B4-BE49-F238E27FC236}">
                <a16:creationId xmlns:a16="http://schemas.microsoft.com/office/drawing/2014/main" id="{F8FEEC89-3CCB-8C15-6EFB-84D7A560CDEE}"/>
              </a:ext>
            </a:extLst>
          </p:cNvPr>
          <p:cNvSpPr/>
          <p:nvPr/>
        </p:nvSpPr>
        <p:spPr>
          <a:xfrm>
            <a:off x="4732020" y="3165051"/>
            <a:ext cx="3703320" cy="187323"/>
          </a:xfrm>
          <a:prstGeom prst="rect">
            <a:avLst/>
          </a:prstGeom>
          <a:noFill/>
          <a:ln/>
        </p:spPr>
        <p:txBody>
          <a:bodyPr wrap="square" lIns="0" tIns="0" rIns="0" bIns="0" rtlCol="0" anchor="ctr"/>
          <a:lstStyle/>
          <a:p>
            <a:pPr marL="0" indent="0" algn="l">
              <a:buNone/>
            </a:pPr>
            <a:r>
              <a:rPr lang="en-US" sz="900" b="1" dirty="0">
                <a:solidFill>
                  <a:srgbClr val="CADCFC"/>
                </a:solidFill>
                <a:latin typeface="Cambria" panose="02040503050406030204" pitchFamily="18" charset="0"/>
                <a:ea typeface="Cambria" panose="02040503050406030204" pitchFamily="18" charset="0"/>
              </a:rPr>
              <a:t>ROC AUC — DS1: 0.8897   |   DS2: 0.9590</a:t>
            </a:r>
            <a:endParaRPr lang="en-US" sz="900" dirty="0">
              <a:latin typeface="Cambria" panose="02040503050406030204" pitchFamily="18" charset="0"/>
              <a:ea typeface="Cambria" panose="02040503050406030204" pitchFamily="18" charset="0"/>
            </a:endParaRPr>
          </a:p>
        </p:txBody>
      </p:sp>
      <p:sp>
        <p:nvSpPr>
          <p:cNvPr id="57" name="Shape 6">
            <a:extLst>
              <a:ext uri="{FF2B5EF4-FFF2-40B4-BE49-F238E27FC236}">
                <a16:creationId xmlns:a16="http://schemas.microsoft.com/office/drawing/2014/main" id="{72AB26F3-6DAC-67ED-4B60-4EF691A2E1D9}"/>
              </a:ext>
            </a:extLst>
          </p:cNvPr>
          <p:cNvSpPr/>
          <p:nvPr/>
        </p:nvSpPr>
        <p:spPr>
          <a:xfrm>
            <a:off x="4628269" y="3496818"/>
            <a:ext cx="3977640" cy="1204023"/>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58" name="Shape 7">
            <a:extLst>
              <a:ext uri="{FF2B5EF4-FFF2-40B4-BE49-F238E27FC236}">
                <a16:creationId xmlns:a16="http://schemas.microsoft.com/office/drawing/2014/main" id="{FB42655C-FC05-73AB-F699-BA7EAFEC4B36}"/>
              </a:ext>
            </a:extLst>
          </p:cNvPr>
          <p:cNvSpPr/>
          <p:nvPr/>
        </p:nvSpPr>
        <p:spPr>
          <a:xfrm>
            <a:off x="4628269" y="3496818"/>
            <a:ext cx="45719" cy="1264686"/>
          </a:xfrm>
          <a:prstGeom prst="rect">
            <a:avLst/>
          </a:prstGeom>
          <a:solidFill>
            <a:srgbClr val="2D9B6F"/>
          </a:solidFill>
          <a:ln w="12700">
            <a:solidFill>
              <a:srgbClr val="2D9B6F"/>
            </a:solidFill>
            <a:prstDash val="solid"/>
          </a:ln>
        </p:spPr>
        <p:txBody>
          <a:bodyPr/>
          <a:lstStyle/>
          <a:p>
            <a:endParaRPr lang="it-IT"/>
          </a:p>
        </p:txBody>
      </p:sp>
      <p:sp>
        <p:nvSpPr>
          <p:cNvPr id="59" name="Shape 8">
            <a:extLst>
              <a:ext uri="{FF2B5EF4-FFF2-40B4-BE49-F238E27FC236}">
                <a16:creationId xmlns:a16="http://schemas.microsoft.com/office/drawing/2014/main" id="{4D88F594-2ED6-372D-5A76-F2019C3AAD18}"/>
              </a:ext>
            </a:extLst>
          </p:cNvPr>
          <p:cNvSpPr/>
          <p:nvPr/>
        </p:nvSpPr>
        <p:spPr>
          <a:xfrm>
            <a:off x="7097149" y="3579114"/>
            <a:ext cx="1371600" cy="256032"/>
          </a:xfrm>
          <a:prstGeom prst="rect">
            <a:avLst/>
          </a:prstGeom>
          <a:solidFill>
            <a:srgbClr val="2D9B6F"/>
          </a:solidFill>
          <a:ln w="12700">
            <a:solidFill>
              <a:srgbClr val="2D9B6F"/>
            </a:solidFill>
            <a:prstDash val="solid"/>
          </a:ln>
        </p:spPr>
        <p:txBody>
          <a:bodyPr/>
          <a:lstStyle/>
          <a:p>
            <a:endParaRPr lang="it-IT"/>
          </a:p>
        </p:txBody>
      </p:sp>
      <p:sp>
        <p:nvSpPr>
          <p:cNvPr id="60" name="Text 9">
            <a:extLst>
              <a:ext uri="{FF2B5EF4-FFF2-40B4-BE49-F238E27FC236}">
                <a16:creationId xmlns:a16="http://schemas.microsoft.com/office/drawing/2014/main" id="{4F93BF2C-2AB2-6E01-8DE9-94A7B7B13E8A}"/>
              </a:ext>
            </a:extLst>
          </p:cNvPr>
          <p:cNvSpPr/>
          <p:nvPr/>
        </p:nvSpPr>
        <p:spPr>
          <a:xfrm>
            <a:off x="7097149" y="3579114"/>
            <a:ext cx="1371600" cy="256032"/>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Cambria" panose="02040503050406030204" pitchFamily="18" charset="0"/>
                <a:ea typeface="Cambria" panose="02040503050406030204" pitchFamily="18" charset="0"/>
              </a:rPr>
              <a:t>SELECTED</a:t>
            </a:r>
            <a:endParaRPr lang="en-US" sz="800" dirty="0">
              <a:latin typeface="Cambria" panose="02040503050406030204" pitchFamily="18" charset="0"/>
              <a:ea typeface="Cambria" panose="02040503050406030204" pitchFamily="18" charset="0"/>
            </a:endParaRPr>
          </a:p>
        </p:txBody>
      </p:sp>
      <p:sp>
        <p:nvSpPr>
          <p:cNvPr id="61" name="Text 10">
            <a:extLst>
              <a:ext uri="{FF2B5EF4-FFF2-40B4-BE49-F238E27FC236}">
                <a16:creationId xmlns:a16="http://schemas.microsoft.com/office/drawing/2014/main" id="{7C0DD210-14E4-F6C9-97DA-39E418988827}"/>
              </a:ext>
            </a:extLst>
          </p:cNvPr>
          <p:cNvSpPr/>
          <p:nvPr/>
        </p:nvSpPr>
        <p:spPr>
          <a:xfrm>
            <a:off x="4765429" y="3579114"/>
            <a:ext cx="2331720" cy="310896"/>
          </a:xfrm>
          <a:prstGeom prst="rect">
            <a:avLst/>
          </a:prstGeom>
          <a:noFill/>
          <a:ln/>
        </p:spPr>
        <p:txBody>
          <a:bodyPr wrap="square" lIns="0" tIns="0" rIns="0" bIns="0" rtlCol="0" anchor="ctr"/>
          <a:lstStyle/>
          <a:p>
            <a:r>
              <a:rPr lang="en-US" sz="1200" b="1" dirty="0">
                <a:solidFill>
                  <a:srgbClr val="1E2761"/>
                </a:solidFill>
                <a:latin typeface="Cambria" panose="02040503050406030204" pitchFamily="18" charset="0"/>
                <a:ea typeface="Cambria" panose="02040503050406030204" pitchFamily="18" charset="0"/>
                <a:cs typeface="Calibri" pitchFamily="34" charset="-120"/>
              </a:rPr>
              <a:t>Logistic Regression</a:t>
            </a:r>
            <a:endParaRPr lang="en-US" sz="1200" dirty="0">
              <a:latin typeface="Cambria" panose="02040503050406030204" pitchFamily="18" charset="0"/>
              <a:ea typeface="Cambria" panose="02040503050406030204" pitchFamily="18" charset="0"/>
            </a:endParaRPr>
          </a:p>
        </p:txBody>
      </p:sp>
      <p:sp>
        <p:nvSpPr>
          <p:cNvPr id="62" name="Text 11">
            <a:extLst>
              <a:ext uri="{FF2B5EF4-FFF2-40B4-BE49-F238E27FC236}">
                <a16:creationId xmlns:a16="http://schemas.microsoft.com/office/drawing/2014/main" id="{AF0D31F7-945F-2DD8-3280-B297134C26B4}"/>
              </a:ext>
            </a:extLst>
          </p:cNvPr>
          <p:cNvSpPr/>
          <p:nvPr/>
        </p:nvSpPr>
        <p:spPr>
          <a:xfrm>
            <a:off x="4809148" y="3902138"/>
            <a:ext cx="1685044" cy="132588"/>
          </a:xfrm>
          <a:prstGeom prst="rect">
            <a:avLst/>
          </a:prstGeom>
          <a:noFill/>
          <a:ln/>
        </p:spPr>
        <p:txBody>
          <a:bodyPr wrap="square" lIns="0" tIns="0" rIns="0" bIns="0" rtlCol="0" anchor="ctr"/>
          <a:lstStyle/>
          <a:p>
            <a:pPr marL="0" indent="0">
              <a:buNone/>
            </a:pPr>
            <a:r>
              <a:rPr lang="en-US" sz="900" b="1" kern="0" spc="100" dirty="0">
                <a:solidFill>
                  <a:srgbClr val="6B7A99"/>
                </a:solidFill>
                <a:latin typeface="Cambria" panose="02040503050406030204" pitchFamily="18" charset="0"/>
                <a:ea typeface="Cambria" panose="02040503050406030204" pitchFamily="18" charset="0"/>
              </a:rPr>
              <a:t>Key parameters</a:t>
            </a:r>
            <a:endParaRPr lang="en-US" sz="900" dirty="0">
              <a:latin typeface="Cambria" panose="02040503050406030204" pitchFamily="18" charset="0"/>
              <a:ea typeface="Cambria" panose="02040503050406030204" pitchFamily="18" charset="0"/>
            </a:endParaRPr>
          </a:p>
        </p:txBody>
      </p:sp>
      <p:sp>
        <p:nvSpPr>
          <p:cNvPr id="63" name="Text 12">
            <a:extLst>
              <a:ext uri="{FF2B5EF4-FFF2-40B4-BE49-F238E27FC236}">
                <a16:creationId xmlns:a16="http://schemas.microsoft.com/office/drawing/2014/main" id="{B9A54CAA-5B88-A3DB-847F-7E2960DDB621}"/>
              </a:ext>
            </a:extLst>
          </p:cNvPr>
          <p:cNvSpPr/>
          <p:nvPr/>
        </p:nvSpPr>
        <p:spPr>
          <a:xfrm>
            <a:off x="4783016" y="4056127"/>
            <a:ext cx="1605915" cy="155448"/>
          </a:xfrm>
          <a:prstGeom prst="rect">
            <a:avLst/>
          </a:prstGeom>
          <a:noFill/>
          <a:ln/>
        </p:spPr>
        <p:txBody>
          <a:bodyPr wrap="square" lIns="0" tIns="0" rIns="0" bIns="0" rtlCol="0" anchor="ctr"/>
          <a:lstStyle/>
          <a:p>
            <a:r>
              <a:rPr lang="en-US" sz="1000" dirty="0">
                <a:solidFill>
                  <a:srgbClr val="1A1A2E"/>
                </a:solidFill>
                <a:latin typeface="Cambria" panose="02040503050406030204" pitchFamily="18" charset="0"/>
                <a:ea typeface="Cambria" panose="02040503050406030204" pitchFamily="18" charset="0"/>
              </a:rPr>
              <a:t>· </a:t>
            </a:r>
            <a:r>
              <a:rPr lang="en-US" sz="1000" dirty="0" err="1">
                <a:solidFill>
                  <a:srgbClr val="1A1A2E"/>
                </a:solidFill>
                <a:latin typeface="Cambria" panose="02040503050406030204" pitchFamily="18" charset="0"/>
                <a:ea typeface="Cambria" panose="02040503050406030204" pitchFamily="18" charset="0"/>
              </a:rPr>
              <a:t>max_iter</a:t>
            </a:r>
            <a:r>
              <a:rPr lang="en-US" sz="1000" dirty="0">
                <a:solidFill>
                  <a:srgbClr val="1A1A2E"/>
                </a:solidFill>
                <a:latin typeface="Cambria" panose="02040503050406030204" pitchFamily="18" charset="0"/>
                <a:ea typeface="Cambria" panose="02040503050406030204" pitchFamily="18" charset="0"/>
              </a:rPr>
              <a:t>: 1000</a:t>
            </a:r>
            <a:endParaRPr lang="en-US" sz="1000" dirty="0">
              <a:latin typeface="Cambria" panose="02040503050406030204" pitchFamily="18" charset="0"/>
              <a:ea typeface="Cambria" panose="02040503050406030204" pitchFamily="18" charset="0"/>
            </a:endParaRPr>
          </a:p>
        </p:txBody>
      </p:sp>
      <p:sp>
        <p:nvSpPr>
          <p:cNvPr id="64" name="Text 13">
            <a:extLst>
              <a:ext uri="{FF2B5EF4-FFF2-40B4-BE49-F238E27FC236}">
                <a16:creationId xmlns:a16="http://schemas.microsoft.com/office/drawing/2014/main" id="{ECB6C851-F3EF-803E-2458-D5A943175E91}"/>
              </a:ext>
            </a:extLst>
          </p:cNvPr>
          <p:cNvSpPr/>
          <p:nvPr/>
        </p:nvSpPr>
        <p:spPr>
          <a:xfrm>
            <a:off x="4783016" y="4217372"/>
            <a:ext cx="1605915" cy="14888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class_weight: 'balanced'</a:t>
            </a:r>
            <a:endParaRPr lang="en-US" sz="1000" dirty="0">
              <a:latin typeface="Cambria" panose="02040503050406030204" pitchFamily="18" charset="0"/>
              <a:ea typeface="Cambria" panose="02040503050406030204" pitchFamily="18" charset="0"/>
            </a:endParaRPr>
          </a:p>
        </p:txBody>
      </p:sp>
      <p:sp>
        <p:nvSpPr>
          <p:cNvPr id="65" name="Text 14">
            <a:extLst>
              <a:ext uri="{FF2B5EF4-FFF2-40B4-BE49-F238E27FC236}">
                <a16:creationId xmlns:a16="http://schemas.microsoft.com/office/drawing/2014/main" id="{E06E67EF-1596-8D78-7A4B-66B683962818}"/>
              </a:ext>
            </a:extLst>
          </p:cNvPr>
          <p:cNvSpPr/>
          <p:nvPr/>
        </p:nvSpPr>
        <p:spPr>
          <a:xfrm>
            <a:off x="4783016" y="4357876"/>
            <a:ext cx="1606689" cy="14888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 random_state: 101</a:t>
            </a:r>
            <a:endParaRPr lang="en-US" sz="1000" dirty="0">
              <a:latin typeface="Cambria" panose="02040503050406030204" pitchFamily="18" charset="0"/>
              <a:ea typeface="Cambria" panose="02040503050406030204" pitchFamily="18" charset="0"/>
            </a:endParaRPr>
          </a:p>
        </p:txBody>
      </p:sp>
      <p:sp>
        <p:nvSpPr>
          <p:cNvPr id="66" name="Text 15">
            <a:extLst>
              <a:ext uri="{FF2B5EF4-FFF2-40B4-BE49-F238E27FC236}">
                <a16:creationId xmlns:a16="http://schemas.microsoft.com/office/drawing/2014/main" id="{9478084C-B9D6-43BD-4EE0-1802DE30E182}"/>
              </a:ext>
            </a:extLst>
          </p:cNvPr>
          <p:cNvSpPr/>
          <p:nvPr/>
        </p:nvSpPr>
        <p:spPr>
          <a:xfrm>
            <a:off x="7410568" y="3849266"/>
            <a:ext cx="1062110" cy="132588"/>
          </a:xfrm>
          <a:prstGeom prst="rect">
            <a:avLst/>
          </a:prstGeom>
          <a:noFill/>
          <a:ln/>
        </p:spPr>
        <p:txBody>
          <a:bodyPr wrap="square" lIns="0" tIns="0" rIns="0" bIns="0" rtlCol="0" anchor="ctr"/>
          <a:lstStyle/>
          <a:p>
            <a:pPr marL="0" indent="0" algn="r">
              <a:buNone/>
            </a:pPr>
            <a:endParaRPr lang="en-US" sz="900" dirty="0">
              <a:latin typeface="Cambria" panose="02040503050406030204" pitchFamily="18" charset="0"/>
              <a:ea typeface="Cambria" panose="02040503050406030204" pitchFamily="18" charset="0"/>
            </a:endParaRPr>
          </a:p>
        </p:txBody>
      </p:sp>
      <p:sp>
        <p:nvSpPr>
          <p:cNvPr id="67" name="Text 16">
            <a:extLst>
              <a:ext uri="{FF2B5EF4-FFF2-40B4-BE49-F238E27FC236}">
                <a16:creationId xmlns:a16="http://schemas.microsoft.com/office/drawing/2014/main" id="{159FF67C-15CB-807B-7C56-A17359172E33}"/>
              </a:ext>
            </a:extLst>
          </p:cNvPr>
          <p:cNvSpPr/>
          <p:nvPr/>
        </p:nvSpPr>
        <p:spPr>
          <a:xfrm>
            <a:off x="6345349" y="3963754"/>
            <a:ext cx="2111503" cy="589090"/>
          </a:xfrm>
          <a:prstGeom prst="rect">
            <a:avLst/>
          </a:prstGeom>
          <a:noFill/>
          <a:ln/>
        </p:spPr>
        <p:txBody>
          <a:bodyPr wrap="square" lIns="0" tIns="0" rIns="0" bIns="0" rtlCol="0" anchor="ctr"/>
          <a:lstStyle/>
          <a:p>
            <a:pPr algn="r"/>
            <a:r>
              <a:rPr lang="en-US" sz="1000" dirty="0">
                <a:solidFill>
                  <a:srgbClr val="1A1A2E"/>
                </a:solidFill>
                <a:latin typeface="Cambria" panose="02040503050406030204" pitchFamily="18" charset="0"/>
                <a:ea typeface="Cambria" panose="02040503050406030204" pitchFamily="18" charset="0"/>
              </a:rPr>
              <a:t>Linear classifier with probabilistic output. Coefficients are directly interpretable as feature-level influence on churn probability.</a:t>
            </a:r>
            <a:endParaRPr lang="en-US" sz="1000" dirty="0">
              <a:latin typeface="Cambria" panose="02040503050406030204" pitchFamily="18" charset="0"/>
              <a:ea typeface="Cambria" panose="02040503050406030204" pitchFamily="18" charset="0"/>
            </a:endParaRPr>
          </a:p>
        </p:txBody>
      </p:sp>
      <p:sp>
        <p:nvSpPr>
          <p:cNvPr id="68" name="Shape 17">
            <a:extLst>
              <a:ext uri="{FF2B5EF4-FFF2-40B4-BE49-F238E27FC236}">
                <a16:creationId xmlns:a16="http://schemas.microsoft.com/office/drawing/2014/main" id="{DF9C099A-9E99-C1BA-DFC7-CC9576BF1AD0}"/>
              </a:ext>
            </a:extLst>
          </p:cNvPr>
          <p:cNvSpPr/>
          <p:nvPr/>
        </p:nvSpPr>
        <p:spPr>
          <a:xfrm>
            <a:off x="4628269" y="4700841"/>
            <a:ext cx="3977640" cy="252389"/>
          </a:xfrm>
          <a:prstGeom prst="rect">
            <a:avLst/>
          </a:prstGeom>
          <a:solidFill>
            <a:srgbClr val="2D786F"/>
          </a:solidFill>
          <a:ln w="12700">
            <a:solidFill>
              <a:srgbClr val="2D786F"/>
            </a:solidFill>
            <a:prstDash val="solid"/>
          </a:ln>
        </p:spPr>
        <p:txBody>
          <a:bodyPr/>
          <a:lstStyle/>
          <a:p>
            <a:endParaRPr lang="it-IT" dirty="0"/>
          </a:p>
        </p:txBody>
      </p:sp>
      <p:sp>
        <p:nvSpPr>
          <p:cNvPr id="69" name="Text 18">
            <a:extLst>
              <a:ext uri="{FF2B5EF4-FFF2-40B4-BE49-F238E27FC236}">
                <a16:creationId xmlns:a16="http://schemas.microsoft.com/office/drawing/2014/main" id="{0EA0ABD7-E244-8F9A-289E-A13B254D8C1E}"/>
              </a:ext>
            </a:extLst>
          </p:cNvPr>
          <p:cNvSpPr/>
          <p:nvPr/>
        </p:nvSpPr>
        <p:spPr>
          <a:xfrm>
            <a:off x="4732020" y="4731426"/>
            <a:ext cx="3703320" cy="187323"/>
          </a:xfrm>
          <a:prstGeom prst="rect">
            <a:avLst/>
          </a:prstGeom>
          <a:noFill/>
          <a:ln/>
        </p:spPr>
        <p:txBody>
          <a:bodyPr wrap="square" lIns="0" tIns="0" rIns="0" bIns="0" rtlCol="0" anchor="ctr"/>
          <a:lstStyle/>
          <a:p>
            <a:r>
              <a:rPr lang="en-US" sz="900" b="1" dirty="0">
                <a:solidFill>
                  <a:srgbClr val="CADCFC"/>
                </a:solidFill>
                <a:latin typeface="Cambria" panose="02040503050406030204" pitchFamily="18" charset="0"/>
                <a:ea typeface="Cambria" panose="02040503050406030204" pitchFamily="18" charset="0"/>
              </a:rPr>
              <a:t>ROC AUC — DS1: 0.8988   |   DS2: 0.9694</a:t>
            </a:r>
            <a:endParaRPr lang="en-US" sz="900"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it-IT"/>
          </a:p>
        </p:txBody>
      </p:sp>
      <p:sp>
        <p:nvSpPr>
          <p:cNvPr id="3" name="Shape 1"/>
          <p:cNvSpPr/>
          <p:nvPr/>
        </p:nvSpPr>
        <p:spPr>
          <a:xfrm>
            <a:off x="8183880" y="201168"/>
            <a:ext cx="502920" cy="502920"/>
          </a:xfrm>
          <a:prstGeom prst="rect">
            <a:avLst/>
          </a:prstGeom>
          <a:solidFill>
            <a:srgbClr val="2A3880"/>
          </a:solidFill>
          <a:ln w="12700">
            <a:solidFill>
              <a:srgbClr val="2A3880"/>
            </a:solidFill>
            <a:prstDash val="solid"/>
          </a:ln>
        </p:spPr>
        <p:txBody>
          <a:bodyPr/>
          <a:lstStyle/>
          <a:p>
            <a:endParaRPr lang="it-IT" dirty="0"/>
          </a:p>
        </p:txBody>
      </p:sp>
      <p:sp>
        <p:nvSpPr>
          <p:cNvPr id="4" name="Text 2"/>
          <p:cNvSpPr/>
          <p:nvPr/>
        </p:nvSpPr>
        <p:spPr>
          <a:xfrm>
            <a:off x="8183880" y="201168"/>
            <a:ext cx="502920" cy="502920"/>
          </a:xfrm>
          <a:prstGeom prst="rect">
            <a:avLst/>
          </a:prstGeom>
          <a:noFill/>
          <a:ln/>
        </p:spPr>
        <p:txBody>
          <a:bodyPr wrap="square" lIns="0" tIns="0" rIns="0" bIns="0" rtlCol="0" anchor="ctr"/>
          <a:lstStyle/>
          <a:p>
            <a:pPr marL="0" indent="0" algn="ctr">
              <a:buNone/>
            </a:pPr>
            <a:r>
              <a:rPr lang="en-US" sz="1300" b="1" dirty="0">
                <a:solidFill>
                  <a:srgbClr val="CADCFC"/>
                </a:solidFill>
              </a:rPr>
              <a:t>03</a:t>
            </a:r>
            <a:endParaRPr lang="en-US" sz="1300" dirty="0"/>
          </a:p>
        </p:txBody>
      </p:sp>
      <p:sp>
        <p:nvSpPr>
          <p:cNvPr id="5" name="Text 3"/>
          <p:cNvSpPr/>
          <p:nvPr/>
        </p:nvSpPr>
        <p:spPr>
          <a:xfrm>
            <a:off x="457200" y="146304"/>
            <a:ext cx="7589520" cy="237744"/>
          </a:xfrm>
          <a:prstGeom prst="rect">
            <a:avLst/>
          </a:prstGeom>
          <a:noFill/>
          <a:ln/>
        </p:spPr>
        <p:txBody>
          <a:bodyPr wrap="square" lIns="0" tIns="0" rIns="0" bIns="0" rtlCol="0" anchor="ctr"/>
          <a:lstStyle/>
          <a:p>
            <a:pPr marL="0" indent="0" algn="l">
              <a:buNone/>
            </a:pPr>
            <a:r>
              <a:rPr lang="en-US" sz="800" b="1" kern="0" spc="200" dirty="0">
                <a:solidFill>
                  <a:srgbClr val="CADCFC"/>
                </a:solidFill>
              </a:rPr>
              <a:t>WHY MODEL CHOICE MATTERS</a:t>
            </a:r>
            <a:endParaRPr lang="en-US" sz="800" dirty="0"/>
          </a:p>
        </p:txBody>
      </p:sp>
      <p:sp>
        <p:nvSpPr>
          <p:cNvPr id="6" name="Text 4"/>
          <p:cNvSpPr/>
          <p:nvPr/>
        </p:nvSpPr>
        <p:spPr>
          <a:xfrm>
            <a:off x="457200" y="402336"/>
            <a:ext cx="75895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EucrosiaUPC" panose="02020603050405020304" pitchFamily="18" charset="-34"/>
                <a:ea typeface="Calibri" pitchFamily="34" charset="-122"/>
                <a:cs typeface="EucrosiaUPC" panose="02020603050405020304" pitchFamily="18" charset="-34"/>
              </a:rPr>
              <a:t>Choosing the Right Model for a Churn Problem</a:t>
            </a:r>
            <a:endParaRPr lang="en-US" sz="2800" dirty="0">
              <a:latin typeface="EucrosiaUPC" panose="02020603050405020304" pitchFamily="18" charset="-34"/>
              <a:cs typeface="EucrosiaUPC" panose="02020603050405020304" pitchFamily="18" charset="-34"/>
            </a:endParaRPr>
          </a:p>
        </p:txBody>
      </p:sp>
      <p:sp>
        <p:nvSpPr>
          <p:cNvPr id="7" name="Text 5"/>
          <p:cNvSpPr/>
          <p:nvPr/>
        </p:nvSpPr>
        <p:spPr>
          <a:xfrm>
            <a:off x="457200" y="1110996"/>
            <a:ext cx="8229600" cy="34747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The choice of model directly determines what actions the business can take, who gets targeted, and how resources are allocated. For this reason,  is not only a statistical modelling decision.</a:t>
            </a:r>
            <a:endParaRPr lang="en-US" sz="1100" dirty="0">
              <a:latin typeface="Cambria" panose="02040503050406030204" pitchFamily="18" charset="0"/>
              <a:ea typeface="Cambria" panose="02040503050406030204" pitchFamily="18" charset="0"/>
            </a:endParaRPr>
          </a:p>
        </p:txBody>
      </p:sp>
      <p:sp>
        <p:nvSpPr>
          <p:cNvPr id="8" name="Text 6"/>
          <p:cNvSpPr/>
          <p:nvPr/>
        </p:nvSpPr>
        <p:spPr>
          <a:xfrm>
            <a:off x="457200" y="1664208"/>
            <a:ext cx="4023360" cy="274320"/>
          </a:xfrm>
          <a:prstGeom prst="rect">
            <a:avLst/>
          </a:prstGeom>
          <a:noFill/>
          <a:ln/>
        </p:spPr>
        <p:txBody>
          <a:bodyPr wrap="square" lIns="0" tIns="0" rIns="0" bIns="0" rtlCol="0" anchor="ctr"/>
          <a:lstStyle/>
          <a:p>
            <a:pPr marL="0" indent="0">
              <a:buNone/>
            </a:pPr>
            <a:r>
              <a:rPr lang="en-US" sz="1200" b="1" dirty="0">
                <a:solidFill>
                  <a:srgbClr val="1E2761"/>
                </a:solidFill>
                <a:latin typeface="Cambria" panose="02040503050406030204" pitchFamily="18" charset="0"/>
                <a:ea typeface="Cambria" panose="02040503050406030204" pitchFamily="18" charset="0"/>
              </a:rPr>
              <a:t>The Two Metrics That Drive Retention Decisions</a:t>
            </a:r>
            <a:endParaRPr lang="en-US" sz="1200" dirty="0">
              <a:latin typeface="Cambria" panose="02040503050406030204" pitchFamily="18" charset="0"/>
              <a:ea typeface="Cambria" panose="02040503050406030204" pitchFamily="18" charset="0"/>
            </a:endParaRPr>
          </a:p>
        </p:txBody>
      </p:sp>
      <p:sp>
        <p:nvSpPr>
          <p:cNvPr id="9" name="Shape 7"/>
          <p:cNvSpPr/>
          <p:nvPr/>
        </p:nvSpPr>
        <p:spPr>
          <a:xfrm>
            <a:off x="457200" y="2029968"/>
            <a:ext cx="4023360" cy="1152144"/>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10" name="Shape 8"/>
          <p:cNvSpPr/>
          <p:nvPr/>
        </p:nvSpPr>
        <p:spPr>
          <a:xfrm>
            <a:off x="457200" y="2029968"/>
            <a:ext cx="45720" cy="1152144"/>
          </a:xfrm>
          <a:prstGeom prst="rect">
            <a:avLst/>
          </a:prstGeom>
          <a:solidFill>
            <a:srgbClr val="2D9B6F"/>
          </a:solidFill>
          <a:ln w="12700">
            <a:solidFill>
              <a:srgbClr val="2D9B6F"/>
            </a:solidFill>
            <a:prstDash val="solid"/>
          </a:ln>
        </p:spPr>
        <p:txBody>
          <a:bodyPr/>
          <a:lstStyle/>
          <a:p>
            <a:endParaRPr lang="it-IT"/>
          </a:p>
        </p:txBody>
      </p:sp>
      <p:pic>
        <p:nvPicPr>
          <p:cNvPr id="11" name="Image 0" descr="preencoded.png"/>
          <p:cNvPicPr>
            <a:picLocks noChangeAspect="1"/>
          </p:cNvPicPr>
          <p:nvPr/>
        </p:nvPicPr>
        <p:blipFill>
          <a:blip r:embed="rId3"/>
          <a:stretch>
            <a:fillRect/>
          </a:stretch>
        </p:blipFill>
        <p:spPr>
          <a:xfrm>
            <a:off x="678180" y="2267712"/>
            <a:ext cx="329184" cy="329184"/>
          </a:xfrm>
          <a:prstGeom prst="rect">
            <a:avLst/>
          </a:prstGeom>
        </p:spPr>
      </p:pic>
      <p:sp>
        <p:nvSpPr>
          <p:cNvPr id="12" name="Text 9"/>
          <p:cNvSpPr/>
          <p:nvPr/>
        </p:nvSpPr>
        <p:spPr>
          <a:xfrm>
            <a:off x="1107948" y="2121408"/>
            <a:ext cx="1115728" cy="292608"/>
          </a:xfrm>
          <a:prstGeom prst="rect">
            <a:avLst/>
          </a:prstGeom>
          <a:noFill/>
          <a:ln/>
        </p:spPr>
        <p:txBody>
          <a:bodyPr wrap="square" lIns="0" tIns="0" rIns="0" bIns="0" rtlCol="0" anchor="ctr"/>
          <a:lstStyle/>
          <a:p>
            <a:pPr marL="0" indent="0">
              <a:buNone/>
            </a:pPr>
            <a:r>
              <a:rPr lang="en-US" sz="1300" b="1" dirty="0">
                <a:solidFill>
                  <a:srgbClr val="1E2761"/>
                </a:solidFill>
                <a:latin typeface="Cambria" panose="02040503050406030204" pitchFamily="18" charset="0"/>
                <a:ea typeface="Cambria" panose="02040503050406030204" pitchFamily="18" charset="0"/>
              </a:rPr>
              <a:t>Precision</a:t>
            </a:r>
            <a:endParaRPr lang="en-US" sz="1300" dirty="0">
              <a:latin typeface="Cambria" panose="02040503050406030204" pitchFamily="18" charset="0"/>
              <a:ea typeface="Cambria" panose="02040503050406030204" pitchFamily="18" charset="0"/>
            </a:endParaRPr>
          </a:p>
        </p:txBody>
      </p:sp>
      <p:sp>
        <p:nvSpPr>
          <p:cNvPr id="13" name="Text 10"/>
          <p:cNvSpPr/>
          <p:nvPr/>
        </p:nvSpPr>
        <p:spPr>
          <a:xfrm>
            <a:off x="1107947" y="2345436"/>
            <a:ext cx="1321257" cy="283464"/>
          </a:xfrm>
          <a:prstGeom prst="rect">
            <a:avLst/>
          </a:prstGeom>
          <a:noFill/>
          <a:ln/>
        </p:spPr>
        <p:txBody>
          <a:bodyPr wrap="square" lIns="0" tIns="0" rIns="0" bIns="0" rtlCol="0" anchor="ctr"/>
          <a:lstStyle/>
          <a:p>
            <a:pPr marL="0" indent="0">
              <a:buNone/>
            </a:pPr>
            <a:r>
              <a:rPr lang="en-US" b="1" dirty="0">
                <a:solidFill>
                  <a:srgbClr val="2D9B6F"/>
                </a:solidFill>
                <a:latin typeface="Cambria" panose="02040503050406030204" pitchFamily="18" charset="0"/>
                <a:ea typeface="Cambria" panose="02040503050406030204" pitchFamily="18" charset="0"/>
              </a:rPr>
              <a:t>98.9%</a:t>
            </a:r>
            <a:endParaRPr lang="en-US" dirty="0">
              <a:latin typeface="Cambria" panose="02040503050406030204" pitchFamily="18" charset="0"/>
              <a:ea typeface="Cambria" panose="02040503050406030204" pitchFamily="18" charset="0"/>
            </a:endParaRPr>
          </a:p>
        </p:txBody>
      </p:sp>
      <p:sp>
        <p:nvSpPr>
          <p:cNvPr id="14" name="Text 11"/>
          <p:cNvSpPr/>
          <p:nvPr/>
        </p:nvSpPr>
        <p:spPr>
          <a:xfrm>
            <a:off x="2286000" y="2221992"/>
            <a:ext cx="2103120" cy="365760"/>
          </a:xfrm>
          <a:prstGeom prst="rect">
            <a:avLst/>
          </a:prstGeom>
          <a:noFill/>
          <a:ln/>
        </p:spPr>
        <p:txBody>
          <a:bodyPr wrap="square" lIns="0" tIns="0" rIns="0" bIns="0" rtlCol="0" anchor="ctr"/>
          <a:lstStyle/>
          <a:p>
            <a:pPr marL="0" indent="0">
              <a:lnSpc>
                <a:spcPct val="125000"/>
              </a:lnSpc>
              <a:buNone/>
            </a:pPr>
            <a:r>
              <a:rPr lang="en-US" sz="1000" i="1" dirty="0">
                <a:solidFill>
                  <a:srgbClr val="6B7A99"/>
                </a:solidFill>
                <a:latin typeface="Cambria" panose="02040503050406030204" pitchFamily="18" charset="0"/>
                <a:ea typeface="Cambria" panose="02040503050406030204" pitchFamily="18" charset="0"/>
              </a:rPr>
              <a:t>Of all customers we flag as churners, how many actually churn?</a:t>
            </a:r>
            <a:endParaRPr lang="en-US" sz="1000" dirty="0">
              <a:latin typeface="Cambria" panose="02040503050406030204" pitchFamily="18" charset="0"/>
              <a:ea typeface="Cambria" panose="02040503050406030204" pitchFamily="18" charset="0"/>
            </a:endParaRPr>
          </a:p>
        </p:txBody>
      </p:sp>
      <p:sp>
        <p:nvSpPr>
          <p:cNvPr id="15" name="Text 12"/>
          <p:cNvSpPr/>
          <p:nvPr/>
        </p:nvSpPr>
        <p:spPr>
          <a:xfrm>
            <a:off x="594360" y="2779776"/>
            <a:ext cx="3767328" cy="347472"/>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Low precision = wasted retention spend. The business pay for campaigns targeting loyal customers who were never going to leave.</a:t>
            </a:r>
            <a:endParaRPr lang="en-US" sz="1000" dirty="0">
              <a:latin typeface="Cambria" panose="02040503050406030204" pitchFamily="18" charset="0"/>
              <a:ea typeface="Cambria" panose="02040503050406030204" pitchFamily="18" charset="0"/>
            </a:endParaRPr>
          </a:p>
        </p:txBody>
      </p:sp>
      <p:sp>
        <p:nvSpPr>
          <p:cNvPr id="16" name="Shape 13"/>
          <p:cNvSpPr/>
          <p:nvPr/>
        </p:nvSpPr>
        <p:spPr>
          <a:xfrm>
            <a:off x="457200" y="3328416"/>
            <a:ext cx="4023360" cy="1152144"/>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17" name="Shape 14"/>
          <p:cNvSpPr/>
          <p:nvPr/>
        </p:nvSpPr>
        <p:spPr>
          <a:xfrm>
            <a:off x="457200" y="3328416"/>
            <a:ext cx="45720" cy="1152144"/>
          </a:xfrm>
          <a:prstGeom prst="rect">
            <a:avLst/>
          </a:prstGeom>
          <a:solidFill>
            <a:srgbClr val="D4810A"/>
          </a:solidFill>
          <a:ln w="12700">
            <a:solidFill>
              <a:srgbClr val="D4810A"/>
            </a:solidFill>
            <a:prstDash val="solid"/>
          </a:ln>
        </p:spPr>
        <p:txBody>
          <a:bodyPr/>
          <a:lstStyle/>
          <a:p>
            <a:endParaRPr lang="it-IT"/>
          </a:p>
        </p:txBody>
      </p:sp>
      <p:pic>
        <p:nvPicPr>
          <p:cNvPr id="18" name="Image 1" descr="preencoded.png"/>
          <p:cNvPicPr>
            <a:picLocks noChangeAspect="1"/>
          </p:cNvPicPr>
          <p:nvPr/>
        </p:nvPicPr>
        <p:blipFill>
          <a:blip r:embed="rId4"/>
          <a:stretch>
            <a:fillRect/>
          </a:stretch>
        </p:blipFill>
        <p:spPr>
          <a:xfrm>
            <a:off x="652272" y="3575304"/>
            <a:ext cx="329184" cy="329184"/>
          </a:xfrm>
          <a:prstGeom prst="rect">
            <a:avLst/>
          </a:prstGeom>
        </p:spPr>
      </p:pic>
      <p:sp>
        <p:nvSpPr>
          <p:cNvPr id="19" name="Text 15"/>
          <p:cNvSpPr/>
          <p:nvPr/>
        </p:nvSpPr>
        <p:spPr>
          <a:xfrm>
            <a:off x="1054608" y="3419856"/>
            <a:ext cx="1179956" cy="292608"/>
          </a:xfrm>
          <a:prstGeom prst="rect">
            <a:avLst/>
          </a:prstGeom>
          <a:noFill/>
          <a:ln/>
        </p:spPr>
        <p:txBody>
          <a:bodyPr wrap="square" lIns="0" tIns="0" rIns="0" bIns="0" rtlCol="0" anchor="ctr"/>
          <a:lstStyle/>
          <a:p>
            <a:pPr marL="0" indent="0">
              <a:buNone/>
            </a:pPr>
            <a:r>
              <a:rPr lang="en-US" sz="1300" b="1" dirty="0">
                <a:solidFill>
                  <a:srgbClr val="1E2761"/>
                </a:solidFill>
                <a:latin typeface="Cambria" panose="02040503050406030204" pitchFamily="18" charset="0"/>
                <a:ea typeface="Cambria" panose="02040503050406030204" pitchFamily="18" charset="0"/>
              </a:rPr>
              <a:t>Recall</a:t>
            </a:r>
            <a:endParaRPr lang="en-US" sz="1300" dirty="0">
              <a:latin typeface="Cambria" panose="02040503050406030204" pitchFamily="18" charset="0"/>
              <a:ea typeface="Cambria" panose="02040503050406030204" pitchFamily="18" charset="0"/>
            </a:endParaRPr>
          </a:p>
        </p:txBody>
      </p:sp>
      <p:sp>
        <p:nvSpPr>
          <p:cNvPr id="20" name="Text 16"/>
          <p:cNvSpPr/>
          <p:nvPr/>
        </p:nvSpPr>
        <p:spPr>
          <a:xfrm>
            <a:off x="1054608" y="3633216"/>
            <a:ext cx="979932" cy="292608"/>
          </a:xfrm>
          <a:prstGeom prst="rect">
            <a:avLst/>
          </a:prstGeom>
          <a:noFill/>
          <a:ln/>
        </p:spPr>
        <p:txBody>
          <a:bodyPr wrap="square" lIns="0" tIns="0" rIns="0" bIns="0" rtlCol="0" anchor="ctr"/>
          <a:lstStyle/>
          <a:p>
            <a:pPr marL="0" indent="0">
              <a:buNone/>
            </a:pPr>
            <a:r>
              <a:rPr lang="en-US" b="1" dirty="0">
                <a:solidFill>
                  <a:srgbClr val="D4810A"/>
                </a:solidFill>
                <a:latin typeface="Cambria" panose="02040503050406030204" pitchFamily="18" charset="0"/>
                <a:ea typeface="Cambria" panose="02040503050406030204" pitchFamily="18" charset="0"/>
              </a:rPr>
              <a:t>89.1%</a:t>
            </a:r>
            <a:endParaRPr lang="en-US" dirty="0">
              <a:latin typeface="Cambria" panose="02040503050406030204" pitchFamily="18" charset="0"/>
              <a:ea typeface="Cambria" panose="02040503050406030204" pitchFamily="18" charset="0"/>
            </a:endParaRPr>
          </a:p>
        </p:txBody>
      </p:sp>
      <p:sp>
        <p:nvSpPr>
          <p:cNvPr id="21" name="Text 17"/>
          <p:cNvSpPr/>
          <p:nvPr/>
        </p:nvSpPr>
        <p:spPr>
          <a:xfrm>
            <a:off x="2318004" y="3511296"/>
            <a:ext cx="2103120" cy="365760"/>
          </a:xfrm>
          <a:prstGeom prst="rect">
            <a:avLst/>
          </a:prstGeom>
          <a:noFill/>
          <a:ln/>
        </p:spPr>
        <p:txBody>
          <a:bodyPr wrap="square" lIns="0" tIns="0" rIns="0" bIns="0" rtlCol="0" anchor="ctr"/>
          <a:lstStyle/>
          <a:p>
            <a:pPr marL="0" indent="0">
              <a:lnSpc>
                <a:spcPct val="125000"/>
              </a:lnSpc>
              <a:buNone/>
            </a:pPr>
            <a:r>
              <a:rPr lang="en-US" sz="1000" i="1" dirty="0">
                <a:solidFill>
                  <a:srgbClr val="6B7A99"/>
                </a:solidFill>
                <a:latin typeface="Cambria" panose="02040503050406030204" pitchFamily="18" charset="0"/>
                <a:ea typeface="Cambria" panose="02040503050406030204" pitchFamily="18" charset="0"/>
              </a:rPr>
              <a:t>Of all customers who actually churn, how many did we catch?</a:t>
            </a:r>
            <a:endParaRPr lang="en-US" sz="1000" dirty="0">
              <a:latin typeface="Cambria" panose="02040503050406030204" pitchFamily="18" charset="0"/>
              <a:ea typeface="Cambria" panose="02040503050406030204" pitchFamily="18" charset="0"/>
            </a:endParaRPr>
          </a:p>
        </p:txBody>
      </p:sp>
      <p:sp>
        <p:nvSpPr>
          <p:cNvPr id="22" name="Text 18"/>
          <p:cNvSpPr/>
          <p:nvPr/>
        </p:nvSpPr>
        <p:spPr>
          <a:xfrm>
            <a:off x="621792" y="4023360"/>
            <a:ext cx="3767328" cy="347472"/>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Low recall = missed revenue. Real churners slip through without ever receiving a retention offer.</a:t>
            </a:r>
            <a:endParaRPr lang="en-US" sz="1000" dirty="0">
              <a:latin typeface="Cambria" panose="02040503050406030204" pitchFamily="18" charset="0"/>
              <a:ea typeface="Cambria" panose="02040503050406030204" pitchFamily="18" charset="0"/>
            </a:endParaRPr>
          </a:p>
        </p:txBody>
      </p:sp>
      <p:sp>
        <p:nvSpPr>
          <p:cNvPr id="23" name="Text 19"/>
          <p:cNvSpPr/>
          <p:nvPr/>
        </p:nvSpPr>
        <p:spPr>
          <a:xfrm>
            <a:off x="4846320" y="1664208"/>
            <a:ext cx="3840480" cy="274320"/>
          </a:xfrm>
          <a:prstGeom prst="rect">
            <a:avLst/>
          </a:prstGeom>
          <a:noFill/>
          <a:ln/>
        </p:spPr>
        <p:txBody>
          <a:bodyPr wrap="square" lIns="0" tIns="0" rIns="0" bIns="0" rtlCol="0" anchor="ctr"/>
          <a:lstStyle/>
          <a:p>
            <a:pPr marL="0" indent="0">
              <a:buNone/>
            </a:pPr>
            <a:r>
              <a:rPr lang="en-US" sz="1200" b="1" dirty="0">
                <a:solidFill>
                  <a:srgbClr val="1E2761"/>
                </a:solidFill>
                <a:latin typeface="Cambria" panose="02040503050406030204" pitchFamily="18" charset="0"/>
                <a:ea typeface="Cambria" panose="02040503050406030204" pitchFamily="18" charset="0"/>
              </a:rPr>
              <a:t>Model Choice Through a Marketing Lens</a:t>
            </a:r>
            <a:endParaRPr lang="en-US" sz="1200" dirty="0">
              <a:latin typeface="Cambria" panose="02040503050406030204" pitchFamily="18" charset="0"/>
              <a:ea typeface="Cambria" panose="02040503050406030204" pitchFamily="18" charset="0"/>
            </a:endParaRPr>
          </a:p>
        </p:txBody>
      </p:sp>
      <p:sp>
        <p:nvSpPr>
          <p:cNvPr id="24" name="Shape 20"/>
          <p:cNvSpPr/>
          <p:nvPr/>
        </p:nvSpPr>
        <p:spPr>
          <a:xfrm>
            <a:off x="4846320" y="2029968"/>
            <a:ext cx="3840480" cy="990600"/>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25" name="Shape 21"/>
          <p:cNvSpPr/>
          <p:nvPr/>
        </p:nvSpPr>
        <p:spPr>
          <a:xfrm>
            <a:off x="4846320" y="2029968"/>
            <a:ext cx="54864" cy="990600"/>
          </a:xfrm>
          <a:prstGeom prst="rect">
            <a:avLst/>
          </a:prstGeom>
          <a:solidFill>
            <a:srgbClr val="3A7BD5"/>
          </a:solidFill>
          <a:ln w="12700">
            <a:solidFill>
              <a:srgbClr val="3A7BD5"/>
            </a:solidFill>
            <a:prstDash val="solid"/>
          </a:ln>
        </p:spPr>
        <p:txBody>
          <a:bodyPr/>
          <a:lstStyle/>
          <a:p>
            <a:endParaRPr lang="it-IT"/>
          </a:p>
        </p:txBody>
      </p:sp>
      <p:sp>
        <p:nvSpPr>
          <p:cNvPr id="26" name="Text 22"/>
          <p:cNvSpPr/>
          <p:nvPr/>
        </p:nvSpPr>
        <p:spPr>
          <a:xfrm>
            <a:off x="5010912" y="2103120"/>
            <a:ext cx="3566160" cy="228600"/>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Interpretability</a:t>
            </a:r>
            <a:endParaRPr lang="en-US" sz="1000" dirty="0">
              <a:latin typeface="Cambria" panose="02040503050406030204" pitchFamily="18" charset="0"/>
              <a:ea typeface="Cambria" panose="02040503050406030204" pitchFamily="18" charset="0"/>
            </a:endParaRPr>
          </a:p>
        </p:txBody>
      </p:sp>
      <p:sp>
        <p:nvSpPr>
          <p:cNvPr id="27" name="Text 23"/>
          <p:cNvSpPr/>
          <p:nvPr/>
        </p:nvSpPr>
        <p:spPr>
          <a:xfrm>
            <a:off x="5010912" y="2314194"/>
            <a:ext cx="201168" cy="201168"/>
          </a:xfrm>
          <a:prstGeom prst="rect">
            <a:avLst/>
          </a:prstGeom>
          <a:noFill/>
          <a:ln/>
        </p:spPr>
        <p:txBody>
          <a:bodyPr wrap="square" lIns="0" tIns="0" rIns="0" bIns="0" rtlCol="0" anchor="ctr"/>
          <a:lstStyle/>
          <a:p>
            <a:pPr marL="0" indent="0">
              <a:buNone/>
            </a:pPr>
            <a:r>
              <a:rPr lang="en-US" sz="800" b="1" dirty="0">
                <a:solidFill>
                  <a:srgbClr val="6B7A99"/>
                </a:solidFill>
              </a:rPr>
              <a:t>RF</a:t>
            </a:r>
            <a:endParaRPr lang="en-US" sz="800" dirty="0"/>
          </a:p>
        </p:txBody>
      </p:sp>
      <p:sp>
        <p:nvSpPr>
          <p:cNvPr id="28" name="Text 24"/>
          <p:cNvSpPr/>
          <p:nvPr/>
        </p:nvSpPr>
        <p:spPr>
          <a:xfrm>
            <a:off x="5230368" y="2295906"/>
            <a:ext cx="3337560" cy="219456"/>
          </a:xfrm>
          <a:prstGeom prst="rect">
            <a:avLst/>
          </a:prstGeom>
          <a:noFill/>
          <a:ln/>
        </p:spPr>
        <p:txBody>
          <a:bodyPr wrap="square" lIns="0" tIns="0" rIns="0" bIns="0" rtlCol="0" anchor="ctr"/>
          <a:lstStyle/>
          <a:p>
            <a:pPr marL="0" indent="0">
              <a:buNone/>
            </a:pPr>
            <a:r>
              <a:rPr lang="en-US" sz="850" i="1" dirty="0">
                <a:solidFill>
                  <a:srgbClr val="6B7A99"/>
                </a:solidFill>
                <a:latin typeface="Cambria" panose="02040503050406030204" pitchFamily="18" charset="0"/>
                <a:ea typeface="Cambria" panose="02040503050406030204" pitchFamily="18" charset="0"/>
              </a:rPr>
              <a:t>Black-box. You know who to target, but not why.</a:t>
            </a:r>
            <a:endParaRPr lang="en-US" sz="850" dirty="0">
              <a:latin typeface="Cambria" panose="02040503050406030204" pitchFamily="18" charset="0"/>
              <a:ea typeface="Cambria" panose="02040503050406030204" pitchFamily="18" charset="0"/>
            </a:endParaRPr>
          </a:p>
        </p:txBody>
      </p:sp>
      <p:sp>
        <p:nvSpPr>
          <p:cNvPr id="29" name="Text 25"/>
          <p:cNvSpPr/>
          <p:nvPr/>
        </p:nvSpPr>
        <p:spPr>
          <a:xfrm>
            <a:off x="5010912" y="2525268"/>
            <a:ext cx="201168" cy="201168"/>
          </a:xfrm>
          <a:prstGeom prst="rect">
            <a:avLst/>
          </a:prstGeom>
          <a:noFill/>
          <a:ln/>
        </p:spPr>
        <p:txBody>
          <a:bodyPr wrap="square" lIns="0" tIns="0" rIns="0" bIns="0" rtlCol="0" anchor="ctr"/>
          <a:lstStyle/>
          <a:p>
            <a:pPr marL="0" indent="0">
              <a:buNone/>
            </a:pPr>
            <a:r>
              <a:rPr lang="en-US" sz="800" b="1" dirty="0">
                <a:solidFill>
                  <a:srgbClr val="3A7BD5"/>
                </a:solidFill>
              </a:rPr>
              <a:t>LR</a:t>
            </a:r>
            <a:endParaRPr lang="en-US" sz="800" dirty="0"/>
          </a:p>
        </p:txBody>
      </p:sp>
      <p:sp>
        <p:nvSpPr>
          <p:cNvPr id="30" name="Text 26"/>
          <p:cNvSpPr/>
          <p:nvPr/>
        </p:nvSpPr>
        <p:spPr>
          <a:xfrm>
            <a:off x="5230368" y="2548890"/>
            <a:ext cx="3337560" cy="358902"/>
          </a:xfrm>
          <a:prstGeom prst="rect">
            <a:avLst/>
          </a:prstGeom>
          <a:noFill/>
          <a:ln/>
        </p:spPr>
        <p:txBody>
          <a:bodyPr wrap="square" lIns="0" tIns="0" rIns="0" bIns="0" rtlCol="0" anchor="ctr"/>
          <a:lstStyle/>
          <a:p>
            <a:pPr marL="0" indent="0">
              <a:buNone/>
            </a:pPr>
            <a:r>
              <a:rPr lang="en-US" sz="850" dirty="0">
                <a:solidFill>
                  <a:srgbClr val="1A1A2E"/>
                </a:solidFill>
                <a:latin typeface="Cambria" panose="02040503050406030204" pitchFamily="18" charset="0"/>
                <a:ea typeface="Cambria" panose="02040503050406030204" pitchFamily="18" charset="0"/>
              </a:rPr>
              <a:t>Each feature has a coefficient; in this way the firm know exactly which variable (e.g. low loyalty score) is pushing a customer toward churn. Actionable for campaign design.</a:t>
            </a:r>
            <a:endParaRPr lang="en-US" sz="850" dirty="0">
              <a:latin typeface="Cambria" panose="02040503050406030204" pitchFamily="18" charset="0"/>
              <a:ea typeface="Cambria" panose="02040503050406030204" pitchFamily="18" charset="0"/>
            </a:endParaRPr>
          </a:p>
        </p:txBody>
      </p:sp>
      <p:sp>
        <p:nvSpPr>
          <p:cNvPr id="31" name="Shape 27"/>
          <p:cNvSpPr/>
          <p:nvPr/>
        </p:nvSpPr>
        <p:spPr>
          <a:xfrm>
            <a:off x="4870704" y="3136392"/>
            <a:ext cx="3840480" cy="896112"/>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32" name="Shape 28"/>
          <p:cNvSpPr/>
          <p:nvPr/>
        </p:nvSpPr>
        <p:spPr>
          <a:xfrm>
            <a:off x="4870704" y="3136392"/>
            <a:ext cx="45720" cy="896112"/>
          </a:xfrm>
          <a:prstGeom prst="rect">
            <a:avLst/>
          </a:prstGeom>
          <a:solidFill>
            <a:srgbClr val="2D9B6F"/>
          </a:solidFill>
          <a:ln w="12700">
            <a:solidFill>
              <a:srgbClr val="2D9B6F"/>
            </a:solidFill>
            <a:prstDash val="solid"/>
          </a:ln>
        </p:spPr>
        <p:txBody>
          <a:bodyPr/>
          <a:lstStyle/>
          <a:p>
            <a:endParaRPr lang="it-IT"/>
          </a:p>
        </p:txBody>
      </p:sp>
      <p:sp>
        <p:nvSpPr>
          <p:cNvPr id="33" name="Text 29"/>
          <p:cNvSpPr/>
          <p:nvPr/>
        </p:nvSpPr>
        <p:spPr>
          <a:xfrm>
            <a:off x="5035296" y="3209544"/>
            <a:ext cx="3566160" cy="228600"/>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False Positive Cost</a:t>
            </a:r>
            <a:endParaRPr lang="en-US" sz="1000" dirty="0">
              <a:latin typeface="Cambria" panose="02040503050406030204" pitchFamily="18" charset="0"/>
              <a:ea typeface="Cambria" panose="02040503050406030204" pitchFamily="18" charset="0"/>
            </a:endParaRPr>
          </a:p>
        </p:txBody>
      </p:sp>
      <p:sp>
        <p:nvSpPr>
          <p:cNvPr id="34" name="Text 30"/>
          <p:cNvSpPr/>
          <p:nvPr/>
        </p:nvSpPr>
        <p:spPr>
          <a:xfrm>
            <a:off x="5035296" y="3465576"/>
            <a:ext cx="201168" cy="201168"/>
          </a:xfrm>
          <a:prstGeom prst="rect">
            <a:avLst/>
          </a:prstGeom>
          <a:noFill/>
          <a:ln/>
        </p:spPr>
        <p:txBody>
          <a:bodyPr wrap="square" lIns="0" tIns="0" rIns="0" bIns="0" rtlCol="0" anchor="ctr"/>
          <a:lstStyle/>
          <a:p>
            <a:pPr marL="0" indent="0">
              <a:buNone/>
            </a:pPr>
            <a:r>
              <a:rPr lang="en-US" sz="800" b="1" dirty="0">
                <a:solidFill>
                  <a:srgbClr val="6B7A99"/>
                </a:solidFill>
              </a:rPr>
              <a:t>RF</a:t>
            </a:r>
            <a:endParaRPr lang="en-US" sz="800" dirty="0"/>
          </a:p>
        </p:txBody>
      </p:sp>
      <p:sp>
        <p:nvSpPr>
          <p:cNvPr id="35" name="Text 31"/>
          <p:cNvSpPr/>
          <p:nvPr/>
        </p:nvSpPr>
        <p:spPr>
          <a:xfrm>
            <a:off x="5254752" y="3465576"/>
            <a:ext cx="2999232" cy="219456"/>
          </a:xfrm>
          <a:prstGeom prst="rect">
            <a:avLst/>
          </a:prstGeom>
          <a:noFill/>
          <a:ln/>
        </p:spPr>
        <p:txBody>
          <a:bodyPr wrap="square" lIns="0" tIns="0" rIns="0" bIns="0" rtlCol="0" anchor="ctr"/>
          <a:lstStyle/>
          <a:p>
            <a:pPr marL="0" indent="0">
              <a:buNone/>
            </a:pPr>
            <a:r>
              <a:rPr lang="en-US" sz="850" i="1" dirty="0">
                <a:solidFill>
                  <a:srgbClr val="6B7A99"/>
                </a:solidFill>
                <a:latin typeface="Cambria" panose="02040503050406030204" pitchFamily="18" charset="0"/>
                <a:ea typeface="Cambria" panose="02040503050406030204" pitchFamily="18" charset="0"/>
              </a:rPr>
              <a:t>Slightly more false positives in this dataset → more wasted outreach budget.</a:t>
            </a:r>
            <a:endParaRPr lang="en-US" sz="850" dirty="0">
              <a:latin typeface="Cambria" panose="02040503050406030204" pitchFamily="18" charset="0"/>
              <a:ea typeface="Cambria" panose="02040503050406030204" pitchFamily="18" charset="0"/>
            </a:endParaRPr>
          </a:p>
        </p:txBody>
      </p:sp>
      <p:sp>
        <p:nvSpPr>
          <p:cNvPr id="36" name="Text 32"/>
          <p:cNvSpPr/>
          <p:nvPr/>
        </p:nvSpPr>
        <p:spPr>
          <a:xfrm>
            <a:off x="5035296" y="3721608"/>
            <a:ext cx="201168" cy="201168"/>
          </a:xfrm>
          <a:prstGeom prst="rect">
            <a:avLst/>
          </a:prstGeom>
          <a:noFill/>
          <a:ln/>
        </p:spPr>
        <p:txBody>
          <a:bodyPr wrap="square" lIns="0" tIns="0" rIns="0" bIns="0" rtlCol="0" anchor="ctr"/>
          <a:lstStyle/>
          <a:p>
            <a:pPr marL="0" indent="0">
              <a:buNone/>
            </a:pPr>
            <a:r>
              <a:rPr lang="en-US" sz="800" b="1" dirty="0">
                <a:solidFill>
                  <a:srgbClr val="2D9B6F"/>
                </a:solidFill>
              </a:rPr>
              <a:t>LR</a:t>
            </a:r>
            <a:endParaRPr lang="en-US" sz="800" dirty="0"/>
          </a:p>
        </p:txBody>
      </p:sp>
      <p:sp>
        <p:nvSpPr>
          <p:cNvPr id="37" name="Text 33"/>
          <p:cNvSpPr/>
          <p:nvPr/>
        </p:nvSpPr>
        <p:spPr>
          <a:xfrm>
            <a:off x="5254752" y="3721608"/>
            <a:ext cx="3060192" cy="256032"/>
          </a:xfrm>
          <a:prstGeom prst="rect">
            <a:avLst/>
          </a:prstGeom>
          <a:noFill/>
          <a:ln/>
        </p:spPr>
        <p:txBody>
          <a:bodyPr wrap="square" lIns="0" tIns="0" rIns="0" bIns="0" rtlCol="0" anchor="ctr"/>
          <a:lstStyle/>
          <a:p>
            <a:pPr marL="0" indent="0">
              <a:buNone/>
            </a:pPr>
            <a:r>
              <a:rPr lang="en-US" sz="850" dirty="0">
                <a:solidFill>
                  <a:srgbClr val="1A1A2E"/>
                </a:solidFill>
                <a:latin typeface="Cambria" panose="02040503050406030204" pitchFamily="18" charset="0"/>
                <a:ea typeface="Cambria" panose="02040503050406030204" pitchFamily="18" charset="0"/>
              </a:rPr>
              <a:t>Precision of 98.9% → minimal budget wasted on customers who are not at risk.</a:t>
            </a:r>
            <a:endParaRPr lang="en-US" sz="850" dirty="0">
              <a:latin typeface="Cambria" panose="02040503050406030204" pitchFamily="18" charset="0"/>
              <a:ea typeface="Cambria" panose="02040503050406030204" pitchFamily="18" charset="0"/>
            </a:endParaRPr>
          </a:p>
        </p:txBody>
      </p:sp>
      <p:sp>
        <p:nvSpPr>
          <p:cNvPr id="38" name="Shape 34"/>
          <p:cNvSpPr/>
          <p:nvPr/>
        </p:nvSpPr>
        <p:spPr>
          <a:xfrm>
            <a:off x="4870704" y="4123944"/>
            <a:ext cx="3840480" cy="81838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39" name="Shape 35"/>
          <p:cNvSpPr/>
          <p:nvPr/>
        </p:nvSpPr>
        <p:spPr>
          <a:xfrm>
            <a:off x="4870704" y="4123944"/>
            <a:ext cx="45719" cy="818388"/>
          </a:xfrm>
          <a:prstGeom prst="rect">
            <a:avLst/>
          </a:prstGeom>
          <a:solidFill>
            <a:srgbClr val="D4810A"/>
          </a:solidFill>
          <a:ln w="12700">
            <a:solidFill>
              <a:srgbClr val="D4810A"/>
            </a:solidFill>
            <a:prstDash val="solid"/>
          </a:ln>
        </p:spPr>
        <p:txBody>
          <a:bodyPr/>
          <a:lstStyle/>
          <a:p>
            <a:endParaRPr lang="it-IT"/>
          </a:p>
        </p:txBody>
      </p:sp>
      <p:sp>
        <p:nvSpPr>
          <p:cNvPr id="40" name="Text 36"/>
          <p:cNvSpPr/>
          <p:nvPr/>
        </p:nvSpPr>
        <p:spPr>
          <a:xfrm>
            <a:off x="5035296" y="4197096"/>
            <a:ext cx="3566160" cy="228600"/>
          </a:xfrm>
          <a:prstGeom prst="rect">
            <a:avLst/>
          </a:prstGeom>
          <a:noFill/>
          <a:ln/>
        </p:spPr>
        <p:txBody>
          <a:bodyPr wrap="square" lIns="0" tIns="0" rIns="0" bIns="0" rtlCol="0" anchor="ctr"/>
          <a:lstStyle/>
          <a:p>
            <a:pPr marL="0" indent="0">
              <a:buNone/>
            </a:pPr>
            <a:r>
              <a:rPr lang="en-US" sz="1000" b="1" dirty="0">
                <a:solidFill>
                  <a:srgbClr val="1E2761"/>
                </a:solidFill>
                <a:latin typeface="Cambria" panose="02040503050406030204" pitchFamily="18" charset="0"/>
                <a:ea typeface="Cambria" panose="02040503050406030204" pitchFamily="18" charset="0"/>
              </a:rPr>
              <a:t>Probability Output</a:t>
            </a:r>
            <a:endParaRPr lang="en-US" sz="1000" dirty="0">
              <a:latin typeface="Cambria" panose="02040503050406030204" pitchFamily="18" charset="0"/>
              <a:ea typeface="Cambria" panose="02040503050406030204" pitchFamily="18" charset="0"/>
            </a:endParaRPr>
          </a:p>
        </p:txBody>
      </p:sp>
      <p:sp>
        <p:nvSpPr>
          <p:cNvPr id="41" name="Text 37"/>
          <p:cNvSpPr/>
          <p:nvPr/>
        </p:nvSpPr>
        <p:spPr>
          <a:xfrm>
            <a:off x="5035296" y="4413504"/>
            <a:ext cx="201168" cy="201168"/>
          </a:xfrm>
          <a:prstGeom prst="rect">
            <a:avLst/>
          </a:prstGeom>
          <a:noFill/>
          <a:ln/>
        </p:spPr>
        <p:txBody>
          <a:bodyPr wrap="square" lIns="0" tIns="0" rIns="0" bIns="0" rtlCol="0" anchor="ctr"/>
          <a:lstStyle/>
          <a:p>
            <a:pPr marL="0" indent="0">
              <a:buNone/>
            </a:pPr>
            <a:r>
              <a:rPr lang="en-US" sz="800" b="1" dirty="0">
                <a:solidFill>
                  <a:srgbClr val="6B7A99"/>
                </a:solidFill>
              </a:rPr>
              <a:t>RF</a:t>
            </a:r>
            <a:endParaRPr lang="en-US" sz="800" dirty="0"/>
          </a:p>
        </p:txBody>
      </p:sp>
      <p:sp>
        <p:nvSpPr>
          <p:cNvPr id="42" name="Text 38"/>
          <p:cNvSpPr/>
          <p:nvPr/>
        </p:nvSpPr>
        <p:spPr>
          <a:xfrm>
            <a:off x="5254752" y="4434840"/>
            <a:ext cx="3337560" cy="146304"/>
          </a:xfrm>
          <a:prstGeom prst="rect">
            <a:avLst/>
          </a:prstGeom>
          <a:noFill/>
          <a:ln/>
        </p:spPr>
        <p:txBody>
          <a:bodyPr wrap="square" lIns="0" tIns="0" rIns="0" bIns="0" rtlCol="0" anchor="ctr"/>
          <a:lstStyle/>
          <a:p>
            <a:pPr marL="0" indent="0">
              <a:buNone/>
            </a:pPr>
            <a:r>
              <a:rPr lang="en-US" sz="850" i="1" dirty="0">
                <a:solidFill>
                  <a:srgbClr val="6B7A99"/>
                </a:solidFill>
                <a:latin typeface="Cambria" panose="02040503050406030204" pitchFamily="18" charset="0"/>
                <a:ea typeface="Cambria" panose="02040503050406030204" pitchFamily="18" charset="0"/>
              </a:rPr>
              <a:t>Probability scores available but less calibrated for tabular data.</a:t>
            </a:r>
            <a:endParaRPr lang="en-US" sz="850" dirty="0">
              <a:latin typeface="Cambria" panose="02040503050406030204" pitchFamily="18" charset="0"/>
              <a:ea typeface="Cambria" panose="02040503050406030204" pitchFamily="18" charset="0"/>
            </a:endParaRPr>
          </a:p>
        </p:txBody>
      </p:sp>
      <p:sp>
        <p:nvSpPr>
          <p:cNvPr id="43" name="Text 39"/>
          <p:cNvSpPr/>
          <p:nvPr/>
        </p:nvSpPr>
        <p:spPr>
          <a:xfrm>
            <a:off x="5035296" y="4631436"/>
            <a:ext cx="201168" cy="201168"/>
          </a:xfrm>
          <a:prstGeom prst="rect">
            <a:avLst/>
          </a:prstGeom>
          <a:noFill/>
          <a:ln/>
        </p:spPr>
        <p:txBody>
          <a:bodyPr wrap="square" lIns="0" tIns="0" rIns="0" bIns="0" rtlCol="0" anchor="ctr"/>
          <a:lstStyle/>
          <a:p>
            <a:pPr marL="0" indent="0">
              <a:buNone/>
            </a:pPr>
            <a:r>
              <a:rPr lang="en-US" sz="800" b="1" dirty="0">
                <a:solidFill>
                  <a:srgbClr val="D4810A"/>
                </a:solidFill>
              </a:rPr>
              <a:t>LR</a:t>
            </a:r>
            <a:endParaRPr lang="en-US" sz="800" dirty="0"/>
          </a:p>
        </p:txBody>
      </p:sp>
      <p:sp>
        <p:nvSpPr>
          <p:cNvPr id="44" name="Text 40"/>
          <p:cNvSpPr/>
          <p:nvPr/>
        </p:nvSpPr>
        <p:spPr>
          <a:xfrm>
            <a:off x="5254752" y="4614672"/>
            <a:ext cx="3337560" cy="256032"/>
          </a:xfrm>
          <a:prstGeom prst="rect">
            <a:avLst/>
          </a:prstGeom>
          <a:noFill/>
          <a:ln/>
        </p:spPr>
        <p:txBody>
          <a:bodyPr wrap="square" lIns="0" tIns="0" rIns="0" bIns="0" rtlCol="0" anchor="ctr"/>
          <a:lstStyle/>
          <a:p>
            <a:pPr marL="0" indent="0">
              <a:buNone/>
            </a:pPr>
            <a:r>
              <a:rPr lang="en-US" sz="850" dirty="0">
                <a:solidFill>
                  <a:srgbClr val="1A1A2E"/>
                </a:solidFill>
                <a:latin typeface="Cambria" panose="02040503050406030204" pitchFamily="18" charset="0"/>
                <a:ea typeface="Cambria" panose="02040503050406030204" pitchFamily="18" charset="0"/>
              </a:rPr>
              <a:t>Well-calibrated churn probability score → enables tiered campaigns (e.g. high-risk vs. medium-risk segments).</a:t>
            </a:r>
            <a:endParaRPr lang="en-US" sz="85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it-IT"/>
          </a:p>
        </p:txBody>
      </p:sp>
      <p:sp>
        <p:nvSpPr>
          <p:cNvPr id="3" name="Shape 1"/>
          <p:cNvSpPr/>
          <p:nvPr/>
        </p:nvSpPr>
        <p:spPr>
          <a:xfrm>
            <a:off x="8183880" y="201168"/>
            <a:ext cx="502920" cy="502920"/>
          </a:xfrm>
          <a:prstGeom prst="rect">
            <a:avLst/>
          </a:prstGeom>
          <a:solidFill>
            <a:srgbClr val="2A3880"/>
          </a:solidFill>
          <a:ln w="12700">
            <a:solidFill>
              <a:srgbClr val="2A3880"/>
            </a:solidFill>
            <a:prstDash val="solid"/>
          </a:ln>
        </p:spPr>
        <p:txBody>
          <a:bodyPr/>
          <a:lstStyle/>
          <a:p>
            <a:endParaRPr lang="it-IT"/>
          </a:p>
        </p:txBody>
      </p:sp>
      <p:sp>
        <p:nvSpPr>
          <p:cNvPr id="4" name="Text 2"/>
          <p:cNvSpPr/>
          <p:nvPr/>
        </p:nvSpPr>
        <p:spPr>
          <a:xfrm>
            <a:off x="8183880" y="201168"/>
            <a:ext cx="502920" cy="502920"/>
          </a:xfrm>
          <a:prstGeom prst="rect">
            <a:avLst/>
          </a:prstGeom>
          <a:noFill/>
          <a:ln/>
        </p:spPr>
        <p:txBody>
          <a:bodyPr wrap="square" lIns="0" tIns="0" rIns="0" bIns="0" rtlCol="0" anchor="ctr"/>
          <a:lstStyle/>
          <a:p>
            <a:pPr marL="0" indent="0" algn="ctr">
              <a:buNone/>
            </a:pPr>
            <a:r>
              <a:rPr lang="en-US" sz="1300" b="1" dirty="0">
                <a:solidFill>
                  <a:srgbClr val="CADCFC"/>
                </a:solidFill>
              </a:rPr>
              <a:t>04</a:t>
            </a:r>
            <a:endParaRPr lang="en-US" sz="1300" dirty="0"/>
          </a:p>
        </p:txBody>
      </p:sp>
      <p:sp>
        <p:nvSpPr>
          <p:cNvPr id="5" name="Text 3"/>
          <p:cNvSpPr/>
          <p:nvPr/>
        </p:nvSpPr>
        <p:spPr>
          <a:xfrm>
            <a:off x="457200" y="146304"/>
            <a:ext cx="7589520" cy="237744"/>
          </a:xfrm>
          <a:prstGeom prst="rect">
            <a:avLst/>
          </a:prstGeom>
          <a:noFill/>
          <a:ln/>
        </p:spPr>
        <p:txBody>
          <a:bodyPr wrap="square" lIns="0" tIns="0" rIns="0" bIns="0" rtlCol="0" anchor="ctr"/>
          <a:lstStyle/>
          <a:p>
            <a:pPr marL="0" indent="0" algn="l">
              <a:buNone/>
            </a:pPr>
            <a:r>
              <a:rPr lang="en-US" sz="800" b="1" kern="0" spc="200" dirty="0">
                <a:solidFill>
                  <a:srgbClr val="CADCFC"/>
                </a:solidFill>
                <a:latin typeface="Cambria" panose="02040503050406030204" pitchFamily="18" charset="0"/>
                <a:ea typeface="Cambria" panose="02040503050406030204" pitchFamily="18" charset="0"/>
              </a:rPr>
              <a:t>STEP 4 — EVALUATION</a:t>
            </a:r>
            <a:endParaRPr lang="en-US" sz="800" dirty="0">
              <a:latin typeface="Cambria" panose="02040503050406030204" pitchFamily="18" charset="0"/>
              <a:ea typeface="Cambria" panose="02040503050406030204" pitchFamily="18" charset="0"/>
            </a:endParaRPr>
          </a:p>
        </p:txBody>
      </p:sp>
      <p:sp>
        <p:nvSpPr>
          <p:cNvPr id="6" name="Text 4"/>
          <p:cNvSpPr/>
          <p:nvPr/>
        </p:nvSpPr>
        <p:spPr>
          <a:xfrm>
            <a:off x="457200" y="402336"/>
            <a:ext cx="75895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EucrosiaUPC" panose="02020603050405020304" pitchFamily="18" charset="-34"/>
                <a:ea typeface="Calibri" pitchFamily="34" charset="-122"/>
                <a:cs typeface="EucrosiaUPC" panose="02020603050405020304" pitchFamily="18" charset="-34"/>
              </a:rPr>
              <a:t>Model Performance Results</a:t>
            </a:r>
            <a:endParaRPr lang="en-US" sz="2800" dirty="0">
              <a:latin typeface="EucrosiaUPC" panose="02020603050405020304" pitchFamily="18" charset="-34"/>
              <a:cs typeface="EucrosiaUPC" panose="02020603050405020304" pitchFamily="18" charset="-34"/>
            </a:endParaRPr>
          </a:p>
        </p:txBody>
      </p:sp>
      <p:sp>
        <p:nvSpPr>
          <p:cNvPr id="7" name="Text 5"/>
          <p:cNvSpPr/>
          <p:nvPr/>
        </p:nvSpPr>
        <p:spPr>
          <a:xfrm>
            <a:off x="457200" y="1078992"/>
            <a:ext cx="3977640" cy="274320"/>
          </a:xfrm>
          <a:prstGeom prst="rect">
            <a:avLst/>
          </a:prstGeom>
          <a:noFill/>
          <a:ln/>
        </p:spPr>
        <p:txBody>
          <a:bodyPr wrap="square" lIns="0" tIns="0" rIns="0" bIns="0" rtlCol="0" anchor="ctr"/>
          <a:lstStyle/>
          <a:p>
            <a:pPr algn="ctr"/>
            <a:r>
              <a:rPr lang="en-US" sz="1300" b="1" dirty="0">
                <a:solidFill>
                  <a:srgbClr val="1E2761"/>
                </a:solidFill>
                <a:latin typeface="Cambria" panose="02040503050406030204" pitchFamily="18" charset="0"/>
                <a:ea typeface="Cambria" panose="02040503050406030204" pitchFamily="18" charset="0"/>
              </a:rPr>
              <a:t>Dataset 1 - 51.9% churn rate</a:t>
            </a:r>
          </a:p>
        </p:txBody>
      </p:sp>
      <p:sp>
        <p:nvSpPr>
          <p:cNvPr id="8" name="Text 6"/>
          <p:cNvSpPr/>
          <p:nvPr/>
        </p:nvSpPr>
        <p:spPr>
          <a:xfrm>
            <a:off x="457200" y="1299972"/>
            <a:ext cx="3977640" cy="146304"/>
          </a:xfrm>
          <a:prstGeom prst="rect">
            <a:avLst/>
          </a:prstGeom>
          <a:noFill/>
          <a:ln/>
        </p:spPr>
        <p:txBody>
          <a:bodyPr wrap="square" lIns="0" tIns="0" rIns="0" bIns="0" rtlCol="0" anchor="ctr"/>
          <a:lstStyle/>
          <a:p>
            <a:pPr marL="0" indent="0" algn="ctr">
              <a:buNone/>
            </a:pPr>
            <a:r>
              <a:rPr lang="en-US" sz="900" dirty="0">
                <a:solidFill>
                  <a:srgbClr val="6B7A99"/>
                </a:solidFill>
                <a:latin typeface="Cambria" panose="02040503050406030204" pitchFamily="18" charset="0"/>
                <a:ea typeface="Cambria" panose="02040503050406030204" pitchFamily="18" charset="0"/>
              </a:rPr>
              <a:t>Best model: Logistic Regression</a:t>
            </a:r>
            <a:endParaRPr lang="en-US" sz="900" dirty="0">
              <a:latin typeface="Cambria" panose="02040503050406030204" pitchFamily="18" charset="0"/>
              <a:ea typeface="Cambria" panose="02040503050406030204" pitchFamily="18" charset="0"/>
            </a:endParaRPr>
          </a:p>
        </p:txBody>
      </p:sp>
      <p:sp>
        <p:nvSpPr>
          <p:cNvPr id="9" name="Shape 7"/>
          <p:cNvSpPr/>
          <p:nvPr/>
        </p:nvSpPr>
        <p:spPr>
          <a:xfrm>
            <a:off x="457200" y="1525524"/>
            <a:ext cx="3977640" cy="166420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10" name="Shape 8"/>
          <p:cNvSpPr/>
          <p:nvPr/>
        </p:nvSpPr>
        <p:spPr>
          <a:xfrm>
            <a:off x="457200" y="1525524"/>
            <a:ext cx="45720" cy="1664208"/>
          </a:xfrm>
          <a:prstGeom prst="rect">
            <a:avLst/>
          </a:prstGeom>
          <a:solidFill>
            <a:srgbClr val="3A7BD5"/>
          </a:solidFill>
          <a:ln w="12700">
            <a:solidFill>
              <a:srgbClr val="3A7BD5"/>
            </a:solidFill>
            <a:prstDash val="solid"/>
          </a:ln>
        </p:spPr>
        <p:txBody>
          <a:bodyPr/>
          <a:lstStyle/>
          <a:p>
            <a:endParaRPr lang="it-IT"/>
          </a:p>
        </p:txBody>
      </p:sp>
      <p:sp>
        <p:nvSpPr>
          <p:cNvPr id="11" name="Text 9"/>
          <p:cNvSpPr/>
          <p:nvPr/>
        </p:nvSpPr>
        <p:spPr>
          <a:xfrm>
            <a:off x="594360" y="1598676"/>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Accuracy</a:t>
            </a:r>
            <a:endParaRPr lang="en-US" sz="1100" dirty="0">
              <a:latin typeface="Cambria" panose="02040503050406030204" pitchFamily="18" charset="0"/>
              <a:ea typeface="Cambria" panose="02040503050406030204" pitchFamily="18" charset="0"/>
            </a:endParaRPr>
          </a:p>
        </p:txBody>
      </p:sp>
      <p:sp>
        <p:nvSpPr>
          <p:cNvPr id="12" name="Shape 10"/>
          <p:cNvSpPr/>
          <p:nvPr/>
        </p:nvSpPr>
        <p:spPr>
          <a:xfrm>
            <a:off x="2194560" y="1653540"/>
            <a:ext cx="1645920" cy="146304"/>
          </a:xfrm>
          <a:prstGeom prst="rect">
            <a:avLst/>
          </a:prstGeom>
          <a:solidFill>
            <a:srgbClr val="D0D9EE"/>
          </a:solidFill>
          <a:ln w="12700">
            <a:solidFill>
              <a:srgbClr val="D0D9EE"/>
            </a:solidFill>
            <a:prstDash val="solid"/>
          </a:ln>
        </p:spPr>
        <p:txBody>
          <a:bodyPr/>
          <a:lstStyle/>
          <a:p>
            <a:endParaRPr lang="it-IT"/>
          </a:p>
        </p:txBody>
      </p:sp>
      <p:sp>
        <p:nvSpPr>
          <p:cNvPr id="13" name="Shape 11"/>
          <p:cNvSpPr/>
          <p:nvPr/>
        </p:nvSpPr>
        <p:spPr>
          <a:xfrm>
            <a:off x="2194560" y="1653540"/>
            <a:ext cx="1341425" cy="146304"/>
          </a:xfrm>
          <a:prstGeom prst="rect">
            <a:avLst/>
          </a:prstGeom>
          <a:solidFill>
            <a:srgbClr val="3A7BD5"/>
          </a:solidFill>
          <a:ln w="12700">
            <a:solidFill>
              <a:srgbClr val="3A7BD5"/>
            </a:solidFill>
            <a:prstDash val="solid"/>
          </a:ln>
        </p:spPr>
        <p:txBody>
          <a:bodyPr/>
          <a:lstStyle/>
          <a:p>
            <a:endParaRPr lang="it-IT"/>
          </a:p>
        </p:txBody>
      </p:sp>
      <p:sp>
        <p:nvSpPr>
          <p:cNvPr id="14" name="Text 12"/>
          <p:cNvSpPr/>
          <p:nvPr/>
        </p:nvSpPr>
        <p:spPr>
          <a:xfrm>
            <a:off x="3886200" y="1598676"/>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81.5%</a:t>
            </a:r>
            <a:endParaRPr lang="en-US" sz="1000" dirty="0">
              <a:latin typeface="Cambria" panose="02040503050406030204" pitchFamily="18" charset="0"/>
              <a:ea typeface="Cambria" panose="02040503050406030204" pitchFamily="18" charset="0"/>
            </a:endParaRPr>
          </a:p>
        </p:txBody>
      </p:sp>
      <p:sp>
        <p:nvSpPr>
          <p:cNvPr id="15" name="Text 13"/>
          <p:cNvSpPr/>
          <p:nvPr/>
        </p:nvSpPr>
        <p:spPr>
          <a:xfrm>
            <a:off x="594360" y="1900428"/>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Precision</a:t>
            </a:r>
            <a:endParaRPr lang="en-US" sz="1100" dirty="0">
              <a:latin typeface="Cambria" panose="02040503050406030204" pitchFamily="18" charset="0"/>
              <a:ea typeface="Cambria" panose="02040503050406030204" pitchFamily="18" charset="0"/>
            </a:endParaRPr>
          </a:p>
        </p:txBody>
      </p:sp>
      <p:sp>
        <p:nvSpPr>
          <p:cNvPr id="16" name="Shape 14"/>
          <p:cNvSpPr/>
          <p:nvPr/>
        </p:nvSpPr>
        <p:spPr>
          <a:xfrm>
            <a:off x="2194560" y="1955292"/>
            <a:ext cx="1645920" cy="146304"/>
          </a:xfrm>
          <a:prstGeom prst="rect">
            <a:avLst/>
          </a:prstGeom>
          <a:solidFill>
            <a:srgbClr val="D0D9EE"/>
          </a:solidFill>
          <a:ln w="12700">
            <a:solidFill>
              <a:srgbClr val="D0D9EE"/>
            </a:solidFill>
            <a:prstDash val="solid"/>
          </a:ln>
        </p:spPr>
        <p:txBody>
          <a:bodyPr/>
          <a:lstStyle/>
          <a:p>
            <a:endParaRPr lang="it-IT"/>
          </a:p>
        </p:txBody>
      </p:sp>
      <p:sp>
        <p:nvSpPr>
          <p:cNvPr id="17" name="Shape 15"/>
          <p:cNvSpPr/>
          <p:nvPr/>
        </p:nvSpPr>
        <p:spPr>
          <a:xfrm>
            <a:off x="2194560" y="1955292"/>
            <a:ext cx="1352946" cy="146304"/>
          </a:xfrm>
          <a:prstGeom prst="rect">
            <a:avLst/>
          </a:prstGeom>
          <a:solidFill>
            <a:srgbClr val="3A7BD5"/>
          </a:solidFill>
          <a:ln w="12700">
            <a:solidFill>
              <a:srgbClr val="3A7BD5"/>
            </a:solidFill>
            <a:prstDash val="solid"/>
          </a:ln>
        </p:spPr>
        <p:txBody>
          <a:bodyPr/>
          <a:lstStyle/>
          <a:p>
            <a:endParaRPr lang="it-IT"/>
          </a:p>
        </p:txBody>
      </p:sp>
      <p:sp>
        <p:nvSpPr>
          <p:cNvPr id="18" name="Text 16"/>
          <p:cNvSpPr/>
          <p:nvPr/>
        </p:nvSpPr>
        <p:spPr>
          <a:xfrm>
            <a:off x="3886200" y="1900428"/>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82.2%</a:t>
            </a:r>
            <a:endParaRPr lang="en-US" sz="1000" dirty="0">
              <a:latin typeface="Cambria" panose="02040503050406030204" pitchFamily="18" charset="0"/>
              <a:ea typeface="Cambria" panose="02040503050406030204" pitchFamily="18" charset="0"/>
            </a:endParaRPr>
          </a:p>
        </p:txBody>
      </p:sp>
      <p:sp>
        <p:nvSpPr>
          <p:cNvPr id="19" name="Text 17"/>
          <p:cNvSpPr/>
          <p:nvPr/>
        </p:nvSpPr>
        <p:spPr>
          <a:xfrm>
            <a:off x="594360" y="2202180"/>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Recall</a:t>
            </a:r>
            <a:endParaRPr lang="en-US" sz="1100" dirty="0">
              <a:latin typeface="Cambria" panose="02040503050406030204" pitchFamily="18" charset="0"/>
              <a:ea typeface="Cambria" panose="02040503050406030204" pitchFamily="18" charset="0"/>
            </a:endParaRPr>
          </a:p>
        </p:txBody>
      </p:sp>
      <p:sp>
        <p:nvSpPr>
          <p:cNvPr id="20" name="Shape 18"/>
          <p:cNvSpPr/>
          <p:nvPr/>
        </p:nvSpPr>
        <p:spPr>
          <a:xfrm>
            <a:off x="2194560" y="2257044"/>
            <a:ext cx="1645920" cy="146304"/>
          </a:xfrm>
          <a:prstGeom prst="rect">
            <a:avLst/>
          </a:prstGeom>
          <a:solidFill>
            <a:srgbClr val="D0D9EE"/>
          </a:solidFill>
          <a:ln w="12700">
            <a:solidFill>
              <a:srgbClr val="D0D9EE"/>
            </a:solidFill>
            <a:prstDash val="solid"/>
          </a:ln>
        </p:spPr>
        <p:txBody>
          <a:bodyPr/>
          <a:lstStyle/>
          <a:p>
            <a:endParaRPr lang="it-IT"/>
          </a:p>
        </p:txBody>
      </p:sp>
      <p:sp>
        <p:nvSpPr>
          <p:cNvPr id="21" name="Shape 19"/>
          <p:cNvSpPr/>
          <p:nvPr/>
        </p:nvSpPr>
        <p:spPr>
          <a:xfrm>
            <a:off x="2194560" y="2257044"/>
            <a:ext cx="1343071" cy="146304"/>
          </a:xfrm>
          <a:prstGeom prst="rect">
            <a:avLst/>
          </a:prstGeom>
          <a:solidFill>
            <a:srgbClr val="3A7BD5"/>
          </a:solidFill>
          <a:ln w="12700">
            <a:solidFill>
              <a:srgbClr val="3A7BD5"/>
            </a:solidFill>
            <a:prstDash val="solid"/>
          </a:ln>
        </p:spPr>
        <p:txBody>
          <a:bodyPr/>
          <a:lstStyle/>
          <a:p>
            <a:endParaRPr lang="it-IT"/>
          </a:p>
        </p:txBody>
      </p:sp>
      <p:sp>
        <p:nvSpPr>
          <p:cNvPr id="22" name="Text 20"/>
          <p:cNvSpPr/>
          <p:nvPr/>
        </p:nvSpPr>
        <p:spPr>
          <a:xfrm>
            <a:off x="3886200" y="2202180"/>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81.6%</a:t>
            </a:r>
            <a:endParaRPr lang="en-US" sz="1000" dirty="0">
              <a:latin typeface="Cambria" panose="02040503050406030204" pitchFamily="18" charset="0"/>
              <a:ea typeface="Cambria" panose="02040503050406030204" pitchFamily="18" charset="0"/>
            </a:endParaRPr>
          </a:p>
        </p:txBody>
      </p:sp>
      <p:sp>
        <p:nvSpPr>
          <p:cNvPr id="23" name="Text 21"/>
          <p:cNvSpPr/>
          <p:nvPr/>
        </p:nvSpPr>
        <p:spPr>
          <a:xfrm>
            <a:off x="594360" y="2503932"/>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F1 Score</a:t>
            </a:r>
            <a:endParaRPr lang="en-US" sz="1100" dirty="0">
              <a:latin typeface="Cambria" panose="02040503050406030204" pitchFamily="18" charset="0"/>
              <a:ea typeface="Cambria" panose="02040503050406030204" pitchFamily="18" charset="0"/>
            </a:endParaRPr>
          </a:p>
        </p:txBody>
      </p:sp>
      <p:sp>
        <p:nvSpPr>
          <p:cNvPr id="24" name="Shape 22"/>
          <p:cNvSpPr/>
          <p:nvPr/>
        </p:nvSpPr>
        <p:spPr>
          <a:xfrm>
            <a:off x="2194560" y="2558796"/>
            <a:ext cx="1645920" cy="146304"/>
          </a:xfrm>
          <a:prstGeom prst="rect">
            <a:avLst/>
          </a:prstGeom>
          <a:solidFill>
            <a:srgbClr val="D0D9EE"/>
          </a:solidFill>
          <a:ln w="12700">
            <a:solidFill>
              <a:srgbClr val="D0D9EE"/>
            </a:solidFill>
            <a:prstDash val="solid"/>
          </a:ln>
        </p:spPr>
        <p:txBody>
          <a:bodyPr/>
          <a:lstStyle/>
          <a:p>
            <a:endParaRPr lang="it-IT"/>
          </a:p>
        </p:txBody>
      </p:sp>
      <p:sp>
        <p:nvSpPr>
          <p:cNvPr id="25" name="Shape 23"/>
          <p:cNvSpPr/>
          <p:nvPr/>
        </p:nvSpPr>
        <p:spPr>
          <a:xfrm>
            <a:off x="2194560" y="2558796"/>
            <a:ext cx="1348008" cy="146304"/>
          </a:xfrm>
          <a:prstGeom prst="rect">
            <a:avLst/>
          </a:prstGeom>
          <a:solidFill>
            <a:srgbClr val="3A7BD5"/>
          </a:solidFill>
          <a:ln w="12700">
            <a:solidFill>
              <a:srgbClr val="3A7BD5"/>
            </a:solidFill>
            <a:prstDash val="solid"/>
          </a:ln>
        </p:spPr>
        <p:txBody>
          <a:bodyPr/>
          <a:lstStyle/>
          <a:p>
            <a:endParaRPr lang="it-IT"/>
          </a:p>
        </p:txBody>
      </p:sp>
      <p:sp>
        <p:nvSpPr>
          <p:cNvPr id="26" name="Text 24"/>
          <p:cNvSpPr/>
          <p:nvPr/>
        </p:nvSpPr>
        <p:spPr>
          <a:xfrm>
            <a:off x="3886200" y="2503932"/>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81.9%</a:t>
            </a:r>
            <a:endParaRPr lang="en-US" sz="1000" dirty="0">
              <a:latin typeface="Cambria" panose="02040503050406030204" pitchFamily="18" charset="0"/>
              <a:ea typeface="Cambria" panose="02040503050406030204" pitchFamily="18" charset="0"/>
            </a:endParaRPr>
          </a:p>
        </p:txBody>
      </p:sp>
      <p:sp>
        <p:nvSpPr>
          <p:cNvPr id="27" name="Text 25"/>
          <p:cNvSpPr/>
          <p:nvPr/>
        </p:nvSpPr>
        <p:spPr>
          <a:xfrm>
            <a:off x="594360" y="2805684"/>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ROC AUC</a:t>
            </a:r>
            <a:endParaRPr lang="en-US" sz="1100" dirty="0">
              <a:latin typeface="Cambria" panose="02040503050406030204" pitchFamily="18" charset="0"/>
              <a:ea typeface="Cambria" panose="02040503050406030204" pitchFamily="18" charset="0"/>
            </a:endParaRPr>
          </a:p>
        </p:txBody>
      </p:sp>
      <p:sp>
        <p:nvSpPr>
          <p:cNvPr id="28" name="Shape 26"/>
          <p:cNvSpPr/>
          <p:nvPr/>
        </p:nvSpPr>
        <p:spPr>
          <a:xfrm>
            <a:off x="2194560" y="2860548"/>
            <a:ext cx="1645920" cy="146304"/>
          </a:xfrm>
          <a:prstGeom prst="rect">
            <a:avLst/>
          </a:prstGeom>
          <a:solidFill>
            <a:srgbClr val="D0D9EE"/>
          </a:solidFill>
          <a:ln w="12700">
            <a:solidFill>
              <a:srgbClr val="D0D9EE"/>
            </a:solidFill>
            <a:prstDash val="solid"/>
          </a:ln>
        </p:spPr>
        <p:txBody>
          <a:bodyPr/>
          <a:lstStyle/>
          <a:p>
            <a:endParaRPr lang="it-IT"/>
          </a:p>
        </p:txBody>
      </p:sp>
      <p:sp>
        <p:nvSpPr>
          <p:cNvPr id="29" name="Shape 27"/>
          <p:cNvSpPr/>
          <p:nvPr/>
        </p:nvSpPr>
        <p:spPr>
          <a:xfrm>
            <a:off x="2194560" y="2860548"/>
            <a:ext cx="1479682" cy="146304"/>
          </a:xfrm>
          <a:prstGeom prst="rect">
            <a:avLst/>
          </a:prstGeom>
          <a:solidFill>
            <a:srgbClr val="3A7BD5"/>
          </a:solidFill>
          <a:ln w="12700">
            <a:solidFill>
              <a:srgbClr val="3A7BD5"/>
            </a:solidFill>
            <a:prstDash val="solid"/>
          </a:ln>
        </p:spPr>
        <p:txBody>
          <a:bodyPr/>
          <a:lstStyle/>
          <a:p>
            <a:endParaRPr lang="it-IT"/>
          </a:p>
        </p:txBody>
      </p:sp>
      <p:sp>
        <p:nvSpPr>
          <p:cNvPr id="30" name="Text 28"/>
          <p:cNvSpPr/>
          <p:nvPr/>
        </p:nvSpPr>
        <p:spPr>
          <a:xfrm>
            <a:off x="3886200" y="2805684"/>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0.899</a:t>
            </a:r>
            <a:endParaRPr lang="en-US" sz="1000" dirty="0">
              <a:latin typeface="Cambria" panose="02040503050406030204" pitchFamily="18" charset="0"/>
              <a:ea typeface="Cambria" panose="02040503050406030204" pitchFamily="18" charset="0"/>
            </a:endParaRPr>
          </a:p>
        </p:txBody>
      </p:sp>
      <p:sp>
        <p:nvSpPr>
          <p:cNvPr id="31" name="Text 29"/>
          <p:cNvSpPr/>
          <p:nvPr/>
        </p:nvSpPr>
        <p:spPr>
          <a:xfrm>
            <a:off x="923542" y="3232404"/>
            <a:ext cx="2926081" cy="228600"/>
          </a:xfrm>
          <a:prstGeom prst="rect">
            <a:avLst/>
          </a:prstGeom>
          <a:noFill/>
          <a:ln/>
        </p:spPr>
        <p:txBody>
          <a:bodyPr wrap="square" lIns="0" tIns="0" rIns="0" bIns="0" rtlCol="0" anchor="ctr"/>
          <a:lstStyle/>
          <a:p>
            <a:pPr marL="0" indent="0" algn="ctr">
              <a:buNone/>
            </a:pPr>
            <a:r>
              <a:rPr lang="en-US" sz="900" b="1" kern="0" spc="100" dirty="0">
                <a:solidFill>
                  <a:srgbClr val="6B7A99"/>
                </a:solidFill>
                <a:latin typeface="Cambria" panose="02040503050406030204" pitchFamily="18" charset="0"/>
                <a:ea typeface="Cambria" panose="02040503050406030204" pitchFamily="18" charset="0"/>
              </a:rPr>
              <a:t>Confusion Matrix</a:t>
            </a:r>
            <a:endParaRPr lang="en-US" sz="900" dirty="0">
              <a:latin typeface="Cambria" panose="02040503050406030204" pitchFamily="18" charset="0"/>
              <a:ea typeface="Cambria" panose="02040503050406030204" pitchFamily="18" charset="0"/>
            </a:endParaRPr>
          </a:p>
        </p:txBody>
      </p:sp>
      <p:sp>
        <p:nvSpPr>
          <p:cNvPr id="32" name="Shape 30"/>
          <p:cNvSpPr/>
          <p:nvPr/>
        </p:nvSpPr>
        <p:spPr>
          <a:xfrm>
            <a:off x="914400"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33" name="Text 31"/>
          <p:cNvSpPr/>
          <p:nvPr/>
        </p:nvSpPr>
        <p:spPr>
          <a:xfrm>
            <a:off x="914400" y="3488436"/>
            <a:ext cx="960120" cy="402336"/>
          </a:xfrm>
          <a:prstGeom prst="rect">
            <a:avLst/>
          </a:prstGeom>
          <a:noFill/>
          <a:ln/>
        </p:spPr>
        <p:txBody>
          <a:bodyPr wrap="square" lIns="0" tIns="0" rIns="0" bIns="0" rtlCol="0" anchor="ctr"/>
          <a:lstStyle/>
          <a:p>
            <a:pPr marL="0" indent="0" algn="ctr">
              <a:buNone/>
            </a:pPr>
            <a:endParaRPr lang="en-US" sz="800" dirty="0"/>
          </a:p>
        </p:txBody>
      </p:sp>
      <p:sp>
        <p:nvSpPr>
          <p:cNvPr id="34" name="Shape 32"/>
          <p:cNvSpPr/>
          <p:nvPr/>
        </p:nvSpPr>
        <p:spPr>
          <a:xfrm>
            <a:off x="1901952"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35" name="Text 33"/>
          <p:cNvSpPr/>
          <p:nvPr/>
        </p:nvSpPr>
        <p:spPr>
          <a:xfrm>
            <a:off x="1901952" y="3488436"/>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Pred: 0</a:t>
            </a:r>
            <a:endParaRPr lang="en-US" sz="800" dirty="0"/>
          </a:p>
        </p:txBody>
      </p:sp>
      <p:sp>
        <p:nvSpPr>
          <p:cNvPr id="36" name="Shape 34"/>
          <p:cNvSpPr/>
          <p:nvPr/>
        </p:nvSpPr>
        <p:spPr>
          <a:xfrm>
            <a:off x="2889504"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37" name="Text 35"/>
          <p:cNvSpPr/>
          <p:nvPr/>
        </p:nvSpPr>
        <p:spPr>
          <a:xfrm>
            <a:off x="2889504" y="3488436"/>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Pred: 1</a:t>
            </a:r>
            <a:endParaRPr lang="en-US" sz="800" dirty="0"/>
          </a:p>
        </p:txBody>
      </p:sp>
      <p:sp>
        <p:nvSpPr>
          <p:cNvPr id="38" name="Shape 36"/>
          <p:cNvSpPr/>
          <p:nvPr/>
        </p:nvSpPr>
        <p:spPr>
          <a:xfrm>
            <a:off x="914400" y="3927348"/>
            <a:ext cx="960120" cy="402336"/>
          </a:xfrm>
          <a:prstGeom prst="rect">
            <a:avLst/>
          </a:prstGeom>
          <a:solidFill>
            <a:srgbClr val="1E2761"/>
          </a:solidFill>
          <a:ln w="12700">
            <a:solidFill>
              <a:srgbClr val="D0D9EE"/>
            </a:solidFill>
            <a:prstDash val="solid"/>
          </a:ln>
        </p:spPr>
        <p:txBody>
          <a:bodyPr/>
          <a:lstStyle/>
          <a:p>
            <a:endParaRPr lang="it-IT"/>
          </a:p>
        </p:txBody>
      </p:sp>
      <p:sp>
        <p:nvSpPr>
          <p:cNvPr id="39" name="Text 37"/>
          <p:cNvSpPr/>
          <p:nvPr/>
        </p:nvSpPr>
        <p:spPr>
          <a:xfrm>
            <a:off x="914400" y="3927348"/>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Real: 0</a:t>
            </a:r>
            <a:endParaRPr lang="en-US" sz="800" dirty="0"/>
          </a:p>
        </p:txBody>
      </p:sp>
      <p:sp>
        <p:nvSpPr>
          <p:cNvPr id="40" name="Shape 38"/>
          <p:cNvSpPr/>
          <p:nvPr/>
        </p:nvSpPr>
        <p:spPr>
          <a:xfrm>
            <a:off x="1901952" y="3927348"/>
            <a:ext cx="960120" cy="402336"/>
          </a:xfrm>
          <a:prstGeom prst="rect">
            <a:avLst/>
          </a:prstGeom>
          <a:solidFill>
            <a:srgbClr val="2D9B6F"/>
          </a:solidFill>
          <a:ln w="12700">
            <a:solidFill>
              <a:srgbClr val="D0D9EE"/>
            </a:solidFill>
            <a:prstDash val="solid"/>
          </a:ln>
        </p:spPr>
        <p:txBody>
          <a:bodyPr/>
          <a:lstStyle/>
          <a:p>
            <a:endParaRPr lang="it-IT"/>
          </a:p>
        </p:txBody>
      </p:sp>
      <p:sp>
        <p:nvSpPr>
          <p:cNvPr id="41" name="Text 39"/>
          <p:cNvSpPr/>
          <p:nvPr/>
        </p:nvSpPr>
        <p:spPr>
          <a:xfrm>
            <a:off x="1901952" y="3927348"/>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3,171</a:t>
            </a:r>
            <a:endParaRPr lang="en-US" sz="1100" dirty="0"/>
          </a:p>
        </p:txBody>
      </p:sp>
      <p:sp>
        <p:nvSpPr>
          <p:cNvPr id="42" name="Shape 40"/>
          <p:cNvSpPr/>
          <p:nvPr/>
        </p:nvSpPr>
        <p:spPr>
          <a:xfrm>
            <a:off x="2889504" y="3927348"/>
            <a:ext cx="960120" cy="402336"/>
          </a:xfrm>
          <a:prstGeom prst="rect">
            <a:avLst/>
          </a:prstGeom>
          <a:solidFill>
            <a:srgbClr val="C0392B"/>
          </a:solidFill>
          <a:ln w="12700">
            <a:solidFill>
              <a:srgbClr val="D0D9EE"/>
            </a:solidFill>
            <a:prstDash val="solid"/>
          </a:ln>
        </p:spPr>
        <p:txBody>
          <a:bodyPr/>
          <a:lstStyle/>
          <a:p>
            <a:endParaRPr lang="it-IT"/>
          </a:p>
        </p:txBody>
      </p:sp>
      <p:sp>
        <p:nvSpPr>
          <p:cNvPr id="43" name="Text 41"/>
          <p:cNvSpPr/>
          <p:nvPr/>
        </p:nvSpPr>
        <p:spPr>
          <a:xfrm>
            <a:off x="2889504" y="3927348"/>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725</a:t>
            </a:r>
            <a:endParaRPr lang="en-US" sz="1100" dirty="0"/>
          </a:p>
        </p:txBody>
      </p:sp>
      <p:sp>
        <p:nvSpPr>
          <p:cNvPr id="44" name="Shape 42"/>
          <p:cNvSpPr/>
          <p:nvPr/>
        </p:nvSpPr>
        <p:spPr>
          <a:xfrm>
            <a:off x="914400" y="4366260"/>
            <a:ext cx="960120" cy="402336"/>
          </a:xfrm>
          <a:prstGeom prst="rect">
            <a:avLst/>
          </a:prstGeom>
          <a:solidFill>
            <a:srgbClr val="1E2761"/>
          </a:solidFill>
          <a:ln w="12700">
            <a:solidFill>
              <a:srgbClr val="D0D9EE"/>
            </a:solidFill>
            <a:prstDash val="solid"/>
          </a:ln>
        </p:spPr>
        <p:txBody>
          <a:bodyPr/>
          <a:lstStyle/>
          <a:p>
            <a:endParaRPr lang="it-IT"/>
          </a:p>
        </p:txBody>
      </p:sp>
      <p:sp>
        <p:nvSpPr>
          <p:cNvPr id="45" name="Text 43"/>
          <p:cNvSpPr/>
          <p:nvPr/>
        </p:nvSpPr>
        <p:spPr>
          <a:xfrm>
            <a:off x="914400" y="4366260"/>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Real: 1</a:t>
            </a:r>
            <a:endParaRPr lang="en-US" sz="800" dirty="0"/>
          </a:p>
        </p:txBody>
      </p:sp>
      <p:sp>
        <p:nvSpPr>
          <p:cNvPr id="46" name="Shape 44"/>
          <p:cNvSpPr/>
          <p:nvPr/>
        </p:nvSpPr>
        <p:spPr>
          <a:xfrm>
            <a:off x="1901952" y="4366260"/>
            <a:ext cx="960120" cy="402336"/>
          </a:xfrm>
          <a:prstGeom prst="rect">
            <a:avLst/>
          </a:prstGeom>
          <a:solidFill>
            <a:srgbClr val="C0392B"/>
          </a:solidFill>
          <a:ln w="12700">
            <a:solidFill>
              <a:srgbClr val="D0D9EE"/>
            </a:solidFill>
            <a:prstDash val="solid"/>
          </a:ln>
        </p:spPr>
        <p:txBody>
          <a:bodyPr/>
          <a:lstStyle/>
          <a:p>
            <a:endParaRPr lang="it-IT"/>
          </a:p>
        </p:txBody>
      </p:sp>
      <p:sp>
        <p:nvSpPr>
          <p:cNvPr id="47" name="Text 45"/>
          <p:cNvSpPr/>
          <p:nvPr/>
        </p:nvSpPr>
        <p:spPr>
          <a:xfrm>
            <a:off x="1901952" y="4366260"/>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756</a:t>
            </a:r>
            <a:endParaRPr lang="en-US" sz="1100" dirty="0"/>
          </a:p>
        </p:txBody>
      </p:sp>
      <p:sp>
        <p:nvSpPr>
          <p:cNvPr id="48" name="Shape 46"/>
          <p:cNvSpPr/>
          <p:nvPr/>
        </p:nvSpPr>
        <p:spPr>
          <a:xfrm>
            <a:off x="2889504" y="4366260"/>
            <a:ext cx="960120" cy="402336"/>
          </a:xfrm>
          <a:prstGeom prst="rect">
            <a:avLst/>
          </a:prstGeom>
          <a:solidFill>
            <a:srgbClr val="2D9B6F"/>
          </a:solidFill>
          <a:ln w="12700">
            <a:solidFill>
              <a:srgbClr val="D0D9EE"/>
            </a:solidFill>
            <a:prstDash val="solid"/>
          </a:ln>
        </p:spPr>
        <p:txBody>
          <a:bodyPr/>
          <a:lstStyle/>
          <a:p>
            <a:endParaRPr lang="it-IT"/>
          </a:p>
        </p:txBody>
      </p:sp>
      <p:sp>
        <p:nvSpPr>
          <p:cNvPr id="49" name="Text 47"/>
          <p:cNvSpPr/>
          <p:nvPr/>
        </p:nvSpPr>
        <p:spPr>
          <a:xfrm>
            <a:off x="2889504" y="4366260"/>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3,348</a:t>
            </a:r>
            <a:endParaRPr lang="en-US" sz="1100" dirty="0"/>
          </a:p>
        </p:txBody>
      </p:sp>
      <p:sp>
        <p:nvSpPr>
          <p:cNvPr id="50" name="Text 48"/>
          <p:cNvSpPr/>
          <p:nvPr/>
        </p:nvSpPr>
        <p:spPr>
          <a:xfrm>
            <a:off x="914400" y="4805172"/>
            <a:ext cx="2926080" cy="228600"/>
          </a:xfrm>
          <a:prstGeom prst="rect">
            <a:avLst/>
          </a:prstGeom>
          <a:noFill/>
          <a:ln/>
        </p:spPr>
        <p:txBody>
          <a:bodyPr wrap="square" lIns="0" tIns="0" rIns="0" bIns="0" rtlCol="0" anchor="ctr"/>
          <a:lstStyle/>
          <a:p>
            <a:pPr marL="0" indent="0" algn="ctr">
              <a:buNone/>
            </a:pPr>
            <a:r>
              <a:rPr lang="en-US" sz="850" i="1" dirty="0">
                <a:solidFill>
                  <a:srgbClr val="6B7A99"/>
                </a:solidFill>
                <a:latin typeface="Cambria" panose="02040503050406030204" pitchFamily="18" charset="0"/>
                <a:ea typeface="Cambria" panose="02040503050406030204" pitchFamily="18" charset="0"/>
              </a:rPr>
              <a:t>Balanced performance across both classes.</a:t>
            </a:r>
            <a:br>
              <a:rPr lang="en-US" sz="850" i="1" dirty="0">
                <a:solidFill>
                  <a:srgbClr val="6B7A99"/>
                </a:solidFill>
                <a:latin typeface="Cambria" panose="02040503050406030204" pitchFamily="18" charset="0"/>
                <a:ea typeface="Cambria" panose="02040503050406030204" pitchFamily="18" charset="0"/>
              </a:rPr>
            </a:br>
            <a:r>
              <a:rPr lang="en-US" sz="850" i="1" dirty="0">
                <a:solidFill>
                  <a:srgbClr val="6B7A99"/>
                </a:solidFill>
                <a:latin typeface="Cambria" panose="02040503050406030204" pitchFamily="18" charset="0"/>
                <a:ea typeface="Cambria" panose="02040503050406030204" pitchFamily="18" charset="0"/>
              </a:rPr>
              <a:t> AUC of 0.899 indicates strong discriminative ability.</a:t>
            </a:r>
            <a:endParaRPr lang="en-US" sz="850" dirty="0">
              <a:latin typeface="Cambria" panose="02040503050406030204" pitchFamily="18" charset="0"/>
              <a:ea typeface="Cambria" panose="02040503050406030204" pitchFamily="18" charset="0"/>
            </a:endParaRPr>
          </a:p>
        </p:txBody>
      </p:sp>
      <p:sp>
        <p:nvSpPr>
          <p:cNvPr id="51" name="Text 49"/>
          <p:cNvSpPr/>
          <p:nvPr/>
        </p:nvSpPr>
        <p:spPr>
          <a:xfrm>
            <a:off x="4709160" y="1078992"/>
            <a:ext cx="3977640" cy="274320"/>
          </a:xfrm>
          <a:prstGeom prst="rect">
            <a:avLst/>
          </a:prstGeom>
          <a:noFill/>
          <a:ln/>
        </p:spPr>
        <p:txBody>
          <a:bodyPr wrap="square" lIns="0" tIns="0" rIns="0" bIns="0" rtlCol="0" anchor="ctr"/>
          <a:lstStyle/>
          <a:p>
            <a:pPr algn="ctr"/>
            <a:r>
              <a:rPr lang="en-US" sz="1300" b="1" dirty="0">
                <a:solidFill>
                  <a:srgbClr val="1E2761"/>
                </a:solidFill>
                <a:latin typeface="Cambria" panose="02040503050406030204" pitchFamily="18" charset="0"/>
                <a:ea typeface="Cambria" panose="02040503050406030204" pitchFamily="18" charset="0"/>
              </a:rPr>
              <a:t>Dataset 2 – 87,1% churn rate</a:t>
            </a:r>
            <a:endParaRPr lang="en-US" sz="1300" dirty="0">
              <a:latin typeface="Cambria" panose="02040503050406030204" pitchFamily="18" charset="0"/>
              <a:ea typeface="Cambria" panose="02040503050406030204" pitchFamily="18" charset="0"/>
            </a:endParaRPr>
          </a:p>
        </p:txBody>
      </p:sp>
      <p:sp>
        <p:nvSpPr>
          <p:cNvPr id="52" name="Text 50"/>
          <p:cNvSpPr/>
          <p:nvPr/>
        </p:nvSpPr>
        <p:spPr>
          <a:xfrm>
            <a:off x="4709160" y="1299972"/>
            <a:ext cx="3977640" cy="128016"/>
          </a:xfrm>
          <a:prstGeom prst="rect">
            <a:avLst/>
          </a:prstGeom>
          <a:noFill/>
          <a:ln/>
        </p:spPr>
        <p:txBody>
          <a:bodyPr wrap="square" lIns="0" tIns="0" rIns="0" bIns="0" rtlCol="0" anchor="ctr"/>
          <a:lstStyle/>
          <a:p>
            <a:pPr marL="0" indent="0" algn="ctr">
              <a:buNone/>
            </a:pPr>
            <a:r>
              <a:rPr lang="en-US" sz="900" dirty="0">
                <a:solidFill>
                  <a:srgbClr val="6B7A99"/>
                </a:solidFill>
                <a:latin typeface="Cambria" panose="02040503050406030204" pitchFamily="18" charset="0"/>
                <a:ea typeface="Cambria" panose="02040503050406030204" pitchFamily="18" charset="0"/>
              </a:rPr>
              <a:t>Best model: Logistic Regression</a:t>
            </a:r>
            <a:endParaRPr lang="en-US" sz="900" dirty="0">
              <a:latin typeface="Cambria" panose="02040503050406030204" pitchFamily="18" charset="0"/>
              <a:ea typeface="Cambria" panose="02040503050406030204" pitchFamily="18" charset="0"/>
            </a:endParaRPr>
          </a:p>
        </p:txBody>
      </p:sp>
      <p:sp>
        <p:nvSpPr>
          <p:cNvPr id="53" name="Shape 51"/>
          <p:cNvSpPr/>
          <p:nvPr/>
        </p:nvSpPr>
        <p:spPr>
          <a:xfrm>
            <a:off x="4709160" y="1525524"/>
            <a:ext cx="3977640" cy="166420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54" name="Shape 52"/>
          <p:cNvSpPr/>
          <p:nvPr/>
        </p:nvSpPr>
        <p:spPr>
          <a:xfrm>
            <a:off x="4709160" y="1525524"/>
            <a:ext cx="45720" cy="1664208"/>
          </a:xfrm>
          <a:prstGeom prst="rect">
            <a:avLst/>
          </a:prstGeom>
          <a:solidFill>
            <a:srgbClr val="3A7BD5"/>
          </a:solidFill>
          <a:ln w="12700">
            <a:solidFill>
              <a:srgbClr val="3A7BD5"/>
            </a:solidFill>
            <a:prstDash val="solid"/>
          </a:ln>
        </p:spPr>
        <p:txBody>
          <a:bodyPr/>
          <a:lstStyle/>
          <a:p>
            <a:endParaRPr lang="it-IT"/>
          </a:p>
        </p:txBody>
      </p:sp>
      <p:sp>
        <p:nvSpPr>
          <p:cNvPr id="55" name="Text 53"/>
          <p:cNvSpPr/>
          <p:nvPr/>
        </p:nvSpPr>
        <p:spPr>
          <a:xfrm>
            <a:off x="4846320" y="1598676"/>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Accuracy</a:t>
            </a:r>
            <a:endParaRPr lang="en-US" sz="1100" dirty="0">
              <a:latin typeface="Cambria" panose="02040503050406030204" pitchFamily="18" charset="0"/>
              <a:ea typeface="Cambria" panose="02040503050406030204" pitchFamily="18" charset="0"/>
            </a:endParaRPr>
          </a:p>
        </p:txBody>
      </p:sp>
      <p:sp>
        <p:nvSpPr>
          <p:cNvPr id="56" name="Shape 54"/>
          <p:cNvSpPr/>
          <p:nvPr/>
        </p:nvSpPr>
        <p:spPr>
          <a:xfrm>
            <a:off x="6446520" y="1653540"/>
            <a:ext cx="1645920" cy="146304"/>
          </a:xfrm>
          <a:prstGeom prst="rect">
            <a:avLst/>
          </a:prstGeom>
          <a:solidFill>
            <a:srgbClr val="D0D9EE"/>
          </a:solidFill>
          <a:ln w="12700">
            <a:solidFill>
              <a:srgbClr val="D0D9EE"/>
            </a:solidFill>
            <a:prstDash val="solid"/>
          </a:ln>
        </p:spPr>
        <p:txBody>
          <a:bodyPr/>
          <a:lstStyle/>
          <a:p>
            <a:endParaRPr lang="it-IT"/>
          </a:p>
        </p:txBody>
      </p:sp>
      <p:sp>
        <p:nvSpPr>
          <p:cNvPr id="57" name="Shape 55"/>
          <p:cNvSpPr/>
          <p:nvPr/>
        </p:nvSpPr>
        <p:spPr>
          <a:xfrm>
            <a:off x="6446520" y="1653540"/>
            <a:ext cx="1474744" cy="146304"/>
          </a:xfrm>
          <a:prstGeom prst="rect">
            <a:avLst/>
          </a:prstGeom>
          <a:solidFill>
            <a:srgbClr val="3A7BD5"/>
          </a:solidFill>
          <a:ln w="12700">
            <a:solidFill>
              <a:srgbClr val="3A7BD5"/>
            </a:solidFill>
            <a:prstDash val="solid"/>
          </a:ln>
        </p:spPr>
        <p:txBody>
          <a:bodyPr/>
          <a:lstStyle/>
          <a:p>
            <a:endParaRPr lang="it-IT"/>
          </a:p>
        </p:txBody>
      </p:sp>
      <p:sp>
        <p:nvSpPr>
          <p:cNvPr id="58" name="Text 56"/>
          <p:cNvSpPr/>
          <p:nvPr/>
        </p:nvSpPr>
        <p:spPr>
          <a:xfrm>
            <a:off x="8138160" y="1598676"/>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89.6%</a:t>
            </a:r>
            <a:endParaRPr lang="en-US" sz="1000" dirty="0">
              <a:latin typeface="Cambria" panose="02040503050406030204" pitchFamily="18" charset="0"/>
              <a:ea typeface="Cambria" panose="02040503050406030204" pitchFamily="18" charset="0"/>
            </a:endParaRPr>
          </a:p>
        </p:txBody>
      </p:sp>
      <p:sp>
        <p:nvSpPr>
          <p:cNvPr id="59" name="Text 57"/>
          <p:cNvSpPr/>
          <p:nvPr/>
        </p:nvSpPr>
        <p:spPr>
          <a:xfrm>
            <a:off x="4846320" y="1900428"/>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Precision</a:t>
            </a:r>
            <a:endParaRPr lang="en-US" sz="1100" dirty="0">
              <a:latin typeface="Cambria" panose="02040503050406030204" pitchFamily="18" charset="0"/>
              <a:ea typeface="Cambria" panose="02040503050406030204" pitchFamily="18" charset="0"/>
            </a:endParaRPr>
          </a:p>
        </p:txBody>
      </p:sp>
      <p:sp>
        <p:nvSpPr>
          <p:cNvPr id="60" name="Shape 58"/>
          <p:cNvSpPr/>
          <p:nvPr/>
        </p:nvSpPr>
        <p:spPr>
          <a:xfrm>
            <a:off x="6446520" y="1955292"/>
            <a:ext cx="1645920" cy="146304"/>
          </a:xfrm>
          <a:prstGeom prst="rect">
            <a:avLst/>
          </a:prstGeom>
          <a:solidFill>
            <a:srgbClr val="D0D9EE"/>
          </a:solidFill>
          <a:ln w="12700">
            <a:solidFill>
              <a:srgbClr val="D0D9EE"/>
            </a:solidFill>
            <a:prstDash val="solid"/>
          </a:ln>
        </p:spPr>
        <p:txBody>
          <a:bodyPr/>
          <a:lstStyle/>
          <a:p>
            <a:endParaRPr lang="it-IT"/>
          </a:p>
        </p:txBody>
      </p:sp>
      <p:sp>
        <p:nvSpPr>
          <p:cNvPr id="61" name="Shape 59"/>
          <p:cNvSpPr/>
          <p:nvPr/>
        </p:nvSpPr>
        <p:spPr>
          <a:xfrm>
            <a:off x="6446520" y="1955292"/>
            <a:ext cx="1627815" cy="146304"/>
          </a:xfrm>
          <a:prstGeom prst="rect">
            <a:avLst/>
          </a:prstGeom>
          <a:solidFill>
            <a:srgbClr val="3A7BD5"/>
          </a:solidFill>
          <a:ln w="12700">
            <a:solidFill>
              <a:srgbClr val="3A7BD5"/>
            </a:solidFill>
            <a:prstDash val="solid"/>
          </a:ln>
        </p:spPr>
        <p:txBody>
          <a:bodyPr/>
          <a:lstStyle/>
          <a:p>
            <a:endParaRPr lang="it-IT"/>
          </a:p>
        </p:txBody>
      </p:sp>
      <p:sp>
        <p:nvSpPr>
          <p:cNvPr id="62" name="Text 60"/>
          <p:cNvSpPr/>
          <p:nvPr/>
        </p:nvSpPr>
        <p:spPr>
          <a:xfrm>
            <a:off x="8138160" y="1900428"/>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98.9%</a:t>
            </a:r>
            <a:endParaRPr lang="en-US" sz="1000" dirty="0">
              <a:latin typeface="Cambria" panose="02040503050406030204" pitchFamily="18" charset="0"/>
              <a:ea typeface="Cambria" panose="02040503050406030204" pitchFamily="18" charset="0"/>
            </a:endParaRPr>
          </a:p>
        </p:txBody>
      </p:sp>
      <p:sp>
        <p:nvSpPr>
          <p:cNvPr id="63" name="Text 61"/>
          <p:cNvSpPr/>
          <p:nvPr/>
        </p:nvSpPr>
        <p:spPr>
          <a:xfrm>
            <a:off x="4846320" y="2202180"/>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Recall</a:t>
            </a:r>
            <a:endParaRPr lang="en-US" sz="1100" dirty="0">
              <a:latin typeface="Cambria" panose="02040503050406030204" pitchFamily="18" charset="0"/>
              <a:ea typeface="Cambria" panose="02040503050406030204" pitchFamily="18" charset="0"/>
            </a:endParaRPr>
          </a:p>
        </p:txBody>
      </p:sp>
      <p:sp>
        <p:nvSpPr>
          <p:cNvPr id="64" name="Shape 62"/>
          <p:cNvSpPr/>
          <p:nvPr/>
        </p:nvSpPr>
        <p:spPr>
          <a:xfrm>
            <a:off x="6446520" y="2257044"/>
            <a:ext cx="1645920" cy="146304"/>
          </a:xfrm>
          <a:prstGeom prst="rect">
            <a:avLst/>
          </a:prstGeom>
          <a:solidFill>
            <a:srgbClr val="D0D9EE"/>
          </a:solidFill>
          <a:ln w="12700">
            <a:solidFill>
              <a:srgbClr val="D0D9EE"/>
            </a:solidFill>
            <a:prstDash val="solid"/>
          </a:ln>
        </p:spPr>
        <p:txBody>
          <a:bodyPr/>
          <a:lstStyle/>
          <a:p>
            <a:endParaRPr lang="it-IT"/>
          </a:p>
        </p:txBody>
      </p:sp>
      <p:sp>
        <p:nvSpPr>
          <p:cNvPr id="65" name="Shape 63"/>
          <p:cNvSpPr/>
          <p:nvPr/>
        </p:nvSpPr>
        <p:spPr>
          <a:xfrm>
            <a:off x="6446520" y="2257044"/>
            <a:ext cx="1466515" cy="146304"/>
          </a:xfrm>
          <a:prstGeom prst="rect">
            <a:avLst/>
          </a:prstGeom>
          <a:solidFill>
            <a:srgbClr val="3A7BD5"/>
          </a:solidFill>
          <a:ln w="12700">
            <a:solidFill>
              <a:srgbClr val="3A7BD5"/>
            </a:solidFill>
            <a:prstDash val="solid"/>
          </a:ln>
        </p:spPr>
        <p:txBody>
          <a:bodyPr/>
          <a:lstStyle/>
          <a:p>
            <a:endParaRPr lang="it-IT"/>
          </a:p>
        </p:txBody>
      </p:sp>
      <p:sp>
        <p:nvSpPr>
          <p:cNvPr id="66" name="Text 64"/>
          <p:cNvSpPr/>
          <p:nvPr/>
        </p:nvSpPr>
        <p:spPr>
          <a:xfrm>
            <a:off x="8138160" y="2202180"/>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89.1%</a:t>
            </a:r>
            <a:endParaRPr lang="en-US" sz="1000" dirty="0">
              <a:latin typeface="Cambria" panose="02040503050406030204" pitchFamily="18" charset="0"/>
              <a:ea typeface="Cambria" panose="02040503050406030204" pitchFamily="18" charset="0"/>
            </a:endParaRPr>
          </a:p>
        </p:txBody>
      </p:sp>
      <p:sp>
        <p:nvSpPr>
          <p:cNvPr id="67" name="Text 65"/>
          <p:cNvSpPr/>
          <p:nvPr/>
        </p:nvSpPr>
        <p:spPr>
          <a:xfrm>
            <a:off x="4846320" y="2503932"/>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F1 Score</a:t>
            </a:r>
            <a:endParaRPr lang="en-US" sz="1100" dirty="0">
              <a:latin typeface="Cambria" panose="02040503050406030204" pitchFamily="18" charset="0"/>
              <a:ea typeface="Cambria" panose="02040503050406030204" pitchFamily="18" charset="0"/>
            </a:endParaRPr>
          </a:p>
        </p:txBody>
      </p:sp>
      <p:sp>
        <p:nvSpPr>
          <p:cNvPr id="68" name="Shape 66"/>
          <p:cNvSpPr/>
          <p:nvPr/>
        </p:nvSpPr>
        <p:spPr>
          <a:xfrm>
            <a:off x="6446520" y="2558796"/>
            <a:ext cx="1645920" cy="146304"/>
          </a:xfrm>
          <a:prstGeom prst="rect">
            <a:avLst/>
          </a:prstGeom>
          <a:solidFill>
            <a:srgbClr val="D0D9EE"/>
          </a:solidFill>
          <a:ln w="12700">
            <a:solidFill>
              <a:srgbClr val="D0D9EE"/>
            </a:solidFill>
            <a:prstDash val="solid"/>
          </a:ln>
        </p:spPr>
        <p:txBody>
          <a:bodyPr/>
          <a:lstStyle/>
          <a:p>
            <a:endParaRPr lang="it-IT"/>
          </a:p>
        </p:txBody>
      </p:sp>
      <p:sp>
        <p:nvSpPr>
          <p:cNvPr id="69" name="Shape 67"/>
          <p:cNvSpPr/>
          <p:nvPr/>
        </p:nvSpPr>
        <p:spPr>
          <a:xfrm>
            <a:off x="6446520" y="2558796"/>
            <a:ext cx="1543873" cy="146304"/>
          </a:xfrm>
          <a:prstGeom prst="rect">
            <a:avLst/>
          </a:prstGeom>
          <a:solidFill>
            <a:srgbClr val="3A7BD5"/>
          </a:solidFill>
          <a:ln w="12700">
            <a:solidFill>
              <a:srgbClr val="3A7BD5"/>
            </a:solidFill>
            <a:prstDash val="solid"/>
          </a:ln>
        </p:spPr>
        <p:txBody>
          <a:bodyPr/>
          <a:lstStyle/>
          <a:p>
            <a:endParaRPr lang="it-IT"/>
          </a:p>
        </p:txBody>
      </p:sp>
      <p:sp>
        <p:nvSpPr>
          <p:cNvPr id="70" name="Text 68"/>
          <p:cNvSpPr/>
          <p:nvPr/>
        </p:nvSpPr>
        <p:spPr>
          <a:xfrm>
            <a:off x="8138160" y="2503932"/>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93.8%</a:t>
            </a:r>
            <a:endParaRPr lang="en-US" sz="1000" dirty="0">
              <a:latin typeface="Cambria" panose="02040503050406030204" pitchFamily="18" charset="0"/>
              <a:ea typeface="Cambria" panose="02040503050406030204" pitchFamily="18" charset="0"/>
            </a:endParaRPr>
          </a:p>
        </p:txBody>
      </p:sp>
      <p:sp>
        <p:nvSpPr>
          <p:cNvPr id="71" name="Text 69"/>
          <p:cNvSpPr/>
          <p:nvPr/>
        </p:nvSpPr>
        <p:spPr>
          <a:xfrm>
            <a:off x="4846320" y="2805684"/>
            <a:ext cx="1645920" cy="256032"/>
          </a:xfrm>
          <a:prstGeom prst="rect">
            <a:avLst/>
          </a:prstGeom>
          <a:noFill/>
          <a:ln/>
        </p:spPr>
        <p:txBody>
          <a:bodyPr wrap="square" lIns="0" tIns="0" rIns="0" bIns="0" rtlCol="0" anchor="ctr"/>
          <a:lstStyle/>
          <a:p>
            <a:pPr marL="0" indent="0">
              <a:buNone/>
            </a:pPr>
            <a:r>
              <a:rPr lang="en-US" sz="1100" dirty="0">
                <a:solidFill>
                  <a:srgbClr val="1A1A2E"/>
                </a:solidFill>
                <a:latin typeface="Cambria" panose="02040503050406030204" pitchFamily="18" charset="0"/>
                <a:ea typeface="Cambria" panose="02040503050406030204" pitchFamily="18" charset="0"/>
              </a:rPr>
              <a:t>ROC AUC</a:t>
            </a:r>
            <a:endParaRPr lang="en-US" sz="1100" dirty="0">
              <a:latin typeface="Cambria" panose="02040503050406030204" pitchFamily="18" charset="0"/>
              <a:ea typeface="Cambria" panose="02040503050406030204" pitchFamily="18" charset="0"/>
            </a:endParaRPr>
          </a:p>
        </p:txBody>
      </p:sp>
      <p:sp>
        <p:nvSpPr>
          <p:cNvPr id="72" name="Shape 70"/>
          <p:cNvSpPr/>
          <p:nvPr/>
        </p:nvSpPr>
        <p:spPr>
          <a:xfrm>
            <a:off x="6446520" y="2860548"/>
            <a:ext cx="1645920" cy="146304"/>
          </a:xfrm>
          <a:prstGeom prst="rect">
            <a:avLst/>
          </a:prstGeom>
          <a:solidFill>
            <a:srgbClr val="D0D9EE"/>
          </a:solidFill>
          <a:ln w="12700">
            <a:solidFill>
              <a:srgbClr val="D0D9EE"/>
            </a:solidFill>
            <a:prstDash val="solid"/>
          </a:ln>
        </p:spPr>
        <p:txBody>
          <a:bodyPr/>
          <a:lstStyle/>
          <a:p>
            <a:endParaRPr lang="it-IT"/>
          </a:p>
        </p:txBody>
      </p:sp>
      <p:sp>
        <p:nvSpPr>
          <p:cNvPr id="73" name="Shape 71"/>
          <p:cNvSpPr/>
          <p:nvPr/>
        </p:nvSpPr>
        <p:spPr>
          <a:xfrm>
            <a:off x="6446520" y="2860548"/>
            <a:ext cx="1594896" cy="146304"/>
          </a:xfrm>
          <a:prstGeom prst="rect">
            <a:avLst/>
          </a:prstGeom>
          <a:solidFill>
            <a:srgbClr val="3A7BD5"/>
          </a:solidFill>
          <a:ln w="12700">
            <a:solidFill>
              <a:srgbClr val="3A7BD5"/>
            </a:solidFill>
            <a:prstDash val="solid"/>
          </a:ln>
        </p:spPr>
        <p:txBody>
          <a:bodyPr/>
          <a:lstStyle/>
          <a:p>
            <a:endParaRPr lang="it-IT"/>
          </a:p>
        </p:txBody>
      </p:sp>
      <p:sp>
        <p:nvSpPr>
          <p:cNvPr id="74" name="Text 72"/>
          <p:cNvSpPr/>
          <p:nvPr/>
        </p:nvSpPr>
        <p:spPr>
          <a:xfrm>
            <a:off x="8138160" y="2805684"/>
            <a:ext cx="457200" cy="256032"/>
          </a:xfrm>
          <a:prstGeom prst="rect">
            <a:avLst/>
          </a:prstGeom>
          <a:noFill/>
          <a:ln/>
        </p:spPr>
        <p:txBody>
          <a:bodyPr wrap="square" lIns="0" tIns="0" rIns="0" bIns="0" rtlCol="0" anchor="ctr"/>
          <a:lstStyle/>
          <a:p>
            <a:pPr marL="0" indent="0" algn="r">
              <a:buNone/>
            </a:pPr>
            <a:r>
              <a:rPr lang="en-US" sz="1000" b="1" dirty="0">
                <a:solidFill>
                  <a:srgbClr val="1E2761"/>
                </a:solidFill>
                <a:latin typeface="Cambria" panose="02040503050406030204" pitchFamily="18" charset="0"/>
                <a:ea typeface="Cambria" panose="02040503050406030204" pitchFamily="18" charset="0"/>
              </a:rPr>
              <a:t>0.969</a:t>
            </a:r>
            <a:endParaRPr lang="en-US" sz="1000" dirty="0">
              <a:latin typeface="Cambria" panose="02040503050406030204" pitchFamily="18" charset="0"/>
              <a:ea typeface="Cambria" panose="02040503050406030204" pitchFamily="18" charset="0"/>
            </a:endParaRPr>
          </a:p>
        </p:txBody>
      </p:sp>
      <p:sp>
        <p:nvSpPr>
          <p:cNvPr id="75" name="Text 73"/>
          <p:cNvSpPr/>
          <p:nvPr/>
        </p:nvSpPr>
        <p:spPr>
          <a:xfrm>
            <a:off x="5166360" y="3232404"/>
            <a:ext cx="2926080" cy="228600"/>
          </a:xfrm>
          <a:prstGeom prst="rect">
            <a:avLst/>
          </a:prstGeom>
          <a:noFill/>
          <a:ln/>
        </p:spPr>
        <p:txBody>
          <a:bodyPr wrap="square" lIns="0" tIns="0" rIns="0" bIns="0" rtlCol="0" anchor="ctr"/>
          <a:lstStyle/>
          <a:p>
            <a:pPr marL="0" indent="0" algn="ctr">
              <a:buNone/>
            </a:pPr>
            <a:r>
              <a:rPr lang="en-US" sz="900" b="1" kern="0" spc="100" dirty="0">
                <a:solidFill>
                  <a:srgbClr val="6B7A99"/>
                </a:solidFill>
                <a:latin typeface="Cambria" panose="02040503050406030204" pitchFamily="18" charset="0"/>
                <a:ea typeface="Cambria" panose="02040503050406030204" pitchFamily="18" charset="0"/>
              </a:rPr>
              <a:t>Confusion Matrix</a:t>
            </a:r>
            <a:endParaRPr lang="en-US" sz="900" dirty="0">
              <a:latin typeface="Cambria" panose="02040503050406030204" pitchFamily="18" charset="0"/>
              <a:ea typeface="Cambria" panose="02040503050406030204" pitchFamily="18" charset="0"/>
            </a:endParaRPr>
          </a:p>
        </p:txBody>
      </p:sp>
      <p:sp>
        <p:nvSpPr>
          <p:cNvPr id="76" name="Shape 74"/>
          <p:cNvSpPr/>
          <p:nvPr/>
        </p:nvSpPr>
        <p:spPr>
          <a:xfrm>
            <a:off x="5166360"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77" name="Text 75"/>
          <p:cNvSpPr/>
          <p:nvPr/>
        </p:nvSpPr>
        <p:spPr>
          <a:xfrm>
            <a:off x="5166360" y="3488436"/>
            <a:ext cx="960120" cy="402336"/>
          </a:xfrm>
          <a:prstGeom prst="rect">
            <a:avLst/>
          </a:prstGeom>
          <a:noFill/>
          <a:ln/>
        </p:spPr>
        <p:txBody>
          <a:bodyPr wrap="square" lIns="0" tIns="0" rIns="0" bIns="0" rtlCol="0" anchor="ctr"/>
          <a:lstStyle/>
          <a:p>
            <a:pPr marL="0" indent="0" algn="ctr">
              <a:buNone/>
            </a:pPr>
            <a:endParaRPr lang="en-US" sz="800" dirty="0"/>
          </a:p>
        </p:txBody>
      </p:sp>
      <p:sp>
        <p:nvSpPr>
          <p:cNvPr id="78" name="Shape 76"/>
          <p:cNvSpPr/>
          <p:nvPr/>
        </p:nvSpPr>
        <p:spPr>
          <a:xfrm>
            <a:off x="6153912"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79" name="Text 77"/>
          <p:cNvSpPr/>
          <p:nvPr/>
        </p:nvSpPr>
        <p:spPr>
          <a:xfrm>
            <a:off x="6153912" y="3488436"/>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Pred: 0</a:t>
            </a:r>
            <a:endParaRPr lang="en-US" sz="800" dirty="0"/>
          </a:p>
        </p:txBody>
      </p:sp>
      <p:sp>
        <p:nvSpPr>
          <p:cNvPr id="80" name="Shape 78"/>
          <p:cNvSpPr/>
          <p:nvPr/>
        </p:nvSpPr>
        <p:spPr>
          <a:xfrm>
            <a:off x="7141464" y="3488436"/>
            <a:ext cx="960120" cy="402336"/>
          </a:xfrm>
          <a:prstGeom prst="rect">
            <a:avLst/>
          </a:prstGeom>
          <a:solidFill>
            <a:srgbClr val="1E2761"/>
          </a:solidFill>
          <a:ln w="12700">
            <a:solidFill>
              <a:srgbClr val="D0D9EE"/>
            </a:solidFill>
            <a:prstDash val="solid"/>
          </a:ln>
        </p:spPr>
        <p:txBody>
          <a:bodyPr/>
          <a:lstStyle/>
          <a:p>
            <a:endParaRPr lang="it-IT"/>
          </a:p>
        </p:txBody>
      </p:sp>
      <p:sp>
        <p:nvSpPr>
          <p:cNvPr id="81" name="Text 79"/>
          <p:cNvSpPr/>
          <p:nvPr/>
        </p:nvSpPr>
        <p:spPr>
          <a:xfrm>
            <a:off x="7141464" y="3488436"/>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Pred: 1</a:t>
            </a:r>
            <a:endParaRPr lang="en-US" sz="800" dirty="0"/>
          </a:p>
        </p:txBody>
      </p:sp>
      <p:sp>
        <p:nvSpPr>
          <p:cNvPr id="82" name="Shape 80"/>
          <p:cNvSpPr/>
          <p:nvPr/>
        </p:nvSpPr>
        <p:spPr>
          <a:xfrm>
            <a:off x="5166360" y="3927348"/>
            <a:ext cx="960120" cy="402336"/>
          </a:xfrm>
          <a:prstGeom prst="rect">
            <a:avLst/>
          </a:prstGeom>
          <a:solidFill>
            <a:srgbClr val="1E2761"/>
          </a:solidFill>
          <a:ln w="12700">
            <a:solidFill>
              <a:srgbClr val="D0D9EE"/>
            </a:solidFill>
            <a:prstDash val="solid"/>
          </a:ln>
        </p:spPr>
        <p:txBody>
          <a:bodyPr/>
          <a:lstStyle/>
          <a:p>
            <a:endParaRPr lang="it-IT"/>
          </a:p>
        </p:txBody>
      </p:sp>
      <p:sp>
        <p:nvSpPr>
          <p:cNvPr id="83" name="Text 81"/>
          <p:cNvSpPr/>
          <p:nvPr/>
        </p:nvSpPr>
        <p:spPr>
          <a:xfrm>
            <a:off x="5166360" y="3927348"/>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Real: 0</a:t>
            </a:r>
            <a:endParaRPr lang="en-US" sz="800" dirty="0"/>
          </a:p>
        </p:txBody>
      </p:sp>
      <p:sp>
        <p:nvSpPr>
          <p:cNvPr id="84" name="Shape 82"/>
          <p:cNvSpPr/>
          <p:nvPr/>
        </p:nvSpPr>
        <p:spPr>
          <a:xfrm>
            <a:off x="6153912" y="3927348"/>
            <a:ext cx="960120" cy="402336"/>
          </a:xfrm>
          <a:prstGeom prst="rect">
            <a:avLst/>
          </a:prstGeom>
          <a:solidFill>
            <a:srgbClr val="2D9B6F"/>
          </a:solidFill>
          <a:ln w="12700">
            <a:solidFill>
              <a:srgbClr val="D0D9EE"/>
            </a:solidFill>
            <a:prstDash val="solid"/>
          </a:ln>
        </p:spPr>
        <p:txBody>
          <a:bodyPr/>
          <a:lstStyle/>
          <a:p>
            <a:endParaRPr lang="it-IT"/>
          </a:p>
        </p:txBody>
      </p:sp>
      <p:sp>
        <p:nvSpPr>
          <p:cNvPr id="85" name="Text 83"/>
          <p:cNvSpPr/>
          <p:nvPr/>
        </p:nvSpPr>
        <p:spPr>
          <a:xfrm>
            <a:off x="6153912" y="3927348"/>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1,134</a:t>
            </a:r>
            <a:endParaRPr lang="en-US" sz="1100" dirty="0"/>
          </a:p>
        </p:txBody>
      </p:sp>
      <p:sp>
        <p:nvSpPr>
          <p:cNvPr id="86" name="Shape 84"/>
          <p:cNvSpPr/>
          <p:nvPr/>
        </p:nvSpPr>
        <p:spPr>
          <a:xfrm>
            <a:off x="7141464" y="3927348"/>
            <a:ext cx="960120" cy="402336"/>
          </a:xfrm>
          <a:prstGeom prst="rect">
            <a:avLst/>
          </a:prstGeom>
          <a:solidFill>
            <a:srgbClr val="C0392B"/>
          </a:solidFill>
          <a:ln w="12700">
            <a:solidFill>
              <a:srgbClr val="D0D9EE"/>
            </a:solidFill>
            <a:prstDash val="solid"/>
          </a:ln>
        </p:spPr>
        <p:txBody>
          <a:bodyPr/>
          <a:lstStyle/>
          <a:p>
            <a:endParaRPr lang="it-IT"/>
          </a:p>
        </p:txBody>
      </p:sp>
      <p:sp>
        <p:nvSpPr>
          <p:cNvPr id="87" name="Text 85"/>
          <p:cNvSpPr/>
          <p:nvPr/>
        </p:nvSpPr>
        <p:spPr>
          <a:xfrm>
            <a:off x="7141464" y="3927348"/>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82</a:t>
            </a:r>
            <a:endParaRPr lang="en-US" sz="1100" dirty="0"/>
          </a:p>
        </p:txBody>
      </p:sp>
      <p:sp>
        <p:nvSpPr>
          <p:cNvPr id="88" name="Shape 86"/>
          <p:cNvSpPr/>
          <p:nvPr/>
        </p:nvSpPr>
        <p:spPr>
          <a:xfrm>
            <a:off x="5166360" y="4366260"/>
            <a:ext cx="960120" cy="402336"/>
          </a:xfrm>
          <a:prstGeom prst="rect">
            <a:avLst/>
          </a:prstGeom>
          <a:solidFill>
            <a:srgbClr val="1E2761"/>
          </a:solidFill>
          <a:ln w="12700">
            <a:solidFill>
              <a:srgbClr val="D0D9EE"/>
            </a:solidFill>
            <a:prstDash val="solid"/>
          </a:ln>
        </p:spPr>
        <p:txBody>
          <a:bodyPr/>
          <a:lstStyle/>
          <a:p>
            <a:endParaRPr lang="it-IT"/>
          </a:p>
        </p:txBody>
      </p:sp>
      <p:sp>
        <p:nvSpPr>
          <p:cNvPr id="89" name="Text 87"/>
          <p:cNvSpPr/>
          <p:nvPr/>
        </p:nvSpPr>
        <p:spPr>
          <a:xfrm>
            <a:off x="5166360" y="4366260"/>
            <a:ext cx="960120" cy="402336"/>
          </a:xfrm>
          <a:prstGeom prst="rect">
            <a:avLst/>
          </a:prstGeom>
          <a:noFill/>
          <a:ln/>
        </p:spPr>
        <p:txBody>
          <a:bodyPr wrap="square" lIns="0" tIns="0" rIns="0" bIns="0" rtlCol="0" anchor="ctr"/>
          <a:lstStyle/>
          <a:p>
            <a:pPr marL="0" indent="0" algn="ctr">
              <a:buNone/>
            </a:pPr>
            <a:r>
              <a:rPr lang="en-US" sz="800" dirty="0">
                <a:solidFill>
                  <a:srgbClr val="CADCFC"/>
                </a:solidFill>
              </a:rPr>
              <a:t>Real: 1</a:t>
            </a:r>
            <a:endParaRPr lang="en-US" sz="800" dirty="0"/>
          </a:p>
        </p:txBody>
      </p:sp>
      <p:sp>
        <p:nvSpPr>
          <p:cNvPr id="90" name="Shape 88"/>
          <p:cNvSpPr/>
          <p:nvPr/>
        </p:nvSpPr>
        <p:spPr>
          <a:xfrm>
            <a:off x="6153912" y="4366260"/>
            <a:ext cx="960120" cy="402336"/>
          </a:xfrm>
          <a:prstGeom prst="rect">
            <a:avLst/>
          </a:prstGeom>
          <a:solidFill>
            <a:srgbClr val="C0392B"/>
          </a:solidFill>
          <a:ln w="12700">
            <a:solidFill>
              <a:srgbClr val="D0D9EE"/>
            </a:solidFill>
            <a:prstDash val="solid"/>
          </a:ln>
        </p:spPr>
        <p:txBody>
          <a:bodyPr/>
          <a:lstStyle/>
          <a:p>
            <a:endParaRPr lang="it-IT"/>
          </a:p>
        </p:txBody>
      </p:sp>
      <p:sp>
        <p:nvSpPr>
          <p:cNvPr id="91" name="Text 89"/>
          <p:cNvSpPr/>
          <p:nvPr/>
        </p:nvSpPr>
        <p:spPr>
          <a:xfrm>
            <a:off x="6153912" y="4366260"/>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958</a:t>
            </a:r>
            <a:endParaRPr lang="en-US" sz="1100" dirty="0"/>
          </a:p>
        </p:txBody>
      </p:sp>
      <p:sp>
        <p:nvSpPr>
          <p:cNvPr id="92" name="Shape 90"/>
          <p:cNvSpPr/>
          <p:nvPr/>
        </p:nvSpPr>
        <p:spPr>
          <a:xfrm>
            <a:off x="7141464" y="4366260"/>
            <a:ext cx="960120" cy="402336"/>
          </a:xfrm>
          <a:prstGeom prst="rect">
            <a:avLst/>
          </a:prstGeom>
          <a:solidFill>
            <a:srgbClr val="2D9B6F"/>
          </a:solidFill>
          <a:ln w="12700">
            <a:solidFill>
              <a:srgbClr val="D0D9EE"/>
            </a:solidFill>
            <a:prstDash val="solid"/>
          </a:ln>
        </p:spPr>
        <p:txBody>
          <a:bodyPr/>
          <a:lstStyle/>
          <a:p>
            <a:endParaRPr lang="it-IT"/>
          </a:p>
        </p:txBody>
      </p:sp>
      <p:sp>
        <p:nvSpPr>
          <p:cNvPr id="93" name="Text 91"/>
          <p:cNvSpPr/>
          <p:nvPr/>
        </p:nvSpPr>
        <p:spPr>
          <a:xfrm>
            <a:off x="7141464" y="4366260"/>
            <a:ext cx="960120" cy="402336"/>
          </a:xfrm>
          <a:prstGeom prst="rect">
            <a:avLst/>
          </a:prstGeom>
          <a:noFill/>
          <a:ln/>
        </p:spPr>
        <p:txBody>
          <a:bodyPr wrap="square" lIns="0" tIns="0" rIns="0" bIns="0" rtlCol="0" anchor="ctr"/>
          <a:lstStyle/>
          <a:p>
            <a:pPr marL="0" indent="0" algn="ctr">
              <a:buNone/>
            </a:pPr>
            <a:r>
              <a:rPr lang="en-US" sz="1100" b="1" dirty="0">
                <a:solidFill>
                  <a:srgbClr val="FFFFFF"/>
                </a:solidFill>
              </a:rPr>
              <a:t>7,826</a:t>
            </a:r>
            <a:endParaRPr lang="en-US" sz="1100" dirty="0"/>
          </a:p>
        </p:txBody>
      </p:sp>
      <p:sp>
        <p:nvSpPr>
          <p:cNvPr id="94" name="Text 92"/>
          <p:cNvSpPr/>
          <p:nvPr/>
        </p:nvSpPr>
        <p:spPr>
          <a:xfrm>
            <a:off x="5166360" y="4817364"/>
            <a:ext cx="2935224" cy="182880"/>
          </a:xfrm>
          <a:prstGeom prst="rect">
            <a:avLst/>
          </a:prstGeom>
          <a:noFill/>
          <a:ln/>
        </p:spPr>
        <p:txBody>
          <a:bodyPr wrap="square" lIns="0" tIns="0" rIns="0" bIns="0" rtlCol="0" anchor="ctr"/>
          <a:lstStyle/>
          <a:p>
            <a:pPr marL="0" indent="0" algn="ctr">
              <a:buNone/>
            </a:pPr>
            <a:r>
              <a:rPr lang="en-US" sz="850" i="1" dirty="0">
                <a:solidFill>
                  <a:srgbClr val="6B7A99"/>
                </a:solidFill>
                <a:latin typeface="Cambria" panose="02040503050406030204" pitchFamily="18" charset="0"/>
                <a:ea typeface="Cambria" panose="02040503050406030204" pitchFamily="18" charset="0"/>
              </a:rPr>
              <a:t>Higher churn base rate yields a stronger signal. </a:t>
            </a:r>
            <a:br>
              <a:rPr lang="en-US" sz="850" i="1" dirty="0">
                <a:solidFill>
                  <a:srgbClr val="6B7A99"/>
                </a:solidFill>
                <a:latin typeface="Cambria" panose="02040503050406030204" pitchFamily="18" charset="0"/>
                <a:ea typeface="Cambria" panose="02040503050406030204" pitchFamily="18" charset="0"/>
              </a:rPr>
            </a:br>
            <a:r>
              <a:rPr lang="en-US" sz="850" i="1" dirty="0">
                <a:solidFill>
                  <a:srgbClr val="6B7A99"/>
                </a:solidFill>
                <a:latin typeface="Cambria" panose="02040503050406030204" pitchFamily="18" charset="0"/>
                <a:ea typeface="Cambria" panose="02040503050406030204" pitchFamily="18" charset="0"/>
              </a:rPr>
              <a:t>Precision of 98.9%, very few false positives.</a:t>
            </a:r>
            <a:endParaRPr lang="en-US" sz="850"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2761"/>
          </a:solidFill>
          <a:ln w="12700">
            <a:solidFill>
              <a:srgbClr val="1E2761"/>
            </a:solidFill>
            <a:prstDash val="solid"/>
          </a:ln>
        </p:spPr>
        <p:txBody>
          <a:bodyPr/>
          <a:lstStyle/>
          <a:p>
            <a:endParaRPr lang="it-IT" dirty="0"/>
          </a:p>
        </p:txBody>
      </p:sp>
      <p:sp>
        <p:nvSpPr>
          <p:cNvPr id="3" name="Shape 1"/>
          <p:cNvSpPr/>
          <p:nvPr/>
        </p:nvSpPr>
        <p:spPr>
          <a:xfrm>
            <a:off x="8183880" y="201168"/>
            <a:ext cx="502920" cy="502920"/>
          </a:xfrm>
          <a:prstGeom prst="rect">
            <a:avLst/>
          </a:prstGeom>
          <a:solidFill>
            <a:srgbClr val="2A3880"/>
          </a:solidFill>
          <a:ln w="12700">
            <a:solidFill>
              <a:srgbClr val="2A3880"/>
            </a:solidFill>
            <a:prstDash val="solid"/>
          </a:ln>
        </p:spPr>
        <p:txBody>
          <a:bodyPr/>
          <a:lstStyle/>
          <a:p>
            <a:endParaRPr lang="it-IT"/>
          </a:p>
        </p:txBody>
      </p:sp>
      <p:sp>
        <p:nvSpPr>
          <p:cNvPr id="4" name="Text 2"/>
          <p:cNvSpPr/>
          <p:nvPr/>
        </p:nvSpPr>
        <p:spPr>
          <a:xfrm>
            <a:off x="8183880" y="201168"/>
            <a:ext cx="502920" cy="502920"/>
          </a:xfrm>
          <a:prstGeom prst="rect">
            <a:avLst/>
          </a:prstGeom>
          <a:noFill/>
          <a:ln/>
        </p:spPr>
        <p:txBody>
          <a:bodyPr wrap="square" lIns="0" tIns="0" rIns="0" bIns="0" rtlCol="0" anchor="ctr"/>
          <a:lstStyle/>
          <a:p>
            <a:pPr marL="0" indent="0" algn="ctr">
              <a:buNone/>
            </a:pPr>
            <a:r>
              <a:rPr lang="en-US" sz="1300" b="1" dirty="0">
                <a:solidFill>
                  <a:srgbClr val="CADCFC"/>
                </a:solidFill>
              </a:rPr>
              <a:t>05</a:t>
            </a:r>
            <a:endParaRPr lang="en-US" sz="1300" dirty="0"/>
          </a:p>
        </p:txBody>
      </p:sp>
      <p:sp>
        <p:nvSpPr>
          <p:cNvPr id="5" name="Text 3"/>
          <p:cNvSpPr/>
          <p:nvPr/>
        </p:nvSpPr>
        <p:spPr>
          <a:xfrm>
            <a:off x="457200" y="146304"/>
            <a:ext cx="7589520" cy="237744"/>
          </a:xfrm>
          <a:prstGeom prst="rect">
            <a:avLst/>
          </a:prstGeom>
          <a:noFill/>
          <a:ln/>
        </p:spPr>
        <p:txBody>
          <a:bodyPr wrap="square" lIns="0" tIns="0" rIns="0" bIns="0" rtlCol="0" anchor="ctr"/>
          <a:lstStyle/>
          <a:p>
            <a:pPr marL="0" indent="0" algn="l">
              <a:buNone/>
            </a:pPr>
            <a:r>
              <a:rPr lang="en-US" sz="800" b="1" kern="0" spc="200" dirty="0">
                <a:solidFill>
                  <a:srgbClr val="CADCFC"/>
                </a:solidFill>
                <a:latin typeface="Cambria" panose="02040503050406030204" pitchFamily="18" charset="0"/>
                <a:ea typeface="Cambria" panose="02040503050406030204" pitchFamily="18" charset="0"/>
              </a:rPr>
              <a:t>STEP 5 — FEATURE IMPORTANCE &amp; CONCLUSIONS</a:t>
            </a:r>
            <a:endParaRPr lang="en-US" sz="800" dirty="0">
              <a:latin typeface="Cambria" panose="02040503050406030204" pitchFamily="18" charset="0"/>
              <a:ea typeface="Cambria" panose="02040503050406030204" pitchFamily="18" charset="0"/>
            </a:endParaRPr>
          </a:p>
        </p:txBody>
      </p:sp>
      <p:sp>
        <p:nvSpPr>
          <p:cNvPr id="6" name="Text 4"/>
          <p:cNvSpPr/>
          <p:nvPr/>
        </p:nvSpPr>
        <p:spPr>
          <a:xfrm>
            <a:off x="457200" y="402336"/>
            <a:ext cx="758952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EucrosiaUPC" panose="02020603050405020304" pitchFamily="18" charset="-34"/>
                <a:ea typeface="Calibri" pitchFamily="34" charset="-122"/>
                <a:cs typeface="EucrosiaUPC" panose="02020603050405020304" pitchFamily="18" charset="-34"/>
              </a:rPr>
              <a:t>Interpretation &amp; Key Takeaways</a:t>
            </a:r>
            <a:endParaRPr lang="en-US" sz="2800" dirty="0">
              <a:latin typeface="EucrosiaUPC" panose="02020603050405020304" pitchFamily="18" charset="-34"/>
              <a:cs typeface="EucrosiaUPC" panose="02020603050405020304" pitchFamily="18" charset="-34"/>
            </a:endParaRPr>
          </a:p>
        </p:txBody>
      </p:sp>
      <p:sp>
        <p:nvSpPr>
          <p:cNvPr id="7" name="Text 5"/>
          <p:cNvSpPr/>
          <p:nvPr/>
        </p:nvSpPr>
        <p:spPr>
          <a:xfrm>
            <a:off x="457200" y="1097280"/>
            <a:ext cx="4114800" cy="274320"/>
          </a:xfrm>
          <a:prstGeom prst="rect">
            <a:avLst/>
          </a:prstGeom>
          <a:noFill/>
          <a:ln/>
        </p:spPr>
        <p:txBody>
          <a:bodyPr wrap="square" lIns="0" tIns="0" rIns="0" bIns="0" rtlCol="0" anchor="ctr"/>
          <a:lstStyle/>
          <a:p>
            <a:pPr marL="0" indent="0">
              <a:buNone/>
            </a:pPr>
            <a:r>
              <a:rPr lang="en-US" sz="1300" b="1" dirty="0">
                <a:solidFill>
                  <a:srgbClr val="1E2761"/>
                </a:solidFill>
                <a:latin typeface="Cambria" panose="02040503050406030204" pitchFamily="18" charset="0"/>
                <a:ea typeface="Cambria" panose="02040503050406030204" pitchFamily="18" charset="0"/>
              </a:rPr>
              <a:t>Top Predictive Features</a:t>
            </a:r>
            <a:endParaRPr lang="en-US" sz="1300" dirty="0">
              <a:latin typeface="Cambria" panose="02040503050406030204" pitchFamily="18" charset="0"/>
              <a:ea typeface="Cambria" panose="02040503050406030204" pitchFamily="18" charset="0"/>
            </a:endParaRPr>
          </a:p>
        </p:txBody>
      </p:sp>
      <p:sp>
        <p:nvSpPr>
          <p:cNvPr id="8" name="Text 6"/>
          <p:cNvSpPr/>
          <p:nvPr/>
        </p:nvSpPr>
        <p:spPr>
          <a:xfrm>
            <a:off x="457200" y="1339596"/>
            <a:ext cx="4114800" cy="121920"/>
          </a:xfrm>
          <a:prstGeom prst="rect">
            <a:avLst/>
          </a:prstGeom>
          <a:noFill/>
          <a:ln/>
        </p:spPr>
        <p:txBody>
          <a:bodyPr wrap="square" lIns="0" tIns="0" rIns="0" bIns="0" rtlCol="0" anchor="ctr"/>
          <a:lstStyle/>
          <a:p>
            <a:pPr marL="0" indent="0">
              <a:buNone/>
            </a:pPr>
            <a:r>
              <a:rPr lang="en-US" sz="900" i="1" dirty="0">
                <a:solidFill>
                  <a:srgbClr val="6B7A99"/>
                </a:solidFill>
                <a:latin typeface="Cambria" panose="02040503050406030204" pitchFamily="18" charset="0"/>
                <a:ea typeface="Cambria" panose="02040503050406030204" pitchFamily="18" charset="0"/>
              </a:rPr>
              <a:t>Logistic Regression coefficient magnitudes (normalised, Dataset 1)</a:t>
            </a:r>
            <a:endParaRPr lang="en-US" sz="900" dirty="0">
              <a:latin typeface="Cambria" panose="02040503050406030204" pitchFamily="18" charset="0"/>
              <a:ea typeface="Cambria" panose="02040503050406030204" pitchFamily="18" charset="0"/>
            </a:endParaRPr>
          </a:p>
        </p:txBody>
      </p:sp>
      <p:sp>
        <p:nvSpPr>
          <p:cNvPr id="29" name="Text 27"/>
          <p:cNvSpPr/>
          <p:nvPr/>
        </p:nvSpPr>
        <p:spPr>
          <a:xfrm>
            <a:off x="457200" y="4570476"/>
            <a:ext cx="3646249" cy="202692"/>
          </a:xfrm>
          <a:prstGeom prst="rect">
            <a:avLst/>
          </a:prstGeom>
          <a:noFill/>
          <a:ln/>
        </p:spPr>
        <p:txBody>
          <a:bodyPr wrap="square" lIns="0" tIns="0" rIns="0" bIns="0" rtlCol="0" anchor="ctr"/>
          <a:lstStyle/>
          <a:p>
            <a:pPr marL="0" indent="0">
              <a:lnSpc>
                <a:spcPct val="130000"/>
              </a:lnSpc>
              <a:buNone/>
            </a:pPr>
            <a:r>
              <a:rPr lang="en-US" sz="900" i="1" dirty="0">
                <a:solidFill>
                  <a:srgbClr val="6B7A99"/>
                </a:solidFill>
                <a:latin typeface="Cambria" panose="02040503050406030204" pitchFamily="18" charset="0"/>
                <a:ea typeface="Cambria" panose="02040503050406030204" pitchFamily="18" charset="0"/>
              </a:rPr>
              <a:t>The top 5 features account for most of the predictive weight.</a:t>
            </a:r>
          </a:p>
        </p:txBody>
      </p:sp>
      <p:sp>
        <p:nvSpPr>
          <p:cNvPr id="30" name="Text 28"/>
          <p:cNvSpPr/>
          <p:nvPr/>
        </p:nvSpPr>
        <p:spPr>
          <a:xfrm>
            <a:off x="4846320" y="1097280"/>
            <a:ext cx="3840480" cy="274320"/>
          </a:xfrm>
          <a:prstGeom prst="rect">
            <a:avLst/>
          </a:prstGeom>
          <a:noFill/>
          <a:ln/>
        </p:spPr>
        <p:txBody>
          <a:bodyPr wrap="square" lIns="0" tIns="0" rIns="0" bIns="0" rtlCol="0" anchor="ctr"/>
          <a:lstStyle/>
          <a:p>
            <a:pPr marL="0" indent="0">
              <a:buNone/>
            </a:pPr>
            <a:r>
              <a:rPr lang="en-US" sz="1300" b="1" dirty="0">
                <a:solidFill>
                  <a:srgbClr val="1E2761"/>
                </a:solidFill>
                <a:latin typeface="Cambria" panose="02040503050406030204" pitchFamily="18" charset="0"/>
                <a:ea typeface="Cambria" panose="02040503050406030204" pitchFamily="18" charset="0"/>
              </a:rPr>
              <a:t>Conclusions</a:t>
            </a:r>
            <a:endParaRPr lang="en-US" sz="1300" dirty="0">
              <a:latin typeface="Cambria" panose="02040503050406030204" pitchFamily="18" charset="0"/>
              <a:ea typeface="Cambria" panose="02040503050406030204" pitchFamily="18" charset="0"/>
            </a:endParaRPr>
          </a:p>
        </p:txBody>
      </p:sp>
      <p:sp>
        <p:nvSpPr>
          <p:cNvPr id="31" name="Shape 29"/>
          <p:cNvSpPr/>
          <p:nvPr/>
        </p:nvSpPr>
        <p:spPr>
          <a:xfrm>
            <a:off x="4846320" y="1481328"/>
            <a:ext cx="3840480" cy="102412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32" name="Shape 30"/>
          <p:cNvSpPr/>
          <p:nvPr/>
        </p:nvSpPr>
        <p:spPr>
          <a:xfrm>
            <a:off x="4846320" y="1481328"/>
            <a:ext cx="45720" cy="1024128"/>
          </a:xfrm>
          <a:prstGeom prst="rect">
            <a:avLst/>
          </a:prstGeom>
          <a:solidFill>
            <a:srgbClr val="3A7BD5"/>
          </a:solidFill>
          <a:ln w="12700">
            <a:solidFill>
              <a:srgbClr val="3A7BD5"/>
            </a:solidFill>
            <a:prstDash val="solid"/>
          </a:ln>
        </p:spPr>
        <p:txBody>
          <a:bodyPr/>
          <a:lstStyle/>
          <a:p>
            <a:endParaRPr lang="it-IT"/>
          </a:p>
        </p:txBody>
      </p:sp>
      <p:sp>
        <p:nvSpPr>
          <p:cNvPr id="33" name="Text 31"/>
          <p:cNvSpPr/>
          <p:nvPr/>
        </p:nvSpPr>
        <p:spPr>
          <a:xfrm>
            <a:off x="5010912" y="1572768"/>
            <a:ext cx="3566160" cy="274320"/>
          </a:xfrm>
          <a:prstGeom prst="rect">
            <a:avLst/>
          </a:prstGeom>
          <a:noFill/>
          <a:ln/>
        </p:spPr>
        <p:txBody>
          <a:bodyPr wrap="square" lIns="0" tIns="0" rIns="0" bIns="0" rtlCol="0" anchor="ctr"/>
          <a:lstStyle/>
          <a:p>
            <a:pPr marL="0" indent="0">
              <a:buNone/>
            </a:pPr>
            <a:r>
              <a:rPr lang="en-US" sz="1100" b="1" dirty="0">
                <a:solidFill>
                  <a:srgbClr val="1E2761"/>
                </a:solidFill>
                <a:latin typeface="Cambria" panose="02040503050406030204" pitchFamily="18" charset="0"/>
                <a:ea typeface="Cambria" panose="02040503050406030204" pitchFamily="18" charset="0"/>
              </a:rPr>
              <a:t>Logistic Regression outperformed Random Forest</a:t>
            </a:r>
            <a:endParaRPr lang="en-US" sz="1100" dirty="0">
              <a:latin typeface="Cambria" panose="02040503050406030204" pitchFamily="18" charset="0"/>
              <a:ea typeface="Cambria" panose="02040503050406030204" pitchFamily="18" charset="0"/>
            </a:endParaRPr>
          </a:p>
        </p:txBody>
      </p:sp>
      <p:sp>
        <p:nvSpPr>
          <p:cNvPr id="34" name="Text 32"/>
          <p:cNvSpPr/>
          <p:nvPr/>
        </p:nvSpPr>
        <p:spPr>
          <a:xfrm>
            <a:off x="5010912" y="1816608"/>
            <a:ext cx="3566160" cy="56692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Despite being a simpler model, it achieved higher ROC AUC on both datasets, confirming that a well-preprocessed linear model can be very competitive for tabular churn data.</a:t>
            </a:r>
            <a:endParaRPr lang="en-US" sz="1000" dirty="0">
              <a:latin typeface="Cambria" panose="02040503050406030204" pitchFamily="18" charset="0"/>
              <a:ea typeface="Cambria" panose="02040503050406030204" pitchFamily="18" charset="0"/>
            </a:endParaRPr>
          </a:p>
        </p:txBody>
      </p:sp>
      <p:sp>
        <p:nvSpPr>
          <p:cNvPr id="35" name="Shape 33"/>
          <p:cNvSpPr/>
          <p:nvPr/>
        </p:nvSpPr>
        <p:spPr>
          <a:xfrm>
            <a:off x="4846320" y="2642616"/>
            <a:ext cx="3840480" cy="102412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36" name="Shape 34"/>
          <p:cNvSpPr/>
          <p:nvPr/>
        </p:nvSpPr>
        <p:spPr>
          <a:xfrm>
            <a:off x="4846320" y="2642616"/>
            <a:ext cx="45720" cy="1024128"/>
          </a:xfrm>
          <a:prstGeom prst="rect">
            <a:avLst/>
          </a:prstGeom>
          <a:solidFill>
            <a:srgbClr val="2D9B6F"/>
          </a:solidFill>
          <a:ln w="12700">
            <a:solidFill>
              <a:srgbClr val="2D9B6F"/>
            </a:solidFill>
            <a:prstDash val="solid"/>
          </a:ln>
        </p:spPr>
        <p:txBody>
          <a:bodyPr/>
          <a:lstStyle/>
          <a:p>
            <a:endParaRPr lang="it-IT"/>
          </a:p>
        </p:txBody>
      </p:sp>
      <p:sp>
        <p:nvSpPr>
          <p:cNvPr id="37" name="Text 35"/>
          <p:cNvSpPr/>
          <p:nvPr/>
        </p:nvSpPr>
        <p:spPr>
          <a:xfrm>
            <a:off x="5010912" y="2734056"/>
            <a:ext cx="3566160" cy="274320"/>
          </a:xfrm>
          <a:prstGeom prst="rect">
            <a:avLst/>
          </a:prstGeom>
          <a:noFill/>
          <a:ln/>
        </p:spPr>
        <p:txBody>
          <a:bodyPr wrap="square" lIns="0" tIns="0" rIns="0" bIns="0" rtlCol="0" anchor="ctr"/>
          <a:lstStyle/>
          <a:p>
            <a:pPr marL="0" indent="0">
              <a:buNone/>
            </a:pPr>
            <a:r>
              <a:rPr lang="en-US" sz="1100" b="1" dirty="0">
                <a:solidFill>
                  <a:srgbClr val="1E2761"/>
                </a:solidFill>
                <a:latin typeface="Cambria" panose="02040503050406030204" pitchFamily="18" charset="0"/>
                <a:ea typeface="Cambria" panose="02040503050406030204" pitchFamily="18" charset="0"/>
              </a:rPr>
              <a:t>Pipeline design prevented data leakage</a:t>
            </a:r>
            <a:endParaRPr lang="en-US" sz="1100" dirty="0">
              <a:latin typeface="Cambria" panose="02040503050406030204" pitchFamily="18" charset="0"/>
              <a:ea typeface="Cambria" panose="02040503050406030204" pitchFamily="18" charset="0"/>
            </a:endParaRPr>
          </a:p>
        </p:txBody>
      </p:sp>
      <p:sp>
        <p:nvSpPr>
          <p:cNvPr id="38" name="Text 36"/>
          <p:cNvSpPr/>
          <p:nvPr/>
        </p:nvSpPr>
        <p:spPr>
          <a:xfrm>
            <a:off x="5010912" y="2977896"/>
            <a:ext cx="3566160" cy="56692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By fitting all transformers exclusively on training data and applying them to the test set, the evaluation metrics genuinely reflect out-of-sample performance.</a:t>
            </a:r>
            <a:endParaRPr lang="en-US" sz="1000" dirty="0">
              <a:latin typeface="Cambria" panose="02040503050406030204" pitchFamily="18" charset="0"/>
              <a:ea typeface="Cambria" panose="02040503050406030204" pitchFamily="18" charset="0"/>
            </a:endParaRPr>
          </a:p>
        </p:txBody>
      </p:sp>
      <p:sp>
        <p:nvSpPr>
          <p:cNvPr id="39" name="Shape 37"/>
          <p:cNvSpPr/>
          <p:nvPr/>
        </p:nvSpPr>
        <p:spPr>
          <a:xfrm>
            <a:off x="4846320" y="3803904"/>
            <a:ext cx="3840480" cy="1024128"/>
          </a:xfrm>
          <a:prstGeom prst="rect">
            <a:avLst/>
          </a:prstGeom>
          <a:solidFill>
            <a:srgbClr val="FFFFFF"/>
          </a:solidFill>
          <a:ln w="12700">
            <a:solidFill>
              <a:srgbClr val="D0D9EE"/>
            </a:solidFill>
            <a:prstDash val="solid"/>
          </a:ln>
          <a:effectLst>
            <a:outerShdw blurRad="63500" dist="25400" dir="8100000" algn="bl" rotWithShape="0">
              <a:srgbClr val="000000">
                <a:alpha val="7000"/>
              </a:srgbClr>
            </a:outerShdw>
          </a:effectLst>
        </p:spPr>
        <p:txBody>
          <a:bodyPr/>
          <a:lstStyle/>
          <a:p>
            <a:endParaRPr lang="it-IT"/>
          </a:p>
        </p:txBody>
      </p:sp>
      <p:sp>
        <p:nvSpPr>
          <p:cNvPr id="40" name="Shape 38"/>
          <p:cNvSpPr/>
          <p:nvPr/>
        </p:nvSpPr>
        <p:spPr>
          <a:xfrm>
            <a:off x="4846320" y="3803904"/>
            <a:ext cx="45720" cy="1024128"/>
          </a:xfrm>
          <a:prstGeom prst="rect">
            <a:avLst/>
          </a:prstGeom>
          <a:solidFill>
            <a:srgbClr val="1E2761"/>
          </a:solidFill>
          <a:ln w="12700">
            <a:solidFill>
              <a:srgbClr val="1E2761"/>
            </a:solidFill>
            <a:prstDash val="solid"/>
          </a:ln>
        </p:spPr>
        <p:txBody>
          <a:bodyPr/>
          <a:lstStyle/>
          <a:p>
            <a:endParaRPr lang="it-IT"/>
          </a:p>
        </p:txBody>
      </p:sp>
      <p:sp>
        <p:nvSpPr>
          <p:cNvPr id="41" name="Text 39"/>
          <p:cNvSpPr/>
          <p:nvPr/>
        </p:nvSpPr>
        <p:spPr>
          <a:xfrm>
            <a:off x="5010912" y="3895344"/>
            <a:ext cx="3566160" cy="274320"/>
          </a:xfrm>
          <a:prstGeom prst="rect">
            <a:avLst/>
          </a:prstGeom>
          <a:noFill/>
          <a:ln/>
        </p:spPr>
        <p:txBody>
          <a:bodyPr wrap="square" lIns="0" tIns="0" rIns="0" bIns="0" rtlCol="0" anchor="ctr"/>
          <a:lstStyle/>
          <a:p>
            <a:pPr marL="0" indent="0">
              <a:buNone/>
            </a:pPr>
            <a:r>
              <a:rPr lang="en-US" sz="1100" b="1" dirty="0">
                <a:solidFill>
                  <a:srgbClr val="1E2761"/>
                </a:solidFill>
                <a:latin typeface="Cambria" panose="02040503050406030204" pitchFamily="18" charset="0"/>
                <a:ea typeface="Cambria" panose="02040503050406030204" pitchFamily="18" charset="0"/>
              </a:rPr>
              <a:t>Class imbalance was addressed systematically</a:t>
            </a:r>
            <a:endParaRPr lang="en-US" sz="1100" dirty="0">
              <a:latin typeface="Cambria" panose="02040503050406030204" pitchFamily="18" charset="0"/>
              <a:ea typeface="Cambria" panose="02040503050406030204" pitchFamily="18" charset="0"/>
            </a:endParaRPr>
          </a:p>
        </p:txBody>
      </p:sp>
      <p:sp>
        <p:nvSpPr>
          <p:cNvPr id="42" name="Text 40"/>
          <p:cNvSpPr/>
          <p:nvPr/>
        </p:nvSpPr>
        <p:spPr>
          <a:xfrm>
            <a:off x="5010912" y="4163568"/>
            <a:ext cx="3566160" cy="566928"/>
          </a:xfrm>
          <a:prstGeom prst="rect">
            <a:avLst/>
          </a:prstGeom>
          <a:noFill/>
          <a:ln/>
        </p:spPr>
        <p:txBody>
          <a:bodyPr wrap="square" lIns="0" tIns="0" rIns="0" bIns="0" rtlCol="0" anchor="ctr"/>
          <a:lstStyle/>
          <a:p>
            <a:pPr marL="0" indent="0">
              <a:buNone/>
            </a:pPr>
            <a:r>
              <a:rPr lang="en-US" sz="1000" dirty="0">
                <a:solidFill>
                  <a:srgbClr val="1A1A2E"/>
                </a:solidFill>
                <a:latin typeface="Cambria" panose="02040503050406030204" pitchFamily="18" charset="0"/>
                <a:ea typeface="Cambria" panose="02040503050406030204" pitchFamily="18" charset="0"/>
              </a:rPr>
              <a:t>The class_weight='balanced' parameter ensured neither class dominated the loss function, particularly important for Dataset 2 with its 87% churn majority.</a:t>
            </a:r>
            <a:endParaRPr lang="en-US" sz="1000" dirty="0">
              <a:latin typeface="Cambria" panose="02040503050406030204" pitchFamily="18" charset="0"/>
              <a:ea typeface="Cambria" panose="02040503050406030204" pitchFamily="18" charset="0"/>
            </a:endParaRPr>
          </a:p>
        </p:txBody>
      </p:sp>
      <p:pic>
        <p:nvPicPr>
          <p:cNvPr id="44" name="Immagine 43">
            <a:extLst>
              <a:ext uri="{FF2B5EF4-FFF2-40B4-BE49-F238E27FC236}">
                <a16:creationId xmlns:a16="http://schemas.microsoft.com/office/drawing/2014/main" id="{466EA44E-EB27-387A-E2BC-ED2849A24BA7}"/>
              </a:ext>
            </a:extLst>
          </p:cNvPr>
          <p:cNvPicPr>
            <a:picLocks noChangeAspect="1"/>
          </p:cNvPicPr>
          <p:nvPr/>
        </p:nvPicPr>
        <p:blipFill>
          <a:blip r:embed="rId3"/>
          <a:stretch>
            <a:fillRect/>
          </a:stretch>
        </p:blipFill>
        <p:spPr>
          <a:xfrm>
            <a:off x="457200" y="1551432"/>
            <a:ext cx="3646249" cy="2987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C9243869-E75D-CF23-BA1E-CBE056805F8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9157BDDD-7B79-0596-4C55-1D92690D8E13}"/>
              </a:ext>
            </a:extLst>
          </p:cNvPr>
          <p:cNvSpPr/>
          <p:nvPr/>
        </p:nvSpPr>
        <p:spPr>
          <a:xfrm>
            <a:off x="457200" y="914400"/>
            <a:ext cx="3200400" cy="274320"/>
          </a:xfrm>
          <a:prstGeom prst="rect">
            <a:avLst/>
          </a:prstGeom>
          <a:noFill/>
          <a:ln/>
        </p:spPr>
        <p:txBody>
          <a:bodyPr wrap="square" lIns="0" tIns="0" rIns="0" bIns="0" rtlCol="0" anchor="ctr"/>
          <a:lstStyle/>
          <a:p>
            <a:pPr marL="0" indent="0" algn="l">
              <a:buNone/>
            </a:pPr>
            <a:r>
              <a:rPr lang="en-US" sz="900" b="1" kern="0" spc="200" dirty="0">
                <a:solidFill>
                  <a:srgbClr val="CADCFC"/>
                </a:solidFill>
                <a:latin typeface="Cambria" panose="02040503050406030204" pitchFamily="18" charset="0"/>
                <a:ea typeface="Cambria" panose="02040503050406030204" pitchFamily="18" charset="0"/>
              </a:rPr>
              <a:t>MARKETING ANALYTICS — HOMEWORK 1</a:t>
            </a:r>
            <a:endParaRPr lang="en-US" sz="900" dirty="0">
              <a:latin typeface="Cambria" panose="02040503050406030204" pitchFamily="18" charset="0"/>
              <a:ea typeface="Cambria" panose="02040503050406030204" pitchFamily="18" charset="0"/>
            </a:endParaRPr>
          </a:p>
        </p:txBody>
      </p:sp>
      <p:sp>
        <p:nvSpPr>
          <p:cNvPr id="5" name="Text 3">
            <a:extLst>
              <a:ext uri="{FF2B5EF4-FFF2-40B4-BE49-F238E27FC236}">
                <a16:creationId xmlns:a16="http://schemas.microsoft.com/office/drawing/2014/main" id="{9B9F9BD3-C9C7-FF7B-010E-7301EC23AE7C}"/>
              </a:ext>
            </a:extLst>
          </p:cNvPr>
          <p:cNvSpPr/>
          <p:nvPr/>
        </p:nvSpPr>
        <p:spPr>
          <a:xfrm>
            <a:off x="457200" y="1783080"/>
            <a:ext cx="6858000" cy="1005840"/>
          </a:xfrm>
          <a:prstGeom prst="rect">
            <a:avLst/>
          </a:prstGeom>
          <a:noFill/>
          <a:ln/>
        </p:spPr>
        <p:txBody>
          <a:bodyPr wrap="square" lIns="0" tIns="0" rIns="0" bIns="0" rtlCol="0" anchor="ctr"/>
          <a:lstStyle/>
          <a:p>
            <a:pPr marL="0" indent="0" algn="l">
              <a:buNone/>
            </a:pPr>
            <a:r>
              <a:rPr lang="en-US" sz="9600" b="1" dirty="0">
                <a:solidFill>
                  <a:srgbClr val="FFFFFF"/>
                </a:solidFill>
                <a:latin typeface="EucrosiaUPC" panose="02020603050405020304" pitchFamily="18" charset="-34"/>
                <a:ea typeface="Calibri" pitchFamily="34" charset="-122"/>
                <a:cs typeface="EucrosiaUPC" panose="02020603050405020304" pitchFamily="18" charset="-34"/>
              </a:rPr>
              <a:t>Thank you</a:t>
            </a:r>
            <a:endParaRPr lang="en-US" sz="9600" dirty="0">
              <a:latin typeface="EucrosiaUPC" panose="02020603050405020304" pitchFamily="18" charset="-34"/>
              <a:cs typeface="EucrosiaUPC" panose="02020603050405020304" pitchFamily="18" charset="-34"/>
            </a:endParaRPr>
          </a:p>
        </p:txBody>
      </p:sp>
      <p:sp>
        <p:nvSpPr>
          <p:cNvPr id="6" name="Text 4">
            <a:extLst>
              <a:ext uri="{FF2B5EF4-FFF2-40B4-BE49-F238E27FC236}">
                <a16:creationId xmlns:a16="http://schemas.microsoft.com/office/drawing/2014/main" id="{8E5EB3DE-467C-7EAB-8F76-CE207CDCA4A5}"/>
              </a:ext>
            </a:extLst>
          </p:cNvPr>
          <p:cNvSpPr/>
          <p:nvPr/>
        </p:nvSpPr>
        <p:spPr>
          <a:xfrm>
            <a:off x="457200" y="3515456"/>
            <a:ext cx="5943600" cy="498349"/>
          </a:xfrm>
          <a:prstGeom prst="rect">
            <a:avLst/>
          </a:prstGeom>
          <a:noFill/>
          <a:ln/>
        </p:spPr>
        <p:txBody>
          <a:bodyPr wrap="square" lIns="0" tIns="0" rIns="0" bIns="0" rtlCol="0" anchor="ctr"/>
          <a:lstStyle/>
          <a:p>
            <a:pPr marL="0" indent="0" algn="l">
              <a:buNone/>
            </a:pPr>
            <a:r>
              <a:rPr lang="en-US" sz="1300" dirty="0">
                <a:solidFill>
                  <a:srgbClr val="CADCFC"/>
                </a:solidFill>
                <a:latin typeface="Cambria" panose="02040503050406030204" pitchFamily="18" charset="0"/>
                <a:ea typeface="Cambria" panose="02040503050406030204" pitchFamily="18" charset="0"/>
              </a:rPr>
              <a:t>A supervised machine learning pipeline for binary churn classification</a:t>
            </a:r>
            <a:endParaRPr lang="en-US" sz="1300" dirty="0">
              <a:latin typeface="Cambria" panose="02040503050406030204" pitchFamily="18" charset="0"/>
              <a:ea typeface="Cambria" panose="02040503050406030204" pitchFamily="18" charset="0"/>
            </a:endParaRPr>
          </a:p>
          <a:p>
            <a:pPr marL="0" indent="0" algn="l">
              <a:buNone/>
            </a:pPr>
            <a:r>
              <a:rPr lang="en-US" sz="1300" dirty="0">
                <a:solidFill>
                  <a:srgbClr val="CADCFC"/>
                </a:solidFill>
                <a:latin typeface="Cambria" panose="02040503050406030204" pitchFamily="18" charset="0"/>
                <a:ea typeface="Cambria" panose="02040503050406030204" pitchFamily="18" charset="0"/>
              </a:rPr>
              <a:t>using Logistic Regression and Random Forest across two datasets.</a:t>
            </a:r>
            <a:endParaRPr lang="en-US" sz="1300" dirty="0">
              <a:latin typeface="Cambria" panose="02040503050406030204" pitchFamily="18" charset="0"/>
              <a:ea typeface="Cambria" panose="02040503050406030204" pitchFamily="18" charset="0"/>
            </a:endParaRPr>
          </a:p>
        </p:txBody>
      </p:sp>
      <p:sp>
        <p:nvSpPr>
          <p:cNvPr id="7" name="Shape 5">
            <a:extLst>
              <a:ext uri="{FF2B5EF4-FFF2-40B4-BE49-F238E27FC236}">
                <a16:creationId xmlns:a16="http://schemas.microsoft.com/office/drawing/2014/main" id="{25F3A813-6A2C-DD19-011C-943BA58BBD48}"/>
              </a:ext>
            </a:extLst>
          </p:cNvPr>
          <p:cNvSpPr/>
          <p:nvPr/>
        </p:nvSpPr>
        <p:spPr>
          <a:xfrm>
            <a:off x="457200" y="4096512"/>
            <a:ext cx="3200400" cy="0"/>
          </a:xfrm>
          <a:prstGeom prst="line">
            <a:avLst/>
          </a:prstGeom>
          <a:noFill/>
          <a:ln w="25400">
            <a:solidFill>
              <a:srgbClr val="3A7BD5"/>
            </a:solidFill>
            <a:prstDash val="solid"/>
          </a:ln>
        </p:spPr>
        <p:txBody>
          <a:bodyPr/>
          <a:lstStyle/>
          <a:p>
            <a:endParaRPr lang="it-IT"/>
          </a:p>
        </p:txBody>
      </p:sp>
      <p:sp>
        <p:nvSpPr>
          <p:cNvPr id="8" name="Text 6">
            <a:extLst>
              <a:ext uri="{FF2B5EF4-FFF2-40B4-BE49-F238E27FC236}">
                <a16:creationId xmlns:a16="http://schemas.microsoft.com/office/drawing/2014/main" id="{D7F051ED-A8DB-B5B7-4478-856D0248B4F5}"/>
              </a:ext>
            </a:extLst>
          </p:cNvPr>
          <p:cNvSpPr/>
          <p:nvPr/>
        </p:nvSpPr>
        <p:spPr>
          <a:xfrm>
            <a:off x="457200" y="4157472"/>
            <a:ext cx="4572000" cy="256032"/>
          </a:xfrm>
          <a:prstGeom prst="rect">
            <a:avLst/>
          </a:prstGeom>
          <a:noFill/>
          <a:ln/>
        </p:spPr>
        <p:txBody>
          <a:bodyPr wrap="square" lIns="0" tIns="0" rIns="0" bIns="0" rtlCol="0" anchor="ctr"/>
          <a:lstStyle/>
          <a:p>
            <a:pPr marL="0" indent="0" algn="l">
              <a:buNone/>
            </a:pPr>
            <a:r>
              <a:rPr lang="en-US" sz="1100" dirty="0">
                <a:solidFill>
                  <a:schemeClr val="bg1"/>
                </a:solidFill>
                <a:latin typeface="Cambria" panose="02040503050406030204" pitchFamily="18" charset="0"/>
                <a:ea typeface="Cambria" panose="02040503050406030204" pitchFamily="18" charset="0"/>
              </a:rPr>
              <a:t>Presented to: Professor Luigi Capone</a:t>
            </a:r>
          </a:p>
        </p:txBody>
      </p:sp>
      <p:sp>
        <p:nvSpPr>
          <p:cNvPr id="15" name="Text 6">
            <a:extLst>
              <a:ext uri="{FF2B5EF4-FFF2-40B4-BE49-F238E27FC236}">
                <a16:creationId xmlns:a16="http://schemas.microsoft.com/office/drawing/2014/main" id="{D6A259CA-AC94-80DA-8710-2605BB0CA6ED}"/>
              </a:ext>
            </a:extLst>
          </p:cNvPr>
          <p:cNvSpPr/>
          <p:nvPr/>
        </p:nvSpPr>
        <p:spPr>
          <a:xfrm>
            <a:off x="457200" y="4368487"/>
            <a:ext cx="4572000" cy="256032"/>
          </a:xfrm>
          <a:prstGeom prst="rect">
            <a:avLst/>
          </a:prstGeom>
          <a:noFill/>
          <a:ln/>
        </p:spPr>
        <p:txBody>
          <a:bodyPr wrap="square" lIns="0" tIns="0" rIns="0" bIns="0" rtlCol="0" anchor="ctr"/>
          <a:lstStyle/>
          <a:p>
            <a:pPr marL="0" indent="0" algn="l">
              <a:buNone/>
            </a:pPr>
            <a:r>
              <a:rPr lang="en-US" sz="1100" dirty="0">
                <a:solidFill>
                  <a:schemeClr val="bg1"/>
                </a:solidFill>
                <a:latin typeface="Cambria" panose="02040503050406030204" pitchFamily="18" charset="0"/>
                <a:ea typeface="Cambria" panose="02040503050406030204" pitchFamily="18" charset="0"/>
              </a:rPr>
              <a:t>Student: Colombini Francesco – ID:944941</a:t>
            </a:r>
          </a:p>
        </p:txBody>
      </p:sp>
      <p:sp>
        <p:nvSpPr>
          <p:cNvPr id="2" name="Text 3">
            <a:extLst>
              <a:ext uri="{FF2B5EF4-FFF2-40B4-BE49-F238E27FC236}">
                <a16:creationId xmlns:a16="http://schemas.microsoft.com/office/drawing/2014/main" id="{74B267B8-3826-5196-15BB-72FDB7D61438}"/>
              </a:ext>
            </a:extLst>
          </p:cNvPr>
          <p:cNvSpPr/>
          <p:nvPr/>
        </p:nvSpPr>
        <p:spPr>
          <a:xfrm>
            <a:off x="457200" y="3103976"/>
            <a:ext cx="6858000" cy="411480"/>
          </a:xfrm>
          <a:prstGeom prst="rect">
            <a:avLst/>
          </a:prstGeom>
          <a:noFill/>
          <a:ln/>
        </p:spPr>
        <p:txBody>
          <a:bodyPr wrap="square" lIns="0" tIns="0" rIns="0" bIns="0" rtlCol="0" anchor="ctr"/>
          <a:lstStyle/>
          <a:p>
            <a:pPr marL="0" indent="0" algn="l">
              <a:buNone/>
            </a:pPr>
            <a:r>
              <a:rPr lang="en-US" sz="4000" b="1" dirty="0">
                <a:solidFill>
                  <a:srgbClr val="FFFFFF"/>
                </a:solidFill>
                <a:latin typeface="EucrosiaUPC" panose="02020603050405020304" pitchFamily="18" charset="-34"/>
                <a:ea typeface="Calibri" pitchFamily="34" charset="-122"/>
                <a:cs typeface="EucrosiaUPC" panose="02020603050405020304" pitchFamily="18" charset="-34"/>
              </a:rPr>
              <a:t>Customer Churn Prediction</a:t>
            </a:r>
            <a:endParaRPr lang="en-US" sz="4000" dirty="0">
              <a:latin typeface="EucrosiaUPC" panose="02020603050405020304" pitchFamily="18" charset="-34"/>
              <a:cs typeface="EucrosiaUPC" panose="02020603050405020304" pitchFamily="18" charset="-34"/>
            </a:endParaRPr>
          </a:p>
        </p:txBody>
      </p:sp>
    </p:spTree>
    <p:extLst>
      <p:ext uri="{BB962C8B-B14F-4D97-AF65-F5344CB8AC3E}">
        <p14:creationId xmlns:p14="http://schemas.microsoft.com/office/powerpoint/2010/main" val="18413927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1249</Words>
  <Application>Microsoft Office PowerPoint</Application>
  <PresentationFormat>Presentazione su schermo (16:9)</PresentationFormat>
  <Paragraphs>157</Paragraphs>
  <Slides>6</Slides>
  <Notes>6</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6</vt:i4>
      </vt:variant>
    </vt:vector>
  </HeadingPairs>
  <TitlesOfParts>
    <vt:vector size="10" baseType="lpstr">
      <vt:lpstr>Arial</vt:lpstr>
      <vt:lpstr>Cambria</vt:lpstr>
      <vt:lpstr>EucrosiaUPC</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 HW1</dc:title>
  <dc:subject>PptxGenJS Presentation</dc:subject>
  <dc:creator>PptxGenJS</dc:creator>
  <cp:lastModifiedBy>Francesco Colombini</cp:lastModifiedBy>
  <cp:revision>6</cp:revision>
  <dcterms:created xsi:type="dcterms:W3CDTF">2026-05-24T11:26:39Z</dcterms:created>
  <dcterms:modified xsi:type="dcterms:W3CDTF">2026-05-29T13:14:26Z</dcterms:modified>
</cp:coreProperties>
</file>